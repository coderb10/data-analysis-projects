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256" r:id="rId5"/>
    <p:sldId id="292" r:id="rId6"/>
    <p:sldId id="288" r:id="rId7"/>
    <p:sldId id="289" r:id="rId8"/>
    <p:sldId id="290" r:id="rId9"/>
    <p:sldId id="291" r:id="rId10"/>
    <p:sldId id="293" r:id="rId11"/>
    <p:sldId id="294" r:id="rId12"/>
    <p:sldId id="295" r:id="rId13"/>
    <p:sldId id="296" r:id="rId14"/>
    <p:sldId id="297"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95" autoAdjust="0"/>
  </p:normalViewPr>
  <p:slideViewPr>
    <p:cSldViewPr snapToGrid="0" showGuides="1">
      <p:cViewPr varScale="1">
        <p:scale>
          <a:sx n="82" d="100"/>
          <a:sy n="82" d="100"/>
        </p:scale>
        <p:origin x="720" y="9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yoggu\Downloads\Excel%20project\RetailSalesData_StablePricing(AutoRecovered).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tables!PivotTable4</c:name>
    <c:fmtId val="9"/>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447317777262176E-2"/>
          <c:y val="0.18101604609892405"/>
          <c:w val="0.89424122946138196"/>
          <c:h val="0.58979651776074393"/>
        </c:manualLayout>
      </c:layout>
      <c:barChart>
        <c:barDir val="col"/>
        <c:grouping val="clustered"/>
        <c:varyColors val="0"/>
        <c:ser>
          <c:idx val="0"/>
          <c:order val="0"/>
          <c:tx>
            <c:strRef>
              <c:f>'Pivot tables'!$B$1:$B$2</c:f>
              <c:strCache>
                <c:ptCount val="1"/>
                <c:pt idx="0">
                  <c:v>East</c:v>
                </c:pt>
              </c:strCache>
            </c:strRef>
          </c:tx>
          <c:spPr>
            <a:solidFill>
              <a:schemeClr val="accent1"/>
            </a:solidFill>
            <a:ln>
              <a:noFill/>
            </a:ln>
            <a:effectLst/>
          </c:spPr>
          <c:invertIfNegative val="0"/>
          <c:cat>
            <c:strRef>
              <c:f>'Pivot tables'!$A$3:$A$15</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 tables'!$B$3:$B$15</c:f>
              <c:numCache>
                <c:formatCode>General</c:formatCode>
                <c:ptCount val="12"/>
                <c:pt idx="3" formatCode="[$$-409]#,##0.00">
                  <c:v>32723.5275</c:v>
                </c:pt>
                <c:pt idx="4" formatCode="[$$-409]#,##0.00">
                  <c:v>31487.698200000006</c:v>
                </c:pt>
                <c:pt idx="5" formatCode="[$$-409]#,##0.00">
                  <c:v>41609.585100000011</c:v>
                </c:pt>
                <c:pt idx="6" formatCode="[$$-409]#,##0.00">
                  <c:v>1960.5389999999998</c:v>
                </c:pt>
              </c:numCache>
            </c:numRef>
          </c:val>
          <c:extLst>
            <c:ext xmlns:c16="http://schemas.microsoft.com/office/drawing/2014/chart" uri="{C3380CC4-5D6E-409C-BE32-E72D297353CC}">
              <c16:uniqueId val="{00000009-FFB2-4A43-ADE0-1FF2E2CE2165}"/>
            </c:ext>
          </c:extLst>
        </c:ser>
        <c:ser>
          <c:idx val="1"/>
          <c:order val="1"/>
          <c:tx>
            <c:strRef>
              <c:f>'Pivot tables'!$C$1:$C$2</c:f>
              <c:strCache>
                <c:ptCount val="1"/>
                <c:pt idx="0">
                  <c:v>North</c:v>
                </c:pt>
              </c:strCache>
            </c:strRef>
          </c:tx>
          <c:spPr>
            <a:solidFill>
              <a:schemeClr val="accent2"/>
            </a:solidFill>
            <a:ln>
              <a:noFill/>
            </a:ln>
            <a:effectLst/>
          </c:spPr>
          <c:invertIfNegative val="0"/>
          <c:cat>
            <c:strRef>
              <c:f>'Pivot tables'!$A$3:$A$15</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 tables'!$C$3:$C$15</c:f>
              <c:numCache>
                <c:formatCode>[$$-409]#,##0.00</c:formatCode>
                <c:ptCount val="12"/>
                <c:pt idx="0">
                  <c:v>76269.208900000027</c:v>
                </c:pt>
                <c:pt idx="1">
                  <c:v>68745.405100000018</c:v>
                </c:pt>
                <c:pt idx="4">
                  <c:v>23930.800600000002</c:v>
                </c:pt>
                <c:pt idx="5">
                  <c:v>40447.690199999997</c:v>
                </c:pt>
                <c:pt idx="6">
                  <c:v>42827.763599999998</c:v>
                </c:pt>
                <c:pt idx="7">
                  <c:v>19461.313300000002</c:v>
                </c:pt>
                <c:pt idx="8">
                  <c:v>15078.178400000001</c:v>
                </c:pt>
                <c:pt idx="9">
                  <c:v>43039.677299999996</c:v>
                </c:pt>
                <c:pt idx="10">
                  <c:v>68043.596099999981</c:v>
                </c:pt>
                <c:pt idx="11">
                  <c:v>133723.59089999989</c:v>
                </c:pt>
              </c:numCache>
            </c:numRef>
          </c:val>
          <c:extLst>
            <c:ext xmlns:c16="http://schemas.microsoft.com/office/drawing/2014/chart" uri="{C3380CC4-5D6E-409C-BE32-E72D297353CC}">
              <c16:uniqueId val="{0000000A-FFB2-4A43-ADE0-1FF2E2CE2165}"/>
            </c:ext>
          </c:extLst>
        </c:ser>
        <c:ser>
          <c:idx val="2"/>
          <c:order val="2"/>
          <c:tx>
            <c:strRef>
              <c:f>'Pivot tables'!$D$1:$D$2</c:f>
              <c:strCache>
                <c:ptCount val="1"/>
                <c:pt idx="0">
                  <c:v>South</c:v>
                </c:pt>
              </c:strCache>
            </c:strRef>
          </c:tx>
          <c:spPr>
            <a:solidFill>
              <a:schemeClr val="accent3"/>
            </a:solidFill>
            <a:ln>
              <a:noFill/>
            </a:ln>
            <a:effectLst/>
          </c:spPr>
          <c:invertIfNegative val="0"/>
          <c:cat>
            <c:strRef>
              <c:f>'Pivot tables'!$A$3:$A$15</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 tables'!$D$3:$D$15</c:f>
              <c:numCache>
                <c:formatCode>[$$-409]#,##0.00</c:formatCode>
                <c:ptCount val="12"/>
                <c:pt idx="0">
                  <c:v>6442.7451000000001</c:v>
                </c:pt>
                <c:pt idx="1">
                  <c:v>5051.2498000000005</c:v>
                </c:pt>
                <c:pt idx="2">
                  <c:v>22920.817499999994</c:v>
                </c:pt>
                <c:pt idx="3">
                  <c:v>36693.144999999997</c:v>
                </c:pt>
                <c:pt idx="4">
                  <c:v>54263.9637</c:v>
                </c:pt>
                <c:pt idx="5">
                  <c:v>57027.792799999988</c:v>
                </c:pt>
                <c:pt idx="6">
                  <c:v>44955.494799999993</c:v>
                </c:pt>
                <c:pt idx="7">
                  <c:v>12254.7197</c:v>
                </c:pt>
                <c:pt idx="8">
                  <c:v>22555.936999999994</c:v>
                </c:pt>
                <c:pt idx="9">
                  <c:v>11485.2284</c:v>
                </c:pt>
                <c:pt idx="10">
                  <c:v>9079.4734999999982</c:v>
                </c:pt>
                <c:pt idx="11">
                  <c:v>9345.7288000000008</c:v>
                </c:pt>
              </c:numCache>
            </c:numRef>
          </c:val>
          <c:extLst>
            <c:ext xmlns:c16="http://schemas.microsoft.com/office/drawing/2014/chart" uri="{C3380CC4-5D6E-409C-BE32-E72D297353CC}">
              <c16:uniqueId val="{0000000B-FFB2-4A43-ADE0-1FF2E2CE2165}"/>
            </c:ext>
          </c:extLst>
        </c:ser>
        <c:ser>
          <c:idx val="3"/>
          <c:order val="3"/>
          <c:tx>
            <c:strRef>
              <c:f>'Pivot tables'!$E$1:$E$2</c:f>
              <c:strCache>
                <c:ptCount val="1"/>
                <c:pt idx="0">
                  <c:v>West</c:v>
                </c:pt>
              </c:strCache>
            </c:strRef>
          </c:tx>
          <c:spPr>
            <a:solidFill>
              <a:schemeClr val="accent4"/>
            </a:solidFill>
            <a:ln>
              <a:noFill/>
            </a:ln>
            <a:effectLst/>
          </c:spPr>
          <c:invertIfNegative val="0"/>
          <c:cat>
            <c:strRef>
              <c:f>'Pivot tables'!$A$3:$A$15</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 tables'!$E$3:$E$15</c:f>
              <c:numCache>
                <c:formatCode>[$$-409]#,##0.00</c:formatCode>
                <c:ptCount val="12"/>
                <c:pt idx="1">
                  <c:v>13309.1034</c:v>
                </c:pt>
                <c:pt idx="2">
                  <c:v>22572.680700000001</c:v>
                </c:pt>
                <c:pt idx="3">
                  <c:v>24568.227800000001</c:v>
                </c:pt>
                <c:pt idx="4">
                  <c:v>7047.3888000000006</c:v>
                </c:pt>
                <c:pt idx="5">
                  <c:v>16536.615900000001</c:v>
                </c:pt>
                <c:pt idx="6">
                  <c:v>17090.453599999997</c:v>
                </c:pt>
                <c:pt idx="7">
                  <c:v>20349.019299999996</c:v>
                </c:pt>
              </c:numCache>
            </c:numRef>
          </c:val>
          <c:extLst>
            <c:ext xmlns:c16="http://schemas.microsoft.com/office/drawing/2014/chart" uri="{C3380CC4-5D6E-409C-BE32-E72D297353CC}">
              <c16:uniqueId val="{0000000C-FFB2-4A43-ADE0-1FF2E2CE2165}"/>
            </c:ext>
          </c:extLst>
        </c:ser>
        <c:dLbls>
          <c:showLegendKey val="0"/>
          <c:showVal val="0"/>
          <c:showCatName val="0"/>
          <c:showSerName val="0"/>
          <c:showPercent val="0"/>
          <c:showBubbleSize val="0"/>
        </c:dLbls>
        <c:gapWidth val="219"/>
        <c:overlap val="-27"/>
        <c:axId val="712754031"/>
        <c:axId val="712746351"/>
      </c:barChart>
      <c:catAx>
        <c:axId val="7127540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746351"/>
        <c:crosses val="autoZero"/>
        <c:auto val="1"/>
        <c:lblAlgn val="ctr"/>
        <c:lblOffset val="100"/>
        <c:noMultiLvlLbl val="0"/>
      </c:catAx>
      <c:valAx>
        <c:axId val="7127463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754031"/>
        <c:crosses val="autoZero"/>
        <c:crossBetween val="between"/>
        <c:dispUnits>
          <c:builtInUnit val="tenThousand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t"/>
      <c:layout>
        <c:manualLayout>
          <c:xMode val="edge"/>
          <c:yMode val="edge"/>
          <c:x val="0.31354363056978235"/>
          <c:y val="6.4210134905631322E-2"/>
          <c:w val="0.36251375602982172"/>
          <c:h val="6.669167047009447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tables!PivotTable6</c:name>
    <c:fmtId val="23"/>
  </c:pivotSource>
  <c:chart>
    <c:autoTitleDeleted val="1"/>
    <c:pivotFmts>
      <c:pivotFmt>
        <c:idx val="0"/>
        <c:spPr>
          <a:solidFill>
            <a:schemeClr val="accent1"/>
          </a:solidFill>
          <a:ln>
            <a:noFill/>
          </a:ln>
          <a:effectLst/>
        </c:spPr>
        <c:marker>
          <c:symbol val="diamond"/>
          <c:size val="6"/>
          <c:spPr>
            <a:solidFill>
              <a:schemeClr val="accent1"/>
            </a:solidFill>
            <a:ln w="9525">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square"/>
          <c:size val="6"/>
          <c:spPr>
            <a:solidFill>
              <a:schemeClr val="accent1"/>
            </a:solidFill>
            <a:ln w="9525">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dLbl>
          <c:idx val="0"/>
          <c:layout>
            <c:manualLayout>
              <c:x val="-2.8490028490028622E-3"/>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F13D344F-5F7A-4A86-89CB-7C8E581167B1}"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7"/>
        <c:spPr>
          <a:solidFill>
            <a:schemeClr val="accent1"/>
          </a:solidFill>
          <a:ln>
            <a:noFill/>
          </a:ln>
          <a:effectLst/>
        </c:spPr>
        <c:dLbl>
          <c:idx val="0"/>
          <c:layout>
            <c:manualLayout>
              <c:x val="0"/>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BCE653FE-59BC-4C99-9A48-04732818E9D7}"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8"/>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761775A8-CFD3-4A09-BFE5-E642D4693374}"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9"/>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A21DDF52-5439-46F5-8548-DFD8E69B99E2}"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dLbl>
          <c:idx val="0"/>
          <c:layout>
            <c:manualLayout>
              <c:x val="-2.8490028490028622E-3"/>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F13D344F-5F7A-4A86-89CB-7C8E581167B1}"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3"/>
        <c:spPr>
          <a:solidFill>
            <a:schemeClr val="accent1"/>
          </a:solidFill>
          <a:ln>
            <a:noFill/>
          </a:ln>
          <a:effectLst/>
        </c:spPr>
        <c:dLbl>
          <c:idx val="0"/>
          <c:layout>
            <c:manualLayout>
              <c:x val="0"/>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BCE653FE-59BC-4C99-9A48-04732818E9D7}"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4"/>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761775A8-CFD3-4A09-BFE5-E642D4693374}"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5"/>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A21DDF52-5439-46F5-8548-DFD8E69B99E2}"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dLbl>
          <c:idx val="0"/>
          <c:layout>
            <c:manualLayout>
              <c:x val="-2.8490028490028622E-3"/>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F13D344F-5F7A-4A86-89CB-7C8E581167B1}"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9"/>
        <c:spPr>
          <a:solidFill>
            <a:schemeClr val="accent1"/>
          </a:solidFill>
          <a:ln>
            <a:noFill/>
          </a:ln>
          <a:effectLst/>
        </c:spPr>
        <c:dLbl>
          <c:idx val="0"/>
          <c:layout>
            <c:manualLayout>
              <c:x val="0"/>
              <c:y val="-3.305556495455696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BCE653FE-59BC-4C99-9A48-04732818E9D7}"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0"/>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761775A8-CFD3-4A09-BFE5-E642D4693374}"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1"/>
        <c:spPr>
          <a:solidFill>
            <a:schemeClr val="accent1"/>
          </a:solidFill>
          <a:ln>
            <a:no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fld id="{A21DDF52-5439-46F5-8548-DFD8E69B99E2}" type="VALUE">
                  <a:rPr lang="en-US">
                    <a:solidFill>
                      <a:schemeClr val="tx1">
                        <a:lumMod val="75000"/>
                        <a:lumOff val="25000"/>
                      </a:schemeClr>
                    </a:solidFill>
                  </a:rPr>
                  <a:pPr>
                    <a:defRPr sz="900" b="0" i="0" u="none" strike="noStrike" kern="1200" baseline="0">
                      <a:solidFill>
                        <a:schemeClr val="lt1"/>
                      </a:solidFill>
                      <a:latin typeface="+mn-lt"/>
                      <a:ea typeface="+mn-ea"/>
                      <a:cs typeface="+mn-cs"/>
                    </a:defRPr>
                  </a:pPr>
                  <a:t>[VALUE]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IN"/>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5.0498687664041995E-2"/>
          <c:y val="0.1568292505103529"/>
          <c:w val="0.91894586894586894"/>
          <c:h val="0.71195902595508898"/>
        </c:manualLayout>
      </c:layout>
      <c:barChart>
        <c:barDir val="col"/>
        <c:grouping val="stacked"/>
        <c:varyColors val="0"/>
        <c:ser>
          <c:idx val="0"/>
          <c:order val="0"/>
          <c:tx>
            <c:strRef>
              <c:f>'Pivot tables'!$B$29</c:f>
              <c:strCache>
                <c:ptCount val="1"/>
                <c:pt idx="0">
                  <c:v>Sum of Sales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tables'!$A$30:$A$34</c:f>
              <c:strCache>
                <c:ptCount val="4"/>
                <c:pt idx="0">
                  <c:v>Clothing</c:v>
                </c:pt>
                <c:pt idx="1">
                  <c:v>Electronics</c:v>
                </c:pt>
                <c:pt idx="2">
                  <c:v>Home &amp; Kitchen</c:v>
                </c:pt>
                <c:pt idx="3">
                  <c:v>Toys</c:v>
                </c:pt>
              </c:strCache>
            </c:strRef>
          </c:cat>
          <c:val>
            <c:numRef>
              <c:f>'Pivot tables'!$B$30:$B$34</c:f>
              <c:numCache>
                <c:formatCode>[$$-409]#,##0.00</c:formatCode>
                <c:ptCount val="4"/>
                <c:pt idx="0">
                  <c:v>167303.69429999997</c:v>
                </c:pt>
                <c:pt idx="1">
                  <c:v>197546.8018000001</c:v>
                </c:pt>
                <c:pt idx="2">
                  <c:v>363865.02119999984</c:v>
                </c:pt>
                <c:pt idx="3">
                  <c:v>324182.84249999956</c:v>
                </c:pt>
              </c:numCache>
            </c:numRef>
          </c:val>
          <c:extLst>
            <c:ext xmlns:c16="http://schemas.microsoft.com/office/drawing/2014/chart" uri="{C3380CC4-5D6E-409C-BE32-E72D297353CC}">
              <c16:uniqueId val="{00000000-0B80-4128-BA54-DA906C520CE2}"/>
            </c:ext>
          </c:extLst>
        </c:ser>
        <c:ser>
          <c:idx val="1"/>
          <c:order val="1"/>
          <c:tx>
            <c:strRef>
              <c:f>'Pivot tables'!$C$29</c:f>
              <c:strCache>
                <c:ptCount val="1"/>
                <c:pt idx="0">
                  <c:v>Sum of Profit</c:v>
                </c:pt>
              </c:strCache>
            </c:strRef>
          </c:tx>
          <c:spPr>
            <a:solidFill>
              <a:schemeClr val="accent2"/>
            </a:solidFill>
            <a:ln>
              <a:noFill/>
            </a:ln>
            <a:effectLst/>
          </c:spPr>
          <c:invertIfNegative val="0"/>
          <c:dLbls>
            <c:dLbl>
              <c:idx val="0"/>
              <c:layout>
                <c:manualLayout>
                  <c:x val="-2.8490028490028622E-3"/>
                  <c:y val="-3.3055564954556964E-2"/>
                </c:manualLayout>
              </c:layout>
              <c:tx>
                <c:rich>
                  <a:bodyPr/>
                  <a:lstStyle/>
                  <a:p>
                    <a:fld id="{F13D344F-5F7A-4A86-89CB-7C8E581167B1}" type="VALUE">
                      <a:rPr lang="en-US">
                        <a:solidFill>
                          <a:schemeClr val="tx1">
                            <a:lumMod val="75000"/>
                            <a:lumOff val="25000"/>
                          </a:schemeClr>
                        </a:solidFill>
                      </a:rPr>
                      <a:pPr/>
                      <a:t>[VALUE]</a:t>
                    </a:fld>
                    <a:endParaRPr lang="en-IN"/>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80-4128-BA54-DA906C520CE2}"/>
                </c:ext>
              </c:extLst>
            </c:dLbl>
            <c:dLbl>
              <c:idx val="1"/>
              <c:layout>
                <c:manualLayout>
                  <c:x val="0"/>
                  <c:y val="-3.3055564954556964E-2"/>
                </c:manualLayout>
              </c:layout>
              <c:tx>
                <c:rich>
                  <a:bodyPr/>
                  <a:lstStyle/>
                  <a:p>
                    <a:fld id="{BCE653FE-59BC-4C99-9A48-04732818E9D7}" type="VALUE">
                      <a:rPr lang="en-US">
                        <a:solidFill>
                          <a:schemeClr val="tx1">
                            <a:lumMod val="75000"/>
                            <a:lumOff val="25000"/>
                          </a:schemeClr>
                        </a:solidFill>
                      </a:rPr>
                      <a:pPr/>
                      <a:t>[VALUE]</a:t>
                    </a:fld>
                    <a:endParaRPr lang="en-IN"/>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B80-4128-BA54-DA906C520CE2}"/>
                </c:ext>
              </c:extLst>
            </c:dLbl>
            <c:dLbl>
              <c:idx val="2"/>
              <c:tx>
                <c:rich>
                  <a:bodyPr/>
                  <a:lstStyle/>
                  <a:p>
                    <a:fld id="{761775A8-CFD3-4A09-BFE5-E642D4693374}" type="VALUE">
                      <a:rPr lang="en-US">
                        <a:solidFill>
                          <a:schemeClr val="tx1">
                            <a:lumMod val="75000"/>
                            <a:lumOff val="25000"/>
                          </a:schemeClr>
                        </a:solidFill>
                      </a:rPr>
                      <a:pPr/>
                      <a:t>[VALUE]</a:t>
                    </a:fld>
                    <a:endParaRPr lang="en-IN"/>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80-4128-BA54-DA906C520CE2}"/>
                </c:ext>
              </c:extLst>
            </c:dLbl>
            <c:dLbl>
              <c:idx val="3"/>
              <c:tx>
                <c:rich>
                  <a:bodyPr/>
                  <a:lstStyle/>
                  <a:p>
                    <a:fld id="{A21DDF52-5439-46F5-8548-DFD8E69B99E2}" type="VALUE">
                      <a:rPr lang="en-US">
                        <a:solidFill>
                          <a:schemeClr val="tx1">
                            <a:lumMod val="75000"/>
                            <a:lumOff val="25000"/>
                          </a:schemeClr>
                        </a:solidFill>
                      </a:rPr>
                      <a:pPr/>
                      <a:t>[VALUE]</a:t>
                    </a:fld>
                    <a:endParaRPr lang="en-IN"/>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B80-4128-BA54-DA906C520CE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tables'!$A$30:$A$34</c:f>
              <c:strCache>
                <c:ptCount val="4"/>
                <c:pt idx="0">
                  <c:v>Clothing</c:v>
                </c:pt>
                <c:pt idx="1">
                  <c:v>Electronics</c:v>
                </c:pt>
                <c:pt idx="2">
                  <c:v>Home &amp; Kitchen</c:v>
                </c:pt>
                <c:pt idx="3">
                  <c:v>Toys</c:v>
                </c:pt>
              </c:strCache>
            </c:strRef>
          </c:cat>
          <c:val>
            <c:numRef>
              <c:f>'Pivot tables'!$C$30:$C$34</c:f>
              <c:numCache>
                <c:formatCode>[$$-409]#,##0.00</c:formatCode>
                <c:ptCount val="4"/>
                <c:pt idx="0">
                  <c:v>9569.8142999999909</c:v>
                </c:pt>
                <c:pt idx="1">
                  <c:v>18547.441799999997</c:v>
                </c:pt>
                <c:pt idx="2">
                  <c:v>21511.831200000026</c:v>
                </c:pt>
                <c:pt idx="3">
                  <c:v>23715.572500000028</c:v>
                </c:pt>
              </c:numCache>
            </c:numRef>
          </c:val>
          <c:extLst>
            <c:ext xmlns:c16="http://schemas.microsoft.com/office/drawing/2014/chart" uri="{C3380CC4-5D6E-409C-BE32-E72D297353CC}">
              <c16:uniqueId val="{00000005-0B80-4128-BA54-DA906C520CE2}"/>
            </c:ext>
          </c:extLst>
        </c:ser>
        <c:dLbls>
          <c:dLblPos val="ctr"/>
          <c:showLegendKey val="0"/>
          <c:showVal val="1"/>
          <c:showCatName val="0"/>
          <c:showSerName val="0"/>
          <c:showPercent val="0"/>
          <c:showBubbleSize val="0"/>
        </c:dLbls>
        <c:gapWidth val="79"/>
        <c:overlap val="100"/>
        <c:axId val="1719865647"/>
        <c:axId val="1719854607"/>
      </c:barChart>
      <c:catAx>
        <c:axId val="171986564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1719854607"/>
        <c:crosses val="autoZero"/>
        <c:auto val="1"/>
        <c:lblAlgn val="ctr"/>
        <c:lblOffset val="100"/>
        <c:noMultiLvlLbl val="0"/>
      </c:catAx>
      <c:valAx>
        <c:axId val="1719854607"/>
        <c:scaling>
          <c:orientation val="minMax"/>
        </c:scaling>
        <c:delete val="1"/>
        <c:axPos val="l"/>
        <c:numFmt formatCode="[$$-409]#,##0.00" sourceLinked="1"/>
        <c:majorTickMark val="none"/>
        <c:minorTickMark val="none"/>
        <c:tickLblPos val="nextTo"/>
        <c:crossAx val="1719865647"/>
        <c:crosses val="autoZero"/>
        <c:crossBetween val="between"/>
      </c:valAx>
      <c:spPr>
        <a:noFill/>
        <a:ln>
          <a:noFill/>
        </a:ln>
        <a:effectLst/>
      </c:spPr>
    </c:plotArea>
    <c:legend>
      <c:legendPos val="t"/>
      <c:layout>
        <c:manualLayout>
          <c:xMode val="edge"/>
          <c:yMode val="edge"/>
          <c:x val="0.36185168983506683"/>
          <c:y val="3.1270358306188926E-2"/>
          <c:w val="0.29275736366287547"/>
          <c:h val="4.651527353869040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tables!PivotTable7</c:name>
    <c:fmtId val="8"/>
  </c:pivotSource>
  <c:chart>
    <c:autoTitleDeleted val="1"/>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1"/>
        <c:spPr>
          <a:solidFill>
            <a:schemeClr val="accent2"/>
          </a:solidFill>
          <a:ln w="19050">
            <a:solidFill>
              <a:schemeClr val="lt1"/>
            </a:solidFill>
          </a:ln>
          <a:effectLst/>
        </c:spPr>
        <c:dLbl>
          <c:idx val="0"/>
          <c:layout>
            <c:manualLayout>
              <c:x val="-5.2505358705161854E-2"/>
              <c:y val="2.89807524059492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2"/>
        <c:spPr>
          <a:solidFill>
            <a:schemeClr val="accent2"/>
          </a:solidFill>
          <a:ln w="19050">
            <a:solidFill>
              <a:schemeClr val="lt1"/>
            </a:solidFill>
          </a:ln>
          <a:effectLst/>
        </c:spPr>
        <c:dLbl>
          <c:idx val="0"/>
          <c:layout>
            <c:manualLayout>
              <c:x val="2.1557633420822397E-2"/>
              <c:y val="-4.266404199475065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
        <c:spPr>
          <a:solidFill>
            <a:schemeClr val="accent2"/>
          </a:solidFill>
          <a:ln w="19050">
            <a:solidFill>
              <a:schemeClr val="lt1"/>
            </a:solidFill>
          </a:ln>
          <a:effectLst/>
        </c:spPr>
        <c:dLbl>
          <c:idx val="0"/>
          <c:layout>
            <c:manualLayout>
              <c:x val="-9.4918853893263336E-2"/>
              <c:y val="-0.1361041848935549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4"/>
        <c:spPr>
          <a:solidFill>
            <a:schemeClr val="accent2"/>
          </a:solidFill>
          <a:ln w="19050">
            <a:solidFill>
              <a:schemeClr val="lt1"/>
            </a:solidFill>
          </a:ln>
          <a:effectLst/>
        </c:spPr>
        <c:dLbl>
          <c:idx val="0"/>
          <c:layout>
            <c:manualLayout>
              <c:x val="-7.5402230971128636E-2"/>
              <c:y val="-1.981481481481481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5"/>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dLbl>
          <c:idx val="0"/>
          <c:layout>
            <c:manualLayout>
              <c:x val="-7.5402230971128636E-2"/>
              <c:y val="-1.981481481481481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8"/>
        <c:spPr>
          <a:solidFill>
            <a:schemeClr val="accent2"/>
          </a:solidFill>
          <a:ln w="19050">
            <a:solidFill>
              <a:schemeClr val="lt1"/>
            </a:solidFill>
          </a:ln>
          <a:effectLst/>
        </c:spPr>
        <c:dLbl>
          <c:idx val="0"/>
          <c:layout>
            <c:manualLayout>
              <c:x val="-9.4918853893263336E-2"/>
              <c:y val="-0.1361041848935549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9"/>
        <c:spPr>
          <a:solidFill>
            <a:schemeClr val="accent2"/>
          </a:solidFill>
          <a:ln w="19050">
            <a:solidFill>
              <a:schemeClr val="lt1"/>
            </a:solidFill>
          </a:ln>
          <a:effectLst/>
        </c:spPr>
        <c:dLbl>
          <c:idx val="0"/>
          <c:layout>
            <c:manualLayout>
              <c:x val="2.1557633420822397E-2"/>
              <c:y val="-4.266404199475065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10"/>
        <c:spPr>
          <a:solidFill>
            <a:schemeClr val="accent2"/>
          </a:solidFill>
          <a:ln w="19050">
            <a:solidFill>
              <a:schemeClr val="lt1"/>
            </a:solidFill>
          </a:ln>
          <a:effectLst/>
        </c:spPr>
        <c:dLbl>
          <c:idx val="0"/>
          <c:layout>
            <c:manualLayout>
              <c:x val="-5.2505358705161854E-2"/>
              <c:y val="2.89807524059492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11"/>
        <c:spPr>
          <a:solidFill>
            <a:schemeClr val="accent2"/>
          </a:solidFill>
          <a:ln w="19050">
            <a:solidFill>
              <a:schemeClr val="lt1"/>
            </a:solidFill>
          </a:ln>
          <a:effectLst/>
        </c:spPr>
      </c:pivotFmt>
      <c:pivotFmt>
        <c:idx val="12"/>
        <c:spPr>
          <a:solidFill>
            <a:schemeClr val="accent2"/>
          </a:solidFill>
          <a:ln w="19050">
            <a:solidFill>
              <a:schemeClr val="lt1"/>
            </a:solidFill>
          </a:ln>
          <a:effectLst/>
        </c:spPr>
      </c:pivotFmt>
      <c:pivotFmt>
        <c:idx val="13"/>
        <c:spPr>
          <a:solidFill>
            <a:schemeClr val="accent2"/>
          </a:solidFill>
          <a:ln w="19050">
            <a:solidFill>
              <a:schemeClr val="lt1"/>
            </a:solidFill>
          </a:ln>
          <a:effectLst/>
        </c:spPr>
      </c:pivotFmt>
      <c:pivotFmt>
        <c:idx val="14"/>
        <c:spPr>
          <a:solidFill>
            <a:schemeClr val="accent2"/>
          </a:solidFill>
          <a:ln w="19050">
            <a:solidFill>
              <a:schemeClr val="lt1"/>
            </a:solidFill>
          </a:ln>
          <a:effectLst/>
        </c:spPr>
      </c:pivotFmt>
      <c:pivotFmt>
        <c:idx val="15"/>
        <c:spPr>
          <a:solidFill>
            <a:schemeClr val="accent2"/>
          </a:solidFill>
          <a:ln w="19050">
            <a:solidFill>
              <a:schemeClr val="lt1"/>
            </a:solidFill>
          </a:ln>
          <a:effectLst/>
        </c:spPr>
      </c:pivotFmt>
      <c:pivotFmt>
        <c:idx val="16"/>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17"/>
        <c:spPr>
          <a:solidFill>
            <a:schemeClr val="accent2"/>
          </a:solidFill>
          <a:ln w="19050">
            <a:solidFill>
              <a:schemeClr val="lt1"/>
            </a:solidFill>
          </a:ln>
          <a:effectLst/>
        </c:spPr>
      </c:pivotFmt>
      <c:pivotFmt>
        <c:idx val="18"/>
        <c:spPr>
          <a:solidFill>
            <a:schemeClr val="accent2"/>
          </a:solidFill>
          <a:ln w="19050">
            <a:solidFill>
              <a:schemeClr val="lt1"/>
            </a:solidFill>
          </a:ln>
          <a:effectLst/>
        </c:spPr>
        <c:dLbl>
          <c:idx val="0"/>
          <c:layout>
            <c:manualLayout>
              <c:x val="-7.5402230971128636E-2"/>
              <c:y val="-1.981481481481481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19"/>
        <c:spPr>
          <a:solidFill>
            <a:schemeClr val="accent2"/>
          </a:solidFill>
          <a:ln w="19050">
            <a:solidFill>
              <a:schemeClr val="lt1"/>
            </a:solidFill>
          </a:ln>
          <a:effectLst/>
        </c:spPr>
        <c:dLbl>
          <c:idx val="0"/>
          <c:layout>
            <c:manualLayout>
              <c:x val="-9.4918853893263336E-2"/>
              <c:y val="-0.1361041848935549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20"/>
        <c:spPr>
          <a:solidFill>
            <a:schemeClr val="accent2"/>
          </a:solidFill>
          <a:ln w="19050">
            <a:solidFill>
              <a:schemeClr val="lt1"/>
            </a:solidFill>
          </a:ln>
          <a:effectLst/>
        </c:spPr>
        <c:dLbl>
          <c:idx val="0"/>
          <c:layout>
            <c:manualLayout>
              <c:x val="2.1557633420822397E-2"/>
              <c:y val="-4.266404199475065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21"/>
        <c:spPr>
          <a:solidFill>
            <a:schemeClr val="accent2"/>
          </a:solidFill>
          <a:ln w="19050">
            <a:solidFill>
              <a:schemeClr val="lt1"/>
            </a:solidFill>
          </a:ln>
          <a:effectLst/>
        </c:spPr>
        <c:dLbl>
          <c:idx val="0"/>
          <c:layout>
            <c:manualLayout>
              <c:x val="-5.2505358705161854E-2"/>
              <c:y val="2.89807524059492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22"/>
        <c:spPr>
          <a:solidFill>
            <a:schemeClr val="accent2"/>
          </a:solidFill>
          <a:ln w="19050">
            <a:solidFill>
              <a:schemeClr val="lt1"/>
            </a:solidFill>
          </a:ln>
          <a:effectLst/>
        </c:spPr>
      </c:pivotFmt>
      <c:pivotFmt>
        <c:idx val="23"/>
        <c:spPr>
          <a:solidFill>
            <a:schemeClr val="accent2"/>
          </a:solidFill>
          <a:ln w="19050">
            <a:solidFill>
              <a:schemeClr val="lt1"/>
            </a:solidFill>
          </a:ln>
          <a:effectLst/>
        </c:spPr>
      </c:pivotFmt>
      <c:pivotFmt>
        <c:idx val="24"/>
        <c:spPr>
          <a:solidFill>
            <a:schemeClr val="accent2"/>
          </a:solidFill>
          <a:ln w="19050">
            <a:solidFill>
              <a:schemeClr val="lt1"/>
            </a:solidFill>
          </a:ln>
          <a:effectLst/>
        </c:spPr>
      </c:pivotFmt>
      <c:pivotFmt>
        <c:idx val="25"/>
        <c:spPr>
          <a:solidFill>
            <a:schemeClr val="accent2"/>
          </a:solidFill>
          <a:ln w="19050">
            <a:solidFill>
              <a:schemeClr val="lt1"/>
            </a:solidFill>
          </a:ln>
          <a:effectLst/>
        </c:spPr>
      </c:pivotFmt>
      <c:pivotFmt>
        <c:idx val="26"/>
        <c:spPr>
          <a:solidFill>
            <a:schemeClr val="accent2"/>
          </a:solidFill>
          <a:ln w="19050">
            <a:solidFill>
              <a:schemeClr val="lt1"/>
            </a:solidFill>
          </a:ln>
          <a:effectLst/>
        </c:spPr>
      </c:pivotFmt>
      <c:pivotFmt>
        <c:idx val="27"/>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28"/>
        <c:spPr>
          <a:solidFill>
            <a:schemeClr val="accent2"/>
          </a:solidFill>
          <a:ln w="19050">
            <a:solidFill>
              <a:schemeClr val="lt1"/>
            </a:solidFill>
          </a:ln>
          <a:effectLst/>
        </c:spPr>
      </c:pivotFmt>
      <c:pivotFmt>
        <c:idx val="29"/>
        <c:spPr>
          <a:solidFill>
            <a:schemeClr val="accent2"/>
          </a:solidFill>
          <a:ln w="19050">
            <a:solidFill>
              <a:schemeClr val="lt1"/>
            </a:solidFill>
          </a:ln>
          <a:effectLst/>
        </c:spPr>
        <c:dLbl>
          <c:idx val="0"/>
          <c:layout>
            <c:manualLayout>
              <c:x val="-7.5402230971128636E-2"/>
              <c:y val="-1.981481481481481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0"/>
        <c:spPr>
          <a:solidFill>
            <a:schemeClr val="accent2"/>
          </a:solidFill>
          <a:ln w="19050">
            <a:solidFill>
              <a:schemeClr val="lt1"/>
            </a:solidFill>
          </a:ln>
          <a:effectLst/>
        </c:spPr>
        <c:dLbl>
          <c:idx val="0"/>
          <c:layout>
            <c:manualLayout>
              <c:x val="-9.4918853893263336E-2"/>
              <c:y val="-0.1361041848935549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1"/>
        <c:spPr>
          <a:solidFill>
            <a:schemeClr val="accent2"/>
          </a:solidFill>
          <a:ln w="19050">
            <a:solidFill>
              <a:schemeClr val="lt1"/>
            </a:solidFill>
          </a:ln>
          <a:effectLst/>
        </c:spPr>
        <c:dLbl>
          <c:idx val="0"/>
          <c:layout>
            <c:manualLayout>
              <c:x val="2.1557633420822397E-2"/>
              <c:y val="-4.266404199475065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2"/>
        <c:spPr>
          <a:solidFill>
            <a:schemeClr val="accent2"/>
          </a:solidFill>
          <a:ln w="19050">
            <a:solidFill>
              <a:schemeClr val="lt1"/>
            </a:solidFill>
          </a:ln>
          <a:effectLst/>
        </c:spPr>
        <c:dLbl>
          <c:idx val="0"/>
          <c:layout>
            <c:manualLayout>
              <c:x val="-5.2505358705161854E-2"/>
              <c:y val="2.89807524059492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3"/>
        <c:spPr>
          <a:solidFill>
            <a:schemeClr val="accent2"/>
          </a:solidFill>
          <a:ln w="19050">
            <a:solidFill>
              <a:schemeClr val="lt1"/>
            </a:solidFill>
          </a:ln>
          <a:effectLst/>
        </c:spPr>
      </c:pivotFmt>
      <c:pivotFmt>
        <c:idx val="34"/>
        <c:spPr>
          <a:solidFill>
            <a:schemeClr val="accent2"/>
          </a:solidFill>
          <a:ln w="19050">
            <a:solidFill>
              <a:schemeClr val="lt1"/>
            </a:solidFill>
          </a:ln>
          <a:effectLst/>
        </c:spPr>
      </c:pivotFmt>
      <c:pivotFmt>
        <c:idx val="35"/>
        <c:spPr>
          <a:solidFill>
            <a:schemeClr val="accent2"/>
          </a:solidFill>
          <a:ln w="19050">
            <a:solidFill>
              <a:schemeClr val="lt1"/>
            </a:solidFill>
          </a:ln>
          <a:effectLst/>
        </c:spPr>
      </c:pivotFmt>
      <c:pivotFmt>
        <c:idx val="36"/>
        <c:spPr>
          <a:solidFill>
            <a:schemeClr val="accent2"/>
          </a:solidFill>
          <a:ln w="19050">
            <a:solidFill>
              <a:schemeClr val="lt1"/>
            </a:solidFill>
          </a:ln>
          <a:effectLst/>
        </c:spPr>
      </c:pivotFmt>
      <c:pivotFmt>
        <c:idx val="37"/>
        <c:spPr>
          <a:solidFill>
            <a:schemeClr val="accent2"/>
          </a:solidFill>
          <a:ln w="19050">
            <a:solidFill>
              <a:schemeClr val="lt1"/>
            </a:solidFill>
          </a:ln>
          <a:effectLst/>
        </c:spPr>
      </c:pivotFmt>
      <c:pivotFmt>
        <c:idx val="38"/>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39"/>
        <c:spPr>
          <a:solidFill>
            <a:schemeClr val="accent2"/>
          </a:solidFill>
          <a:ln w="19050">
            <a:solidFill>
              <a:schemeClr val="lt1"/>
            </a:solidFill>
          </a:ln>
          <a:effectLst/>
        </c:spPr>
      </c:pivotFmt>
      <c:pivotFmt>
        <c:idx val="40"/>
        <c:spPr>
          <a:solidFill>
            <a:schemeClr val="accent2"/>
          </a:solidFill>
          <a:ln w="19050">
            <a:solidFill>
              <a:schemeClr val="lt1"/>
            </a:solidFill>
          </a:ln>
          <a:effectLst/>
        </c:spPr>
        <c:dLbl>
          <c:idx val="0"/>
          <c:layout>
            <c:manualLayout>
              <c:x val="-7.5402230971128636E-2"/>
              <c:y val="-1.981481481481481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41"/>
        <c:spPr>
          <a:solidFill>
            <a:schemeClr val="accent2"/>
          </a:solidFill>
          <a:ln w="19050">
            <a:solidFill>
              <a:schemeClr val="lt1"/>
            </a:solidFill>
          </a:ln>
          <a:effectLst/>
        </c:spPr>
        <c:dLbl>
          <c:idx val="0"/>
          <c:layout>
            <c:manualLayout>
              <c:x val="-9.4918853893263336E-2"/>
              <c:y val="-0.1361041848935549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42"/>
        <c:spPr>
          <a:solidFill>
            <a:schemeClr val="accent2"/>
          </a:solidFill>
          <a:ln w="19050">
            <a:solidFill>
              <a:schemeClr val="lt1"/>
            </a:solidFill>
          </a:ln>
          <a:effectLst/>
        </c:spPr>
        <c:dLbl>
          <c:idx val="0"/>
          <c:layout>
            <c:manualLayout>
              <c:x val="2.1557633420822397E-2"/>
              <c:y val="-4.266404199475065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43"/>
        <c:spPr>
          <a:solidFill>
            <a:schemeClr val="accent2"/>
          </a:solidFill>
          <a:ln w="19050">
            <a:solidFill>
              <a:schemeClr val="lt1"/>
            </a:solidFill>
          </a:ln>
          <a:effectLst/>
        </c:spPr>
        <c:dLbl>
          <c:idx val="0"/>
          <c:layout>
            <c:manualLayout>
              <c:x val="-5.2505358705161854E-2"/>
              <c:y val="2.898075240594925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extLst>
            <c:ext xmlns:c15="http://schemas.microsoft.com/office/drawing/2012/chart" uri="{CE6537A1-D6FC-4f65-9D91-7224C49458BB}"/>
          </c:extLst>
        </c:dLbl>
      </c:pivotFmt>
      <c:pivotFmt>
        <c:idx val="44"/>
        <c:spPr>
          <a:solidFill>
            <a:schemeClr val="accent2"/>
          </a:solidFill>
          <a:ln w="19050">
            <a:solidFill>
              <a:schemeClr val="lt1"/>
            </a:solidFill>
          </a:ln>
          <a:effectLst/>
        </c:spPr>
      </c:pivotFmt>
      <c:pivotFmt>
        <c:idx val="45"/>
        <c:spPr>
          <a:solidFill>
            <a:schemeClr val="accent2"/>
          </a:solidFill>
          <a:ln w="19050">
            <a:solidFill>
              <a:schemeClr val="lt1"/>
            </a:solidFill>
          </a:ln>
          <a:effectLst/>
        </c:spPr>
      </c:pivotFmt>
      <c:pivotFmt>
        <c:idx val="46"/>
        <c:spPr>
          <a:solidFill>
            <a:schemeClr val="accent2"/>
          </a:solidFill>
          <a:ln w="19050">
            <a:solidFill>
              <a:schemeClr val="lt1"/>
            </a:solidFill>
          </a:ln>
          <a:effectLst/>
        </c:spPr>
      </c:pivotFmt>
      <c:pivotFmt>
        <c:idx val="47"/>
        <c:spPr>
          <a:solidFill>
            <a:schemeClr val="accent2"/>
          </a:solidFill>
          <a:ln w="19050">
            <a:solidFill>
              <a:schemeClr val="lt1"/>
            </a:solidFill>
          </a:ln>
          <a:effectLst/>
        </c:spPr>
      </c:pivotFmt>
      <c:pivotFmt>
        <c:idx val="48"/>
        <c:spPr>
          <a:solidFill>
            <a:schemeClr val="accent2"/>
          </a:solidFill>
          <a:ln w="19050">
            <a:solidFill>
              <a:schemeClr val="lt1"/>
            </a:solidFill>
          </a:ln>
          <a:effectLst/>
        </c:spPr>
      </c:pivotFmt>
    </c:pivotFmts>
    <c:plotArea>
      <c:layout/>
      <c:ofPieChart>
        <c:ofPieType val="bar"/>
        <c:varyColors val="1"/>
        <c:ser>
          <c:idx val="0"/>
          <c:order val="0"/>
          <c:tx>
            <c:strRef>
              <c:f>'Pivot tables'!$B$44</c:f>
              <c:strCache>
                <c:ptCount val="1"/>
                <c:pt idx="0">
                  <c:v>Total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4C9-4ADD-BCFB-A4614EACDC20}"/>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24C9-4ADD-BCFB-A4614EACDC20}"/>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24C9-4ADD-BCFB-A4614EACDC20}"/>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7-24C9-4ADD-BCFB-A4614EACDC20}"/>
              </c:ext>
            </c:extLst>
          </c:dPt>
          <c:dPt>
            <c:idx val="4"/>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09-24C9-4ADD-BCFB-A4614EACDC20}"/>
              </c:ext>
            </c:extLst>
          </c:dPt>
          <c:dPt>
            <c:idx val="5"/>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0B-24C9-4ADD-BCFB-A4614EACDC20}"/>
              </c:ext>
            </c:extLst>
          </c:dPt>
          <c:dPt>
            <c:idx val="6"/>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0D-24C9-4ADD-BCFB-A4614EACDC20}"/>
              </c:ext>
            </c:extLst>
          </c:dPt>
          <c:dPt>
            <c:idx val="7"/>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0F-24C9-4ADD-BCFB-A4614EACDC20}"/>
              </c:ext>
            </c:extLst>
          </c:dPt>
          <c:dPt>
            <c:idx val="8"/>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11-24C9-4ADD-BCFB-A4614EACDC20}"/>
              </c:ext>
            </c:extLst>
          </c:dPt>
          <c:dPt>
            <c:idx val="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13-24C9-4ADD-BCFB-A4614EACDC20}"/>
              </c:ext>
            </c:extLst>
          </c:dPt>
          <c:dPt>
            <c:idx val="10"/>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15-24C9-4ADD-BCFB-A4614EACDC20}"/>
              </c:ext>
            </c:extLst>
          </c:dPt>
          <c:dLbls>
            <c:dLbl>
              <c:idx val="1"/>
              <c:layout>
                <c:manualLayout>
                  <c:x val="-7.5402230971128636E-2"/>
                  <c:y val="-1.9814814814814816E-2"/>
                </c:manualLayout>
              </c:layout>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3-24C9-4ADD-BCFB-A4614EACDC20}"/>
                </c:ext>
              </c:extLst>
            </c:dLbl>
            <c:dLbl>
              <c:idx val="2"/>
              <c:layout>
                <c:manualLayout>
                  <c:x val="-9.4918853893263336E-2"/>
                  <c:y val="-0.13610418489355497"/>
                </c:manualLayout>
              </c:layout>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5-24C9-4ADD-BCFB-A4614EACDC20}"/>
                </c:ext>
              </c:extLst>
            </c:dLbl>
            <c:dLbl>
              <c:idx val="3"/>
              <c:layout>
                <c:manualLayout>
                  <c:x val="2.1557633420822397E-2"/>
                  <c:y val="-4.2664041994750657E-2"/>
                </c:manualLayout>
              </c:layout>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7-24C9-4ADD-BCFB-A4614EACDC20}"/>
                </c:ext>
              </c:extLst>
            </c:dLbl>
            <c:dLbl>
              <c:idx val="4"/>
              <c:layout>
                <c:manualLayout>
                  <c:x val="-5.2505358705161854E-2"/>
                  <c:y val="2.8980752405949255E-2"/>
                </c:manualLayout>
              </c:layout>
              <c:dLblPos val="bestFit"/>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9-24C9-4ADD-BCFB-A4614EACDC2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tables'!$A$45:$A$55</c:f>
              <c:strCache>
                <c:ptCount val="10"/>
                <c:pt idx="0">
                  <c:v>Accessories</c:v>
                </c:pt>
                <c:pt idx="1">
                  <c:v>Board Games</c:v>
                </c:pt>
                <c:pt idx="2">
                  <c:v>Educational</c:v>
                </c:pt>
                <c:pt idx="3">
                  <c:v>Furniture</c:v>
                </c:pt>
                <c:pt idx="4">
                  <c:v>Kids</c:v>
                </c:pt>
                <c:pt idx="5">
                  <c:v>Laptops</c:v>
                </c:pt>
                <c:pt idx="6">
                  <c:v>Men</c:v>
                </c:pt>
                <c:pt idx="7">
                  <c:v>Mobiles</c:v>
                </c:pt>
                <c:pt idx="8">
                  <c:v>Outdoor</c:v>
                </c:pt>
                <c:pt idx="9">
                  <c:v>Women</c:v>
                </c:pt>
              </c:strCache>
            </c:strRef>
          </c:cat>
          <c:val>
            <c:numRef>
              <c:f>'Pivot tables'!$B$45:$B$55</c:f>
              <c:numCache>
                <c:formatCode>[$$-409]#,##0.00</c:formatCode>
                <c:ptCount val="10"/>
                <c:pt idx="0">
                  <c:v>47367.396000000008</c:v>
                </c:pt>
                <c:pt idx="1">
                  <c:v>115406.94430000006</c:v>
                </c:pt>
                <c:pt idx="2">
                  <c:v>25375.116799999996</c:v>
                </c:pt>
                <c:pt idx="3">
                  <c:v>363865.02119999984</c:v>
                </c:pt>
                <c:pt idx="4">
                  <c:v>74675.191399999996</c:v>
                </c:pt>
                <c:pt idx="5">
                  <c:v>61153.09770000002</c:v>
                </c:pt>
                <c:pt idx="6">
                  <c:v>62866.551899999984</c:v>
                </c:pt>
                <c:pt idx="7">
                  <c:v>89026.308100000009</c:v>
                </c:pt>
                <c:pt idx="8">
                  <c:v>183400.78139999995</c:v>
                </c:pt>
                <c:pt idx="9">
                  <c:v>29761.951000000005</c:v>
                </c:pt>
              </c:numCache>
            </c:numRef>
          </c:val>
          <c:extLst>
            <c:ext xmlns:c16="http://schemas.microsoft.com/office/drawing/2014/chart" uri="{C3380CC4-5D6E-409C-BE32-E72D297353CC}">
              <c16:uniqueId val="{00000016-24C9-4ADD-BCFB-A4614EACDC20}"/>
            </c:ext>
          </c:extLst>
        </c:ser>
        <c:dLbls>
          <c:dLblPos val="bestFit"/>
          <c:showLegendKey val="0"/>
          <c:showVal val="1"/>
          <c:showCatName val="0"/>
          <c:showSerName val="0"/>
          <c:showPercent val="0"/>
          <c:showBubbleSize val="0"/>
          <c:showLeaderLines val="1"/>
        </c:dLbls>
        <c:gapWidth val="100"/>
        <c:secondPieSize val="75"/>
        <c:serLines>
          <c:spPr>
            <a:ln w="9525" cap="flat" cmpd="sng" algn="ctr">
              <a:solidFill>
                <a:schemeClr val="tx1">
                  <a:lumMod val="35000"/>
                  <a:lumOff val="65000"/>
                </a:schemeClr>
              </a:solidFill>
              <a:round/>
            </a:ln>
            <a:effectLst/>
          </c:spPr>
        </c:serLines>
      </c:of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tables!PivotTable5</c:name>
    <c:fmtId val="26"/>
  </c:pivotSource>
  <c:chart>
    <c:autoTitleDeleted val="1"/>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pivotFmt>
      <c:pivotFmt>
        <c:idx val="4"/>
        <c:spPr>
          <a:solidFill>
            <a:schemeClr val="accent2"/>
          </a:solidFill>
          <a:ln>
            <a:noFill/>
          </a:ln>
          <a:effectLst/>
        </c:spPr>
        <c:marker>
          <c:symbol val="none"/>
        </c:marker>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019622954960972"/>
          <c:y val="0.17514720689875704"/>
          <c:w val="0.82989621199470798"/>
          <c:h val="0.58923028528168975"/>
        </c:manualLayout>
      </c:layout>
      <c:barChart>
        <c:barDir val="col"/>
        <c:grouping val="clustered"/>
        <c:varyColors val="0"/>
        <c:ser>
          <c:idx val="0"/>
          <c:order val="0"/>
          <c:tx>
            <c:strRef>
              <c:f>'Pivot tables'!$I$1:$I$2</c:f>
              <c:strCache>
                <c:ptCount val="1"/>
                <c:pt idx="0">
                  <c:v>Active</c:v>
                </c:pt>
              </c:strCache>
            </c:strRef>
          </c:tx>
          <c:spPr>
            <a:solidFill>
              <a:schemeClr val="accent2"/>
            </a:solidFill>
            <a:ln>
              <a:noFill/>
            </a:ln>
            <a:effectLst/>
          </c:spPr>
          <c:invertIfNegative val="0"/>
          <c:cat>
            <c:multiLvlStrRef>
              <c:f>'Pivot tables'!$H$3:$H$25</c:f>
              <c:multiLvlStrCache>
                <c:ptCount val="20"/>
                <c:lvl>
                  <c:pt idx="0">
                    <c:v>204</c:v>
                  </c:pt>
                  <c:pt idx="1">
                    <c:v>205</c:v>
                  </c:pt>
                  <c:pt idx="2">
                    <c:v>206</c:v>
                  </c:pt>
                  <c:pt idx="3">
                    <c:v>208</c:v>
                  </c:pt>
                  <c:pt idx="4">
                    <c:v>209</c:v>
                  </c:pt>
                  <c:pt idx="5">
                    <c:v>210</c:v>
                  </c:pt>
                  <c:pt idx="6">
                    <c:v>213</c:v>
                  </c:pt>
                  <c:pt idx="7">
                    <c:v>218</c:v>
                  </c:pt>
                  <c:pt idx="8">
                    <c:v>201</c:v>
                  </c:pt>
                  <c:pt idx="9">
                    <c:v>202</c:v>
                  </c:pt>
                  <c:pt idx="10">
                    <c:v>203</c:v>
                  </c:pt>
                  <c:pt idx="11">
                    <c:v>207</c:v>
                  </c:pt>
                  <c:pt idx="12">
                    <c:v>211</c:v>
                  </c:pt>
                  <c:pt idx="13">
                    <c:v>212</c:v>
                  </c:pt>
                  <c:pt idx="14">
                    <c:v>214</c:v>
                  </c:pt>
                  <c:pt idx="15">
                    <c:v>215</c:v>
                  </c:pt>
                  <c:pt idx="16">
                    <c:v>216</c:v>
                  </c:pt>
                  <c:pt idx="17">
                    <c:v>217</c:v>
                  </c:pt>
                  <c:pt idx="18">
                    <c:v>219</c:v>
                  </c:pt>
                  <c:pt idx="19">
                    <c:v>220</c:v>
                  </c:pt>
                </c:lvl>
                <c:lvl>
                  <c:pt idx="0">
                    <c:v>2021</c:v>
                  </c:pt>
                  <c:pt idx="8">
                    <c:v>2022</c:v>
                  </c:pt>
                </c:lvl>
              </c:multiLvlStrCache>
            </c:multiLvlStrRef>
          </c:cat>
          <c:val>
            <c:numRef>
              <c:f>'Pivot tables'!$I$3:$I$25</c:f>
              <c:numCache>
                <c:formatCode>[$$-409]#,##0.00</c:formatCode>
                <c:ptCount val="20"/>
                <c:pt idx="0">
                  <c:v>5348.2647916666674</c:v>
                </c:pt>
                <c:pt idx="1">
                  <c:v>8076.1624499999989</c:v>
                </c:pt>
                <c:pt idx="2">
                  <c:v>2546.9414500000007</c:v>
                </c:pt>
                <c:pt idx="3">
                  <c:v>1532.5465333333332</c:v>
                </c:pt>
                <c:pt idx="5">
                  <c:v>2173.0278916666662</c:v>
                </c:pt>
                <c:pt idx="6">
                  <c:v>2016.4564250000003</c:v>
                </c:pt>
                <c:pt idx="7">
                  <c:v>1377.9882833333334</c:v>
                </c:pt>
                <c:pt idx="8">
                  <c:v>1915.1163750000003</c:v>
                </c:pt>
                <c:pt idx="9">
                  <c:v>4548.8798666666662</c:v>
                </c:pt>
                <c:pt idx="10">
                  <c:v>1863.8678833333331</c:v>
                </c:pt>
                <c:pt idx="11">
                  <c:v>8981.7791500000039</c:v>
                </c:pt>
                <c:pt idx="12">
                  <c:v>4209.075291666667</c:v>
                </c:pt>
                <c:pt idx="13">
                  <c:v>2015.2018833333329</c:v>
                </c:pt>
                <c:pt idx="14">
                  <c:v>4774.5259999999989</c:v>
                </c:pt>
                <c:pt idx="15">
                  <c:v>4317.4977833333323</c:v>
                </c:pt>
                <c:pt idx="18">
                  <c:v>10171.43501666667</c:v>
                </c:pt>
                <c:pt idx="19">
                  <c:v>1560.9908583333338</c:v>
                </c:pt>
              </c:numCache>
            </c:numRef>
          </c:val>
          <c:extLst>
            <c:ext xmlns:c16="http://schemas.microsoft.com/office/drawing/2014/chart" uri="{C3380CC4-5D6E-409C-BE32-E72D297353CC}">
              <c16:uniqueId val="{00000000-4C70-4DB7-A07C-A2062B218236}"/>
            </c:ext>
          </c:extLst>
        </c:ser>
        <c:ser>
          <c:idx val="1"/>
          <c:order val="1"/>
          <c:tx>
            <c:strRef>
              <c:f>'Pivot tables'!$J$1:$J$2</c:f>
              <c:strCache>
                <c:ptCount val="1"/>
                <c:pt idx="0">
                  <c:v>Left</c:v>
                </c:pt>
              </c:strCache>
            </c:strRef>
          </c:tx>
          <c:spPr>
            <a:solidFill>
              <a:schemeClr val="accent4"/>
            </a:solidFill>
            <a:ln>
              <a:noFill/>
            </a:ln>
            <a:effectLst/>
          </c:spPr>
          <c:invertIfNegative val="0"/>
          <c:cat>
            <c:multiLvlStrRef>
              <c:f>'Pivot tables'!$H$3:$H$25</c:f>
              <c:multiLvlStrCache>
                <c:ptCount val="20"/>
                <c:lvl>
                  <c:pt idx="0">
                    <c:v>204</c:v>
                  </c:pt>
                  <c:pt idx="1">
                    <c:v>205</c:v>
                  </c:pt>
                  <c:pt idx="2">
                    <c:v>206</c:v>
                  </c:pt>
                  <c:pt idx="3">
                    <c:v>208</c:v>
                  </c:pt>
                  <c:pt idx="4">
                    <c:v>209</c:v>
                  </c:pt>
                  <c:pt idx="5">
                    <c:v>210</c:v>
                  </c:pt>
                  <c:pt idx="6">
                    <c:v>213</c:v>
                  </c:pt>
                  <c:pt idx="7">
                    <c:v>218</c:v>
                  </c:pt>
                  <c:pt idx="8">
                    <c:v>201</c:v>
                  </c:pt>
                  <c:pt idx="9">
                    <c:v>202</c:v>
                  </c:pt>
                  <c:pt idx="10">
                    <c:v>203</c:v>
                  </c:pt>
                  <c:pt idx="11">
                    <c:v>207</c:v>
                  </c:pt>
                  <c:pt idx="12">
                    <c:v>211</c:v>
                  </c:pt>
                  <c:pt idx="13">
                    <c:v>212</c:v>
                  </c:pt>
                  <c:pt idx="14">
                    <c:v>214</c:v>
                  </c:pt>
                  <c:pt idx="15">
                    <c:v>215</c:v>
                  </c:pt>
                  <c:pt idx="16">
                    <c:v>216</c:v>
                  </c:pt>
                  <c:pt idx="17">
                    <c:v>217</c:v>
                  </c:pt>
                  <c:pt idx="18">
                    <c:v>219</c:v>
                  </c:pt>
                  <c:pt idx="19">
                    <c:v>220</c:v>
                  </c:pt>
                </c:lvl>
                <c:lvl>
                  <c:pt idx="0">
                    <c:v>2021</c:v>
                  </c:pt>
                  <c:pt idx="8">
                    <c:v>2022</c:v>
                  </c:pt>
                </c:lvl>
              </c:multiLvlStrCache>
            </c:multiLvlStrRef>
          </c:cat>
          <c:val>
            <c:numRef>
              <c:f>'Pivot tables'!$J$3:$J$25</c:f>
              <c:numCache>
                <c:formatCode>[$$-409]#,##0.00</c:formatCode>
                <c:ptCount val="20"/>
                <c:pt idx="4">
                  <c:v>1723.5018916666668</c:v>
                </c:pt>
                <c:pt idx="16">
                  <c:v>9407.5541333333349</c:v>
                </c:pt>
                <c:pt idx="17">
                  <c:v>9180.7160249999997</c:v>
                </c:pt>
              </c:numCache>
            </c:numRef>
          </c:val>
          <c:extLst>
            <c:ext xmlns:c16="http://schemas.microsoft.com/office/drawing/2014/chart" uri="{C3380CC4-5D6E-409C-BE32-E72D297353CC}">
              <c16:uniqueId val="{00000001-4C70-4DB7-A07C-A2062B218236}"/>
            </c:ext>
          </c:extLst>
        </c:ser>
        <c:dLbls>
          <c:showLegendKey val="0"/>
          <c:showVal val="0"/>
          <c:showCatName val="0"/>
          <c:showSerName val="0"/>
          <c:showPercent val="0"/>
          <c:showBubbleSize val="0"/>
        </c:dLbls>
        <c:gapWidth val="219"/>
        <c:overlap val="-27"/>
        <c:axId val="1719902607"/>
        <c:axId val="1719903087"/>
      </c:barChart>
      <c:catAx>
        <c:axId val="171990260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Joining</a:t>
                </a:r>
                <a:r>
                  <a:rPr lang="en-IN" baseline="0"/>
                  <a:t> year</a:t>
                </a:r>
                <a:endParaRPr lang="en-IN"/>
              </a:p>
            </c:rich>
          </c:tx>
          <c:layout>
            <c:manualLayout>
              <c:xMode val="edge"/>
              <c:yMode val="edge"/>
              <c:x val="0.48132029988910441"/>
              <c:y val="0.928198431478702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9903087"/>
        <c:crosses val="autoZero"/>
        <c:auto val="1"/>
        <c:lblAlgn val="ctr"/>
        <c:lblOffset val="100"/>
        <c:noMultiLvlLbl val="0"/>
      </c:catAx>
      <c:valAx>
        <c:axId val="1719903087"/>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9902607"/>
        <c:crosses val="autoZero"/>
        <c:crossBetween val="between"/>
        <c:dispUnits>
          <c:builtInUnit val="tenThousand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tables!PivotTable11</c:name>
    <c:fmtId val="1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324959176519872"/>
          <c:y val="0.17171296296296296"/>
          <c:w val="0.82619478143407965"/>
          <c:h val="0.70696741032370958"/>
        </c:manualLayout>
      </c:layout>
      <c:barChart>
        <c:barDir val="col"/>
        <c:grouping val="clustered"/>
        <c:varyColors val="0"/>
        <c:ser>
          <c:idx val="0"/>
          <c:order val="0"/>
          <c:tx>
            <c:strRef>
              <c:f>'Pivot tables'!$I$28</c:f>
              <c:strCache>
                <c:ptCount val="1"/>
                <c:pt idx="0">
                  <c:v>Total</c:v>
                </c:pt>
              </c:strCache>
            </c:strRef>
          </c:tx>
          <c:spPr>
            <a:solidFill>
              <a:schemeClr val="accent1"/>
            </a:solidFill>
            <a:ln>
              <a:noFill/>
            </a:ln>
            <a:effectLst/>
          </c:spPr>
          <c:invertIfNegative val="0"/>
          <c:cat>
            <c:strRef>
              <c:f>'Pivot tables'!$H$29:$H$49</c:f>
              <c:strCache>
                <c:ptCount val="20"/>
                <c:pt idx="0">
                  <c:v>307</c:v>
                </c:pt>
                <c:pt idx="1">
                  <c:v>311</c:v>
                </c:pt>
                <c:pt idx="2">
                  <c:v>319</c:v>
                </c:pt>
                <c:pt idx="3">
                  <c:v>301</c:v>
                </c:pt>
                <c:pt idx="4">
                  <c:v>317</c:v>
                </c:pt>
                <c:pt idx="5">
                  <c:v>310</c:v>
                </c:pt>
                <c:pt idx="6">
                  <c:v>306</c:v>
                </c:pt>
                <c:pt idx="7">
                  <c:v>303</c:v>
                </c:pt>
                <c:pt idx="8">
                  <c:v>312</c:v>
                </c:pt>
                <c:pt idx="9">
                  <c:v>318</c:v>
                </c:pt>
                <c:pt idx="10">
                  <c:v>313</c:v>
                </c:pt>
                <c:pt idx="11">
                  <c:v>309</c:v>
                </c:pt>
                <c:pt idx="12">
                  <c:v>305</c:v>
                </c:pt>
                <c:pt idx="13">
                  <c:v>304</c:v>
                </c:pt>
                <c:pt idx="14">
                  <c:v>314</c:v>
                </c:pt>
                <c:pt idx="15">
                  <c:v>316</c:v>
                </c:pt>
                <c:pt idx="16">
                  <c:v>308</c:v>
                </c:pt>
                <c:pt idx="17">
                  <c:v>315</c:v>
                </c:pt>
                <c:pt idx="18">
                  <c:v>320</c:v>
                </c:pt>
                <c:pt idx="19">
                  <c:v>302</c:v>
                </c:pt>
              </c:strCache>
            </c:strRef>
          </c:cat>
          <c:val>
            <c:numRef>
              <c:f>'Pivot tables'!$I$29:$I$49</c:f>
              <c:numCache>
                <c:formatCode>[$$-409]#,##0.00</c:formatCode>
                <c:ptCount val="20"/>
                <c:pt idx="0">
                  <c:v>12465.269700000003</c:v>
                </c:pt>
                <c:pt idx="1">
                  <c:v>10193.215099999998</c:v>
                </c:pt>
                <c:pt idx="2">
                  <c:v>9903.5738000000038</c:v>
                </c:pt>
                <c:pt idx="3">
                  <c:v>9204.4924999999985</c:v>
                </c:pt>
                <c:pt idx="4">
                  <c:v>8533.7468000000008</c:v>
                </c:pt>
                <c:pt idx="5">
                  <c:v>8521.7796999999973</c:v>
                </c:pt>
                <c:pt idx="6">
                  <c:v>6231.1018999999987</c:v>
                </c:pt>
                <c:pt idx="7">
                  <c:v>5832.0436000000027</c:v>
                </c:pt>
                <c:pt idx="8">
                  <c:v>5751.2324999999992</c:v>
                </c:pt>
                <c:pt idx="9">
                  <c:v>4864.2955999999995</c:v>
                </c:pt>
                <c:pt idx="10">
                  <c:v>3033.9509999999996</c:v>
                </c:pt>
                <c:pt idx="11">
                  <c:v>2814.3777</c:v>
                </c:pt>
                <c:pt idx="12">
                  <c:v>1664.2760000000019</c:v>
                </c:pt>
                <c:pt idx="13">
                  <c:v>1114.7009000000007</c:v>
                </c:pt>
                <c:pt idx="14">
                  <c:v>304.76139999999714</c:v>
                </c:pt>
                <c:pt idx="15">
                  <c:v>-1749.0595999999957</c:v>
                </c:pt>
                <c:pt idx="16">
                  <c:v>-2400.8484999999941</c:v>
                </c:pt>
                <c:pt idx="17">
                  <c:v>-3363.0519999999992</c:v>
                </c:pt>
                <c:pt idx="18">
                  <c:v>-3582.8373999999963</c:v>
                </c:pt>
                <c:pt idx="19">
                  <c:v>-5992.3608999999915</c:v>
                </c:pt>
              </c:numCache>
            </c:numRef>
          </c:val>
          <c:extLst>
            <c:ext xmlns:c16="http://schemas.microsoft.com/office/drawing/2014/chart" uri="{C3380CC4-5D6E-409C-BE32-E72D297353CC}">
              <c16:uniqueId val="{00000000-92DB-4179-A928-A105CBD3E4DA}"/>
            </c:ext>
          </c:extLst>
        </c:ser>
        <c:dLbls>
          <c:showLegendKey val="0"/>
          <c:showVal val="0"/>
          <c:showCatName val="0"/>
          <c:showSerName val="0"/>
          <c:showPercent val="0"/>
          <c:showBubbleSize val="0"/>
        </c:dLbls>
        <c:gapWidth val="219"/>
        <c:overlap val="-27"/>
        <c:axId val="1781940063"/>
        <c:axId val="1781942463"/>
      </c:barChart>
      <c:catAx>
        <c:axId val="178194006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Product</a:t>
                </a:r>
                <a:r>
                  <a:rPr lang="en-IN" baseline="0"/>
                  <a:t> ID</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42463"/>
        <c:crosses val="autoZero"/>
        <c:auto val="1"/>
        <c:lblAlgn val="ctr"/>
        <c:lblOffset val="100"/>
        <c:noMultiLvlLbl val="0"/>
      </c:catAx>
      <c:valAx>
        <c:axId val="178194246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40063"/>
        <c:crosses val="autoZero"/>
        <c:crossBetween val="between"/>
        <c:dispUnits>
          <c:builtInUnit val="tenThousand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[RetailSalesData_StablePricing(AutoRecovered).xlsx]Pivot tables!PivotTable12</c:name>
    <c:fmtId val="9"/>
  </c:pivotSource>
  <c:chart>
    <c:autoTitleDeleted val="1"/>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390338991716944"/>
          <c:y val="0.17171296296296296"/>
          <c:w val="0.82754009442001553"/>
          <c:h val="0.63400877170483982"/>
        </c:manualLayout>
      </c:layout>
      <c:lineChart>
        <c:grouping val="standard"/>
        <c:varyColors val="0"/>
        <c:ser>
          <c:idx val="0"/>
          <c:order val="0"/>
          <c:tx>
            <c:strRef>
              <c:f>'Pivot tables'!$I$56</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multiLvlStrRef>
              <c:f>'Pivot tables'!$H$57:$H$77</c:f>
              <c:multiLvlStrCache>
                <c:ptCount val="15"/>
                <c:lvl>
                  <c:pt idx="0">
                    <c:v>2021</c:v>
                  </c:pt>
                  <c:pt idx="1">
                    <c:v>2022</c:v>
                  </c:pt>
                  <c:pt idx="2">
                    <c:v>2023</c:v>
                  </c:pt>
                  <c:pt idx="3">
                    <c:v>2021</c:v>
                  </c:pt>
                  <c:pt idx="4">
                    <c:v>2022</c:v>
                  </c:pt>
                  <c:pt idx="5">
                    <c:v>2023</c:v>
                  </c:pt>
                  <c:pt idx="6">
                    <c:v>2021</c:v>
                  </c:pt>
                  <c:pt idx="7">
                    <c:v>2022</c:v>
                  </c:pt>
                  <c:pt idx="8">
                    <c:v>2023</c:v>
                  </c:pt>
                  <c:pt idx="9">
                    <c:v>2021</c:v>
                  </c:pt>
                  <c:pt idx="10">
                    <c:v>2022</c:v>
                  </c:pt>
                  <c:pt idx="11">
                    <c:v>2023</c:v>
                  </c:pt>
                  <c:pt idx="12">
                    <c:v>2021</c:v>
                  </c:pt>
                  <c:pt idx="13">
                    <c:v>2022</c:v>
                  </c:pt>
                  <c:pt idx="14">
                    <c:v>2023</c:v>
                  </c:pt>
                </c:lvl>
                <c:lvl>
                  <c:pt idx="0">
                    <c:v>302</c:v>
                  </c:pt>
                  <c:pt idx="3">
                    <c:v>308</c:v>
                  </c:pt>
                  <c:pt idx="6">
                    <c:v>315</c:v>
                  </c:pt>
                  <c:pt idx="9">
                    <c:v>316</c:v>
                  </c:pt>
                  <c:pt idx="12">
                    <c:v>320</c:v>
                  </c:pt>
                </c:lvl>
              </c:multiLvlStrCache>
            </c:multiLvlStrRef>
          </c:cat>
          <c:val>
            <c:numRef>
              <c:f>'Pivot tables'!$I$57:$I$77</c:f>
              <c:numCache>
                <c:formatCode>[$$-409]#,##0.00</c:formatCode>
                <c:ptCount val="15"/>
                <c:pt idx="0">
                  <c:v>1209.3331999999998</c:v>
                </c:pt>
                <c:pt idx="1">
                  <c:v>5951.6090250000007</c:v>
                </c:pt>
                <c:pt idx="2">
                  <c:v>3854.286000000001</c:v>
                </c:pt>
                <c:pt idx="3">
                  <c:v>1425.3433</c:v>
                </c:pt>
                <c:pt idx="4">
                  <c:v>4560.8718500000004</c:v>
                </c:pt>
                <c:pt idx="5">
                  <c:v>2766.2998000000002</c:v>
                </c:pt>
                <c:pt idx="6">
                  <c:v>1087.4862444444445</c:v>
                </c:pt>
                <c:pt idx="7">
                  <c:v>3073.4209499999997</c:v>
                </c:pt>
                <c:pt idx="8">
                  <c:v>4608.3102000000008</c:v>
                </c:pt>
                <c:pt idx="9">
                  <c:v>993.24595555555561</c:v>
                </c:pt>
                <c:pt idx="10">
                  <c:v>4983.3551083333341</c:v>
                </c:pt>
                <c:pt idx="11">
                  <c:v>2605.08275</c:v>
                </c:pt>
                <c:pt idx="12">
                  <c:v>1182.5880333333332</c:v>
                </c:pt>
                <c:pt idx="13">
                  <c:v>4638.0384249999997</c:v>
                </c:pt>
                <c:pt idx="14">
                  <c:v>5112.2896000000001</c:v>
                </c:pt>
              </c:numCache>
            </c:numRef>
          </c:val>
          <c:smooth val="0"/>
          <c:extLst>
            <c:ext xmlns:c16="http://schemas.microsoft.com/office/drawing/2014/chart" uri="{C3380CC4-5D6E-409C-BE32-E72D297353CC}">
              <c16:uniqueId val="{00000000-5BCF-41AD-A966-152C58A96AEA}"/>
            </c:ext>
          </c:extLst>
        </c:ser>
        <c:dLbls>
          <c:showLegendKey val="0"/>
          <c:showVal val="0"/>
          <c:showCatName val="0"/>
          <c:showSerName val="0"/>
          <c:showPercent val="0"/>
          <c:showBubbleSize val="0"/>
        </c:dLbls>
        <c:marker val="1"/>
        <c:smooth val="0"/>
        <c:axId val="1781930463"/>
        <c:axId val="1781931423"/>
      </c:lineChart>
      <c:catAx>
        <c:axId val="17819304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31423"/>
        <c:crosses val="autoZero"/>
        <c:auto val="1"/>
        <c:lblAlgn val="ctr"/>
        <c:lblOffset val="100"/>
        <c:noMultiLvlLbl val="0"/>
      </c:catAx>
      <c:valAx>
        <c:axId val="178193142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Avg. monthly</a:t>
                </a:r>
                <a:r>
                  <a:rPr lang="en-IN" baseline="0" dirty="0"/>
                  <a:t> </a:t>
                </a:r>
                <a:r>
                  <a:rPr lang="en-IN" dirty="0"/>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30463"/>
        <c:crosses val="autoZero"/>
        <c:crossBetween val="between"/>
        <c:dispUnits>
          <c:builtInUnit val="tenThousand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[RetailSalesData_StablePricing(AutoRecovered).xlsx]Pivot tables!PivotTable8</c:name>
    <c:fmtId val="12"/>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tables'!$O$1</c:f>
              <c:strCache>
                <c:ptCount val="1"/>
                <c:pt idx="0">
                  <c:v>Total</c:v>
                </c:pt>
              </c:strCache>
            </c:strRef>
          </c:tx>
          <c:spPr>
            <a:solidFill>
              <a:schemeClr val="accent6"/>
            </a:solidFill>
            <a:ln>
              <a:noFill/>
            </a:ln>
            <a:effectLst/>
          </c:spPr>
          <c:invertIfNegative val="0"/>
          <c:cat>
            <c:multiLvlStrRef>
              <c:f>'Pivot tables'!$N$2:$N$15</c:f>
              <c:multiLvlStrCache>
                <c:ptCount val="10"/>
                <c:lvl>
                  <c:pt idx="0">
                    <c:v>103</c:v>
                  </c:pt>
                  <c:pt idx="1">
                    <c:v>105</c:v>
                  </c:pt>
                  <c:pt idx="2">
                    <c:v>106</c:v>
                  </c:pt>
                  <c:pt idx="3">
                    <c:v>108</c:v>
                  </c:pt>
                  <c:pt idx="4">
                    <c:v>110</c:v>
                  </c:pt>
                  <c:pt idx="5">
                    <c:v>104</c:v>
                  </c:pt>
                  <c:pt idx="6">
                    <c:v>101</c:v>
                  </c:pt>
                  <c:pt idx="7">
                    <c:v>102</c:v>
                  </c:pt>
                  <c:pt idx="8">
                    <c:v>107</c:v>
                  </c:pt>
                  <c:pt idx="9">
                    <c:v>109</c:v>
                  </c:pt>
                </c:lvl>
                <c:lvl>
                  <c:pt idx="0">
                    <c:v>2020</c:v>
                  </c:pt>
                  <c:pt idx="5">
                    <c:v>2021</c:v>
                  </c:pt>
                  <c:pt idx="6">
                    <c:v>2022</c:v>
                  </c:pt>
                </c:lvl>
              </c:multiLvlStrCache>
            </c:multiLvlStrRef>
          </c:cat>
          <c:val>
            <c:numRef>
              <c:f>'Pivot tables'!$O$2:$O$15</c:f>
              <c:numCache>
                <c:formatCode>[$$-409]#,##0.00</c:formatCode>
                <c:ptCount val="10"/>
                <c:pt idx="0">
                  <c:v>107781.34980000004</c:v>
                </c:pt>
                <c:pt idx="1">
                  <c:v>112890.64960000002</c:v>
                </c:pt>
                <c:pt idx="2">
                  <c:v>85185.175100000022</c:v>
                </c:pt>
                <c:pt idx="3">
                  <c:v>96913.949399999983</c:v>
                </c:pt>
                <c:pt idx="4">
                  <c:v>110168.5923</c:v>
                </c:pt>
                <c:pt idx="5">
                  <c:v>94000.471400000053</c:v>
                </c:pt>
                <c:pt idx="6">
                  <c:v>100108.58560000003</c:v>
                </c:pt>
                <c:pt idx="7">
                  <c:v>122057.22020000004</c:v>
                </c:pt>
                <c:pt idx="8">
                  <c:v>102318.87689999997</c:v>
                </c:pt>
                <c:pt idx="9">
                  <c:v>121473.48950000001</c:v>
                </c:pt>
              </c:numCache>
            </c:numRef>
          </c:val>
          <c:extLst>
            <c:ext xmlns:c16="http://schemas.microsoft.com/office/drawing/2014/chart" uri="{C3380CC4-5D6E-409C-BE32-E72D297353CC}">
              <c16:uniqueId val="{00000003-D70B-4817-9E4A-BC27040C7891}"/>
            </c:ext>
          </c:extLst>
        </c:ser>
        <c:dLbls>
          <c:showLegendKey val="0"/>
          <c:showVal val="0"/>
          <c:showCatName val="0"/>
          <c:showSerName val="0"/>
          <c:showPercent val="0"/>
          <c:showBubbleSize val="0"/>
        </c:dLbls>
        <c:gapWidth val="219"/>
        <c:overlap val="-27"/>
        <c:axId val="1781905503"/>
        <c:axId val="1781917023"/>
      </c:barChart>
      <c:catAx>
        <c:axId val="178190550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Opening</a:t>
                </a:r>
                <a:r>
                  <a:rPr lang="en-IN" baseline="0"/>
                  <a:t> year</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17023"/>
        <c:crosses val="autoZero"/>
        <c:auto val="1"/>
        <c:lblAlgn val="ctr"/>
        <c:lblOffset val="100"/>
        <c:noMultiLvlLbl val="0"/>
      </c:catAx>
      <c:valAx>
        <c:axId val="17819170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0550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[RetailSalesData_StablePricing(AutoRecovered).xlsx]Pivot tables!PivotTable9</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Sales per store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
        <c:idx val="3"/>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
        <c:idx val="4"/>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s>
    <c:plotArea>
      <c:layout>
        <c:manualLayout>
          <c:layoutTarget val="inner"/>
          <c:xMode val="edge"/>
          <c:yMode val="edge"/>
          <c:x val="0.18702559055118109"/>
          <c:y val="0.20949077344787634"/>
          <c:w val="0.78241885389326338"/>
          <c:h val="0.63216048712506678"/>
        </c:manualLayout>
      </c:layout>
      <c:lineChart>
        <c:grouping val="standard"/>
        <c:varyColors val="0"/>
        <c:ser>
          <c:idx val="0"/>
          <c:order val="0"/>
          <c:tx>
            <c:strRef>
              <c:f>'Pivot tables'!$O$27</c:f>
              <c:strCache>
                <c:ptCount val="1"/>
                <c:pt idx="0">
                  <c:v>Total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tables'!$N$28:$N$37</c:f>
              <c:strCache>
                <c:ptCount val="9"/>
                <c:pt idx="0">
                  <c:v>101</c:v>
                </c:pt>
                <c:pt idx="1">
                  <c:v>102</c:v>
                </c:pt>
                <c:pt idx="2">
                  <c:v>103</c:v>
                </c:pt>
                <c:pt idx="3">
                  <c:v>104</c:v>
                </c:pt>
                <c:pt idx="4">
                  <c:v>105</c:v>
                </c:pt>
                <c:pt idx="5">
                  <c:v>106</c:v>
                </c:pt>
                <c:pt idx="6">
                  <c:v>107</c:v>
                </c:pt>
                <c:pt idx="7">
                  <c:v>109</c:v>
                </c:pt>
                <c:pt idx="8">
                  <c:v>110</c:v>
                </c:pt>
              </c:strCache>
            </c:strRef>
          </c:cat>
          <c:val>
            <c:numRef>
              <c:f>'Pivot tables'!$O$28:$O$37</c:f>
              <c:numCache>
                <c:formatCode>[$$-409]#,##0.00</c:formatCode>
                <c:ptCount val="9"/>
                <c:pt idx="0">
                  <c:v>100108.58560000003</c:v>
                </c:pt>
                <c:pt idx="1">
                  <c:v>58567.831299999998</c:v>
                </c:pt>
                <c:pt idx="2">
                  <c:v>107781.34980000004</c:v>
                </c:pt>
                <c:pt idx="3">
                  <c:v>73318.448699999994</c:v>
                </c:pt>
                <c:pt idx="4">
                  <c:v>112890.64960000002</c:v>
                </c:pt>
                <c:pt idx="5">
                  <c:v>31087.305099999994</c:v>
                </c:pt>
                <c:pt idx="6">
                  <c:v>87697.630999999979</c:v>
                </c:pt>
                <c:pt idx="7">
                  <c:v>121473.48950000001</c:v>
                </c:pt>
                <c:pt idx="8">
                  <c:v>43264.61310000001</c:v>
                </c:pt>
              </c:numCache>
            </c:numRef>
          </c:val>
          <c:smooth val="0"/>
          <c:extLst>
            <c:ext xmlns:c16="http://schemas.microsoft.com/office/drawing/2014/chart" uri="{C3380CC4-5D6E-409C-BE32-E72D297353CC}">
              <c16:uniqueId val="{00000000-8AD2-4D9B-BCEE-A3BFE26EE535}"/>
            </c:ext>
          </c:extLst>
        </c:ser>
        <c:dLbls>
          <c:dLblPos val="t"/>
          <c:showLegendKey val="0"/>
          <c:showVal val="1"/>
          <c:showCatName val="0"/>
          <c:showSerName val="0"/>
          <c:showPercent val="0"/>
          <c:showBubbleSize val="0"/>
        </c:dLbls>
        <c:marker val="1"/>
        <c:smooth val="0"/>
        <c:axId val="1781955903"/>
        <c:axId val="1781939583"/>
      </c:lineChart>
      <c:catAx>
        <c:axId val="178195590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Store ID</a:t>
                </a:r>
              </a:p>
            </c:rich>
          </c:tx>
          <c:layout>
            <c:manualLayout>
              <c:xMode val="edge"/>
              <c:yMode val="edge"/>
              <c:x val="0.52461001749781278"/>
              <c:y val="0.9134208518441949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39583"/>
        <c:crosses val="autoZero"/>
        <c:auto val="1"/>
        <c:lblAlgn val="ctr"/>
        <c:lblOffset val="100"/>
        <c:noMultiLvlLbl val="0"/>
      </c:catAx>
      <c:valAx>
        <c:axId val="1781939583"/>
        <c:scaling>
          <c:orientation val="minMax"/>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Sales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409]#,##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1955903"/>
        <c:crosses val="autoZero"/>
        <c:crossBetween val="between"/>
        <c:dispUnits>
          <c:builtInUnit val="tenThousand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[RetailSalesData_StablePricing(AutoRecovered).xlsx]Pivot tables!PivotTable10</c:name>
    <c:fmtId val="16"/>
  </c:pivotSource>
  <c:chart>
    <c:autoTitleDeleted val="1"/>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
        <c:idx val="3"/>
        <c:spPr>
          <a:solidFill>
            <a:schemeClr val="accent2"/>
          </a:solidFill>
          <a:ln>
            <a:noFill/>
          </a:ln>
          <a:effectLst/>
        </c:spPr>
        <c:marker>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
        <c:idx val="5"/>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extLst>
            <c:ext xmlns:c15="http://schemas.microsoft.com/office/drawing/2012/chart" uri="{CE6537A1-D6FC-4f65-9D91-7224C49458BB}"/>
          </c:extLst>
        </c:dLbl>
      </c:pivotFmt>
    </c:pivotFmts>
    <c:plotArea>
      <c:layout>
        <c:manualLayout>
          <c:layoutTarget val="inner"/>
          <c:xMode val="edge"/>
          <c:yMode val="edge"/>
          <c:x val="0.1350241405009559"/>
          <c:y val="0.18170885207105167"/>
          <c:w val="0.84234211464307707"/>
          <c:h val="0.58627728871367224"/>
        </c:manualLayout>
      </c:layout>
      <c:lineChart>
        <c:grouping val="standard"/>
        <c:varyColors val="0"/>
        <c:ser>
          <c:idx val="0"/>
          <c:order val="0"/>
          <c:tx>
            <c:strRef>
              <c:f>'Pivot tables'!$O$45</c:f>
              <c:strCache>
                <c:ptCount val="1"/>
                <c:pt idx="0">
                  <c:v>Total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1"/>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tables'!$N$46:$N$55</c:f>
              <c:strCache>
                <c:ptCount val="9"/>
                <c:pt idx="0">
                  <c:v>101</c:v>
                </c:pt>
                <c:pt idx="1">
                  <c:v>102</c:v>
                </c:pt>
                <c:pt idx="2">
                  <c:v>103</c:v>
                </c:pt>
                <c:pt idx="3">
                  <c:v>104</c:v>
                </c:pt>
                <c:pt idx="4">
                  <c:v>105</c:v>
                </c:pt>
                <c:pt idx="5">
                  <c:v>106</c:v>
                </c:pt>
                <c:pt idx="6">
                  <c:v>107</c:v>
                </c:pt>
                <c:pt idx="7">
                  <c:v>109</c:v>
                </c:pt>
                <c:pt idx="8">
                  <c:v>110</c:v>
                </c:pt>
              </c:strCache>
            </c:strRef>
          </c:cat>
          <c:val>
            <c:numRef>
              <c:f>'Pivot tables'!$O$46:$O$55</c:f>
              <c:numCache>
                <c:formatCode>0.00%</c:formatCode>
                <c:ptCount val="9"/>
                <c:pt idx="0">
                  <c:v>0.14670212765957449</c:v>
                </c:pt>
                <c:pt idx="1">
                  <c:v>0.14200000000000002</c:v>
                </c:pt>
                <c:pt idx="2">
                  <c:v>0.14053571428571426</c:v>
                </c:pt>
                <c:pt idx="3">
                  <c:v>0.14397058823529421</c:v>
                </c:pt>
                <c:pt idx="4">
                  <c:v>0.149622641509434</c:v>
                </c:pt>
                <c:pt idx="5">
                  <c:v>0.15888888888888889</c:v>
                </c:pt>
                <c:pt idx="6">
                  <c:v>0.17948717948717954</c:v>
                </c:pt>
                <c:pt idx="7">
                  <c:v>0.16669642857142852</c:v>
                </c:pt>
                <c:pt idx="8">
                  <c:v>0.13750000000000004</c:v>
                </c:pt>
              </c:numCache>
            </c:numRef>
          </c:val>
          <c:smooth val="0"/>
          <c:extLst>
            <c:ext xmlns:c16="http://schemas.microsoft.com/office/drawing/2014/chart" uri="{C3380CC4-5D6E-409C-BE32-E72D297353CC}">
              <c16:uniqueId val="{00000000-0B56-4DB5-80AF-0454BB3373BF}"/>
            </c:ext>
          </c:extLst>
        </c:ser>
        <c:dLbls>
          <c:dLblPos val="t"/>
          <c:showLegendKey val="0"/>
          <c:showVal val="1"/>
          <c:showCatName val="0"/>
          <c:showSerName val="0"/>
          <c:showPercent val="0"/>
          <c:showBubbleSize val="0"/>
        </c:dLbls>
        <c:marker val="1"/>
        <c:smooth val="0"/>
        <c:axId val="1719880527"/>
        <c:axId val="1719881967"/>
      </c:lineChart>
      <c:catAx>
        <c:axId val="171988052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Store ID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9881967"/>
        <c:crosses val="autoZero"/>
        <c:auto val="1"/>
        <c:lblAlgn val="ctr"/>
        <c:lblOffset val="100"/>
        <c:noMultiLvlLbl val="0"/>
      </c:catAx>
      <c:valAx>
        <c:axId val="1719881967"/>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Avg discount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988052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6">
  <a:schemeClr val="accent6"/>
</cs:colorStyle>
</file>

<file path=ppt/charts/colors8.xml><?xml version="1.0" encoding="utf-8"?>
<cs:colorStyle xmlns:cs="http://schemas.microsoft.com/office/drawing/2012/chartStyle" xmlns:a="http://schemas.openxmlformats.org/drawingml/2006/main" meth="withinLinearReversed" id="22">
  <a:schemeClr val="accent2"/>
</cs:colorStyle>
</file>

<file path=ppt/charts/colors9.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4/30/2025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4/30/2025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4/30/2025</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wave">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501352" cy="1661993"/>
          </a:xfrm>
        </p:spPr>
        <p:txBody>
          <a:bodyPr wrap="square" lIns="0" tIns="0" rIns="0" bIns="0" anchor="t">
            <a:spAutoFit/>
          </a:bodyPr>
          <a:lstStyle/>
          <a:p>
            <a:r>
              <a:rPr lang="en-US" b="1">
                <a:solidFill>
                  <a:schemeClr val="bg1"/>
                </a:solidFill>
              </a:rPr>
              <a:t>Supermarket-chain </a:t>
            </a:r>
            <a:br>
              <a:rPr lang="en-US" b="1">
                <a:solidFill>
                  <a:schemeClr val="bg1"/>
                </a:solidFill>
              </a:rPr>
            </a:br>
            <a:r>
              <a:rPr lang="en-US" b="1">
                <a:solidFill>
                  <a:schemeClr val="bg1"/>
                </a:solidFill>
              </a:rPr>
              <a:t>sales analysis</a:t>
            </a:r>
            <a:endParaRPr lang="en-US" dirty="0">
              <a:solidFill>
                <a:schemeClr val="accent4"/>
              </a:solidFill>
            </a:endParaRPr>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3724968"/>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a:spLocks noChangeAspect="1"/>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a:spLocks noChangeAspect="1"/>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Rectangle 5">
            <a:extLst>
              <a:ext uri="{FF2B5EF4-FFF2-40B4-BE49-F238E27FC236}">
                <a16:creationId xmlns:a16="http://schemas.microsoft.com/office/drawing/2014/main" id="{20A1171C-8248-9029-D37E-96163A697D44}"/>
              </a:ext>
            </a:extLst>
          </p:cNvPr>
          <p:cNvSpPr/>
          <p:nvPr/>
        </p:nvSpPr>
        <p:spPr>
          <a:xfrm>
            <a:off x="0" y="0"/>
            <a:ext cx="12192000" cy="6858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65D4-54DC-7C2D-EE14-02674B343966}"/>
              </a:ext>
            </a:extLst>
          </p:cNvPr>
          <p:cNvSpPr>
            <a:spLocks noGrp="1"/>
          </p:cNvSpPr>
          <p:nvPr>
            <p:ph type="title"/>
          </p:nvPr>
        </p:nvSpPr>
        <p:spPr/>
        <p:txBody>
          <a:bodyPr/>
          <a:lstStyle/>
          <a:p>
            <a:r>
              <a:rPr lang="en-IN" dirty="0"/>
              <a:t>Summary</a:t>
            </a:r>
          </a:p>
        </p:txBody>
      </p:sp>
      <p:sp>
        <p:nvSpPr>
          <p:cNvPr id="3" name="TextBox 2">
            <a:extLst>
              <a:ext uri="{FF2B5EF4-FFF2-40B4-BE49-F238E27FC236}">
                <a16:creationId xmlns:a16="http://schemas.microsoft.com/office/drawing/2014/main" id="{A1CDAC1E-DA1A-DE89-E7E4-8DDAB8E5B9B6}"/>
              </a:ext>
            </a:extLst>
          </p:cNvPr>
          <p:cNvSpPr txBox="1"/>
          <p:nvPr/>
        </p:nvSpPr>
        <p:spPr>
          <a:xfrm>
            <a:off x="838200" y="1878496"/>
            <a:ext cx="10515600" cy="4093621"/>
          </a:xfrm>
          <a:prstGeom prst="rect">
            <a:avLst/>
          </a:prstGeom>
          <a:noFill/>
        </p:spPr>
        <p:txBody>
          <a:bodyPr wrap="square" rtlCol="0">
            <a:spAutoFit/>
          </a:bodyPr>
          <a:lstStyle/>
          <a:p>
            <a:pPr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Dataset contains sales data of shops in a region/country dating from April 2021 and ending in Feb 2023. There are </a:t>
            </a:r>
            <a:r>
              <a:rPr lang="en-IN" sz="1800" u="sng" kern="100" dirty="0">
                <a:effectLst/>
                <a:latin typeface="Aptos" panose="020B0004020202020204" pitchFamily="34" charset="0"/>
                <a:ea typeface="Aptos" panose="020B0004020202020204" pitchFamily="34" charset="0"/>
                <a:cs typeface="Times New Roman" panose="02020603050405020304" pitchFamily="18" charset="0"/>
              </a:rPr>
              <a:t>10 stores </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StoreID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101, 102 .... etc.) distributed across regions north, east, west, south. Sales were driven by total </a:t>
            </a:r>
            <a:r>
              <a:rPr lang="en-IN" sz="1800" u="sng" kern="100" dirty="0">
                <a:effectLst/>
                <a:latin typeface="Aptos" panose="020B0004020202020204" pitchFamily="34" charset="0"/>
                <a:ea typeface="Aptos" panose="020B0004020202020204" pitchFamily="34" charset="0"/>
                <a:cs typeface="Times New Roman" panose="02020603050405020304" pitchFamily="18" charset="0"/>
              </a:rPr>
              <a:t>20 reps </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RepID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201, 202, …etc.) for </a:t>
            </a:r>
            <a:r>
              <a:rPr lang="en-IN" sz="1800" u="sng" kern="100" dirty="0">
                <a:effectLst/>
                <a:latin typeface="Aptos" panose="020B0004020202020204" pitchFamily="34" charset="0"/>
                <a:ea typeface="Aptos" panose="020B0004020202020204" pitchFamily="34" charset="0"/>
                <a:cs typeface="Times New Roman" panose="02020603050405020304" pitchFamily="18" charset="0"/>
              </a:rPr>
              <a:t>20 products</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ProductID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301, 302, …etc.) grouped under </a:t>
            </a:r>
            <a:r>
              <a:rPr lang="en-IN" sz="1800" u="sng" kern="100" dirty="0">
                <a:effectLst/>
                <a:latin typeface="Aptos" panose="020B0004020202020204" pitchFamily="34" charset="0"/>
                <a:ea typeface="Aptos" panose="020B0004020202020204" pitchFamily="34" charset="0"/>
                <a:cs typeface="Times New Roman" panose="02020603050405020304" pitchFamily="18" charset="0"/>
              </a:rPr>
              <a:t>4 different categories </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(Clothing, Electronics, Toys and Home &amp; Kitchen) with 10 subcategories. The dataset was an excel file with different sheets for Store data, Product data, Rep data and sales data.</a:t>
            </a:r>
          </a:p>
          <a:p>
            <a:pPr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Each one had unique info about their subject as follows:</a:t>
            </a:r>
          </a:p>
          <a:p>
            <a:pPr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Sales data-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StoreID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RepID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ProductID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date of purchase, Discount on product (varied at each store), unit price of product after discount, store of purchase, region of store, quantity of purchase. </a:t>
            </a:r>
          </a:p>
          <a:p>
            <a:pPr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Product data-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ProductID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costprice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Brandname</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category subcategory</a:t>
            </a:r>
          </a:p>
          <a:p>
            <a:pPr algn="just">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Store data-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StoreID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Region, Date of opening, </a:t>
            </a:r>
          </a:p>
          <a:p>
            <a:pPr algn="just">
              <a:lnSpc>
                <a:spcPct val="115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Rep data-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RepID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joining date, </a:t>
            </a:r>
            <a:r>
              <a:rPr lang="en-IN" sz="1800" kern="100" dirty="0" err="1">
                <a:effectLst/>
                <a:latin typeface="Aptos" panose="020B0004020202020204" pitchFamily="34" charset="0"/>
                <a:ea typeface="Aptos" panose="020B0004020202020204" pitchFamily="34" charset="0"/>
                <a:cs typeface="Times New Roman" panose="02020603050405020304" pitchFamily="18" charset="0"/>
              </a:rPr>
              <a:t>StoreID</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 (where they work), Status (still working or left)</a:t>
            </a:r>
          </a:p>
        </p:txBody>
      </p:sp>
    </p:spTree>
    <p:extLst>
      <p:ext uri="{BB962C8B-B14F-4D97-AF65-F5344CB8AC3E}">
        <p14:creationId xmlns:p14="http://schemas.microsoft.com/office/powerpoint/2010/main" val="201804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5D53F83-FFA1-1071-1019-EEAA10F8F1FC}"/>
              </a:ext>
            </a:extLst>
          </p:cNvPr>
          <p:cNvSpPr txBox="1"/>
          <p:nvPr/>
        </p:nvSpPr>
        <p:spPr>
          <a:xfrm>
            <a:off x="287695" y="1257787"/>
            <a:ext cx="4461588" cy="2862322"/>
          </a:xfrm>
          <a:prstGeom prst="rect">
            <a:avLst/>
          </a:prstGeom>
          <a:noFill/>
        </p:spPr>
        <p:txBody>
          <a:bodyPr wrap="square" rtlCol="0">
            <a:spAutoFit/>
          </a:bodyPr>
          <a:lstStyle/>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Highest sales by region: </a:t>
            </a:r>
            <a:r>
              <a:rPr lang="en-IN" kern="100" dirty="0">
                <a:latin typeface="Aptos" panose="020B0004020202020204" pitchFamily="34" charset="0"/>
                <a:ea typeface="Aptos" panose="020B0004020202020204" pitchFamily="34" charset="0"/>
                <a:cs typeface="Times New Roman" panose="02020603050405020304" pitchFamily="18" charset="0"/>
              </a:rPr>
              <a:t> </a:t>
            </a:r>
            <a:r>
              <a:rPr lang="en-IN" kern="100" dirty="0">
                <a:effectLst/>
                <a:latin typeface="Aptos" panose="020B0004020202020204" pitchFamily="34" charset="0"/>
                <a:ea typeface="Aptos" panose="020B0004020202020204" pitchFamily="34" charset="0"/>
                <a:cs typeface="Times New Roman" panose="02020603050405020304" pitchFamily="18" charset="0"/>
              </a:rPr>
              <a:t>North- December,</a:t>
            </a:r>
          </a:p>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		             South- May, </a:t>
            </a:r>
          </a:p>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		             East- June, </a:t>
            </a:r>
          </a:p>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 		             West- March</a:t>
            </a:r>
          </a:p>
          <a:p>
            <a:pPr algn="just"/>
            <a:endParaRPr lang="en-IN" kern="100" dirty="0">
              <a:effectLst/>
              <a:latin typeface="Aptos" panose="020B0004020202020204" pitchFamily="34" charset="0"/>
              <a:ea typeface="Aptos" panose="020B0004020202020204" pitchFamily="34" charset="0"/>
              <a:cs typeface="Times New Roman" panose="02020603050405020304" pitchFamily="18" charset="0"/>
            </a:endParaRPr>
          </a:p>
          <a:p>
            <a:pPr algn="just"/>
            <a:endParaRPr lang="en-IN" kern="100" dirty="0">
              <a:latin typeface="Aptos" panose="020B0004020202020204" pitchFamily="34" charset="0"/>
              <a:ea typeface="Aptos" panose="020B0004020202020204" pitchFamily="34" charset="0"/>
              <a:cs typeface="Times New Roman" panose="02020603050405020304" pitchFamily="18" charset="0"/>
            </a:endParaRPr>
          </a:p>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Overall, the </a:t>
            </a:r>
            <a:r>
              <a:rPr lang="en-IN" u="sng" kern="100" dirty="0">
                <a:effectLst/>
                <a:latin typeface="Aptos" panose="020B0004020202020204" pitchFamily="34" charset="0"/>
                <a:ea typeface="Aptos" panose="020B0004020202020204" pitchFamily="34" charset="0"/>
                <a:cs typeface="Times New Roman" panose="02020603050405020304" pitchFamily="18" charset="0"/>
              </a:rPr>
              <a:t>highest sales</a:t>
            </a:r>
            <a:r>
              <a:rPr lang="en-IN" kern="100" dirty="0">
                <a:effectLst/>
                <a:latin typeface="Aptos" panose="020B0004020202020204" pitchFamily="34" charset="0"/>
                <a:ea typeface="Aptos" panose="020B0004020202020204" pitchFamily="34" charset="0"/>
                <a:cs typeface="Times New Roman" panose="02020603050405020304" pitchFamily="18" charset="0"/>
              </a:rPr>
              <a:t> were observed in </a:t>
            </a:r>
            <a:r>
              <a:rPr lang="en-IN" b="1" kern="100" dirty="0">
                <a:effectLst/>
                <a:latin typeface="Aptos" panose="020B0004020202020204" pitchFamily="34" charset="0"/>
                <a:ea typeface="Aptos" panose="020B0004020202020204" pitchFamily="34" charset="0"/>
                <a:cs typeface="Times New Roman" panose="02020603050405020304" pitchFamily="18" charset="0"/>
              </a:rPr>
              <a:t>May, June and July</a:t>
            </a:r>
            <a:r>
              <a:rPr lang="en-IN" kern="100" dirty="0">
                <a:effectLst/>
                <a:latin typeface="Aptos" panose="020B0004020202020204" pitchFamily="34" charset="0"/>
                <a:ea typeface="Aptos" panose="020B0004020202020204" pitchFamily="34" charset="0"/>
                <a:cs typeface="Times New Roman" panose="02020603050405020304" pitchFamily="18" charset="0"/>
              </a:rPr>
              <a:t> due to </a:t>
            </a:r>
            <a:r>
              <a:rPr lang="en-IN" u="sng" kern="100" dirty="0">
                <a:effectLst/>
                <a:latin typeface="Aptos" panose="020B0004020202020204" pitchFamily="34" charset="0"/>
                <a:ea typeface="Aptos" panose="020B0004020202020204" pitchFamily="34" charset="0"/>
                <a:cs typeface="Times New Roman" panose="02020603050405020304" pitchFamily="18" charset="0"/>
              </a:rPr>
              <a:t>collective sales in every region</a:t>
            </a:r>
            <a:r>
              <a:rPr lang="en-IN" kern="100" dirty="0">
                <a:effectLst/>
                <a:latin typeface="Aptos" panose="020B0004020202020204" pitchFamily="34" charset="0"/>
                <a:ea typeface="Aptos" panose="020B0004020202020204" pitchFamily="34" charset="0"/>
                <a:cs typeface="Times New Roman" panose="02020603050405020304" pitchFamily="18" charset="0"/>
              </a:rPr>
              <a:t>. </a:t>
            </a:r>
          </a:p>
          <a:p>
            <a:pPr algn="just"/>
            <a:r>
              <a:rPr lang="en-IN" kern="100" dirty="0">
                <a:effectLst/>
                <a:latin typeface="Aptos" panose="020B0004020202020204" pitchFamily="34" charset="0"/>
                <a:ea typeface="Aptos" panose="020B0004020202020204" pitchFamily="34" charset="0"/>
                <a:cs typeface="Times New Roman" panose="02020603050405020304" pitchFamily="18" charset="0"/>
              </a:rPr>
              <a:t>The graph shows the stats of year 2022.</a:t>
            </a:r>
          </a:p>
        </p:txBody>
      </p:sp>
      <p:sp>
        <p:nvSpPr>
          <p:cNvPr id="8" name="TextBox 7">
            <a:extLst>
              <a:ext uri="{FF2B5EF4-FFF2-40B4-BE49-F238E27FC236}">
                <a16:creationId xmlns:a16="http://schemas.microsoft.com/office/drawing/2014/main" id="{867A4003-09BC-12B9-165A-7CF4B4C0FF68}"/>
              </a:ext>
            </a:extLst>
          </p:cNvPr>
          <p:cNvSpPr txBox="1"/>
          <p:nvPr/>
        </p:nvSpPr>
        <p:spPr>
          <a:xfrm>
            <a:off x="1470924" y="184438"/>
            <a:ext cx="8541026" cy="461665"/>
          </a:xfrm>
          <a:prstGeom prst="rect">
            <a:avLst/>
          </a:prstGeom>
          <a:noFill/>
        </p:spPr>
        <p:txBody>
          <a:bodyPr wrap="square" rtlCol="0">
            <a:spAutoFit/>
          </a:bodyPr>
          <a:lstStyle/>
          <a:p>
            <a:pPr algn="ctr"/>
            <a:r>
              <a:rPr lang="en-IN" sz="2400" dirty="0"/>
              <a:t>Monthly sales by region</a:t>
            </a:r>
          </a:p>
        </p:txBody>
      </p:sp>
      <p:graphicFrame>
        <p:nvGraphicFramePr>
          <p:cNvPr id="10" name="Content Placeholder 9">
            <a:extLst>
              <a:ext uri="{FF2B5EF4-FFF2-40B4-BE49-F238E27FC236}">
                <a16:creationId xmlns:a16="http://schemas.microsoft.com/office/drawing/2014/main" id="{555C18DF-23BC-4568-B22B-8E22D65C2BB8}"/>
              </a:ext>
            </a:extLst>
          </p:cNvPr>
          <p:cNvGraphicFramePr>
            <a:graphicFrameLocks noGrp="1"/>
          </p:cNvGraphicFramePr>
          <p:nvPr>
            <p:ph idx="1"/>
            <p:extLst>
              <p:ext uri="{D42A27DB-BD31-4B8C-83A1-F6EECF244321}">
                <p14:modId xmlns:p14="http://schemas.microsoft.com/office/powerpoint/2010/main" val="2916449576"/>
              </p:ext>
            </p:extLst>
          </p:nvPr>
        </p:nvGraphicFramePr>
        <p:xfrm>
          <a:off x="5038531" y="1122774"/>
          <a:ext cx="6339947"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8977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B209-A56A-248D-A21C-3A5E48EDA176}"/>
              </a:ext>
            </a:extLst>
          </p:cNvPr>
          <p:cNvSpPr>
            <a:spLocks noGrp="1"/>
          </p:cNvSpPr>
          <p:nvPr>
            <p:ph type="title"/>
          </p:nvPr>
        </p:nvSpPr>
        <p:spPr/>
        <p:txBody>
          <a:bodyPr/>
          <a:lstStyle/>
          <a:p>
            <a:r>
              <a:rPr lang="en-IN" dirty="0"/>
              <a:t>Sales and profit comparison</a:t>
            </a:r>
          </a:p>
        </p:txBody>
      </p:sp>
      <p:sp>
        <p:nvSpPr>
          <p:cNvPr id="4" name="Text Placeholder 3">
            <a:extLst>
              <a:ext uri="{FF2B5EF4-FFF2-40B4-BE49-F238E27FC236}">
                <a16:creationId xmlns:a16="http://schemas.microsoft.com/office/drawing/2014/main" id="{B5107BE7-C915-E3CA-3902-9C83A1867320}"/>
              </a:ext>
            </a:extLst>
          </p:cNvPr>
          <p:cNvSpPr>
            <a:spLocks noGrp="1"/>
          </p:cNvSpPr>
          <p:nvPr>
            <p:ph type="body" sz="half" idx="2"/>
          </p:nvPr>
        </p:nvSpPr>
        <p:spPr>
          <a:xfrm>
            <a:off x="839788" y="2773016"/>
            <a:ext cx="3932237" cy="3095971"/>
          </a:xfrm>
        </p:spPr>
        <p:txBody>
          <a:bodyPr/>
          <a:lstStyle/>
          <a:p>
            <a:pPr algn="just"/>
            <a:r>
              <a:rPr lang="en-IN" sz="1800" b="1" dirty="0">
                <a:effectLst/>
                <a:latin typeface="Aptos" panose="020B0004020202020204" pitchFamily="34" charset="0"/>
                <a:ea typeface="Aptos" panose="020B0004020202020204" pitchFamily="34" charset="0"/>
                <a:cs typeface="Times New Roman" panose="02020603050405020304" pitchFamily="18" charset="0"/>
              </a:rPr>
              <a:t>Toys have better profitability</a:t>
            </a:r>
            <a:r>
              <a:rPr lang="en-IN" sz="1800" dirty="0">
                <a:effectLst/>
                <a:latin typeface="Aptos" panose="020B0004020202020204" pitchFamily="34" charset="0"/>
                <a:ea typeface="Aptos" panose="020B0004020202020204" pitchFamily="34" charset="0"/>
                <a:cs typeface="Times New Roman" panose="02020603050405020304" pitchFamily="18" charset="0"/>
              </a:rPr>
              <a:t> than Home &amp; Kitchen appliances since the profit of them is quite similar, but the sales differ greatly with a difference of $20K. While the profitability of clothing and electronics are also similar with no significant difference in sales.</a:t>
            </a:r>
            <a:endParaRPr lang="en-IN" dirty="0"/>
          </a:p>
        </p:txBody>
      </p:sp>
      <p:graphicFrame>
        <p:nvGraphicFramePr>
          <p:cNvPr id="7" name="Picture Placeholder 6">
            <a:extLst>
              <a:ext uri="{FF2B5EF4-FFF2-40B4-BE49-F238E27FC236}">
                <a16:creationId xmlns:a16="http://schemas.microsoft.com/office/drawing/2014/main" id="{B6F824FA-D122-445E-BA82-7D844271C5FE}"/>
              </a:ext>
            </a:extLst>
          </p:cNvPr>
          <p:cNvGraphicFramePr>
            <a:graphicFrameLocks noGrp="1"/>
          </p:cNvGraphicFramePr>
          <p:nvPr>
            <p:ph type="pic" idx="1"/>
            <p:extLst>
              <p:ext uri="{D42A27DB-BD31-4B8C-83A1-F6EECF244321}">
                <p14:modId xmlns:p14="http://schemas.microsoft.com/office/powerpoint/2010/main" val="6901260"/>
              </p:ext>
            </p:extLst>
          </p:nvPr>
        </p:nvGraphicFramePr>
        <p:xfrm>
          <a:off x="5180012" y="992187"/>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107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27DE4-324D-7729-CD0F-BAC2A27E83E8}"/>
              </a:ext>
            </a:extLst>
          </p:cNvPr>
          <p:cNvSpPr>
            <a:spLocks noGrp="1"/>
          </p:cNvSpPr>
          <p:nvPr>
            <p:ph type="title"/>
          </p:nvPr>
        </p:nvSpPr>
        <p:spPr/>
        <p:txBody>
          <a:bodyPr/>
          <a:lstStyle/>
          <a:p>
            <a:r>
              <a:rPr lang="en-IN" dirty="0"/>
              <a:t>Sales contribution by subcategory</a:t>
            </a:r>
          </a:p>
        </p:txBody>
      </p:sp>
      <p:sp>
        <p:nvSpPr>
          <p:cNvPr id="4" name="Text Placeholder 3">
            <a:extLst>
              <a:ext uri="{FF2B5EF4-FFF2-40B4-BE49-F238E27FC236}">
                <a16:creationId xmlns:a16="http://schemas.microsoft.com/office/drawing/2014/main" id="{F847FE55-7037-FC79-EEA8-1046B78F1608}"/>
              </a:ext>
            </a:extLst>
          </p:cNvPr>
          <p:cNvSpPr>
            <a:spLocks noGrp="1"/>
          </p:cNvSpPr>
          <p:nvPr>
            <p:ph type="body" sz="half" idx="2"/>
          </p:nvPr>
        </p:nvSpPr>
        <p:spPr>
          <a:xfrm>
            <a:off x="839788" y="3190460"/>
            <a:ext cx="3932237" cy="2678527"/>
          </a:xfrm>
        </p:spPr>
        <p:txBody>
          <a:bodyPr/>
          <a:lstStyle/>
          <a:p>
            <a:pPr algn="just"/>
            <a:r>
              <a:rPr lang="en-IN" sz="1800" kern="100" dirty="0">
                <a:effectLst/>
                <a:latin typeface="Aptos" panose="020B0004020202020204" pitchFamily="34" charset="0"/>
                <a:ea typeface="Aptos" panose="020B0004020202020204" pitchFamily="34" charset="0"/>
                <a:cs typeface="Times New Roman" panose="02020603050405020304" pitchFamily="18" charset="0"/>
              </a:rPr>
              <a:t>Most of the sales are from Home &amp; Kitchen (Furniture), Toys (Outdoor) and (Boardgame).</a:t>
            </a:r>
          </a:p>
          <a:p>
            <a:endParaRPr lang="en-IN" dirty="0"/>
          </a:p>
        </p:txBody>
      </p:sp>
      <p:graphicFrame>
        <p:nvGraphicFramePr>
          <p:cNvPr id="7" name="Picture Placeholder 6">
            <a:extLst>
              <a:ext uri="{FF2B5EF4-FFF2-40B4-BE49-F238E27FC236}">
                <a16:creationId xmlns:a16="http://schemas.microsoft.com/office/drawing/2014/main" id="{AA3CC2A5-BA61-4353-9950-8BD7F22322AA}"/>
              </a:ext>
            </a:extLst>
          </p:cNvPr>
          <p:cNvGraphicFramePr>
            <a:graphicFrameLocks noGrp="1"/>
          </p:cNvGraphicFramePr>
          <p:nvPr>
            <p:ph type="pic" idx="1"/>
            <p:extLst>
              <p:ext uri="{D42A27DB-BD31-4B8C-83A1-F6EECF244321}">
                <p14:modId xmlns:p14="http://schemas.microsoft.com/office/powerpoint/2010/main" val="119008254"/>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2571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E2AEB-4507-CB8C-BAD0-9BF6B32E9842}"/>
              </a:ext>
            </a:extLst>
          </p:cNvPr>
          <p:cNvSpPr>
            <a:spLocks noGrp="1"/>
          </p:cNvSpPr>
          <p:nvPr>
            <p:ph type="title"/>
          </p:nvPr>
        </p:nvSpPr>
        <p:spPr>
          <a:xfrm>
            <a:off x="839787" y="513184"/>
            <a:ext cx="3932237" cy="1362269"/>
          </a:xfrm>
        </p:spPr>
        <p:txBody>
          <a:bodyPr/>
          <a:lstStyle/>
          <a:p>
            <a:r>
              <a:rPr lang="en-IN" dirty="0"/>
              <a:t>Performance per day by each rep</a:t>
            </a:r>
          </a:p>
        </p:txBody>
      </p:sp>
      <p:sp>
        <p:nvSpPr>
          <p:cNvPr id="4" name="Text Placeholder 3">
            <a:extLst>
              <a:ext uri="{FF2B5EF4-FFF2-40B4-BE49-F238E27FC236}">
                <a16:creationId xmlns:a16="http://schemas.microsoft.com/office/drawing/2014/main" id="{FC158779-B8D5-9E6A-1BEE-0C0C2DA8E240}"/>
              </a:ext>
            </a:extLst>
          </p:cNvPr>
          <p:cNvSpPr>
            <a:spLocks noGrp="1"/>
          </p:cNvSpPr>
          <p:nvPr>
            <p:ph type="body" sz="half" idx="2"/>
          </p:nvPr>
        </p:nvSpPr>
        <p:spPr>
          <a:xfrm>
            <a:off x="839787" y="2236305"/>
            <a:ext cx="3932237" cy="2847492"/>
          </a:xfrm>
        </p:spPr>
        <p:txBody>
          <a:bodyPr>
            <a:normAutofit lnSpcReduction="10000"/>
          </a:bodyPr>
          <a:lstStyle/>
          <a:p>
            <a:pPr algn="just"/>
            <a:r>
              <a:rPr lang="en-IN" sz="1800" dirty="0">
                <a:latin typeface="Aptos" panose="020B0004020202020204" pitchFamily="34" charset="0"/>
              </a:rPr>
              <a:t>The given plot shows avg. per day sales of each representative, be it active ones or the ones who have left their respective stores. This gives a fair comparison since they have all joined at different points(quarter, month, year) in time.</a:t>
            </a:r>
          </a:p>
          <a:p>
            <a:pPr algn="just"/>
            <a:endParaRPr lang="en-IN" sz="1800" dirty="0">
              <a:latin typeface="Aptos" panose="020B0004020202020204" pitchFamily="34" charset="0"/>
            </a:endParaRPr>
          </a:p>
          <a:p>
            <a:pPr algn="just"/>
            <a:r>
              <a:rPr lang="en-IN" sz="1800" dirty="0">
                <a:latin typeface="Aptos" panose="020B0004020202020204" pitchFamily="34" charset="0"/>
              </a:rPr>
              <a:t>The plot shows </a:t>
            </a:r>
            <a:r>
              <a:rPr lang="en-IN" sz="1800" b="1" dirty="0">
                <a:latin typeface="Aptos" panose="020B0004020202020204" pitchFamily="34" charset="0"/>
              </a:rPr>
              <a:t>Rep 205, 207, 219 </a:t>
            </a:r>
            <a:r>
              <a:rPr lang="en-IN" sz="1800" dirty="0">
                <a:latin typeface="Aptos" panose="020B0004020202020204" pitchFamily="34" charset="0"/>
              </a:rPr>
              <a:t>to be the best performers among the 20 reps.</a:t>
            </a:r>
          </a:p>
        </p:txBody>
      </p:sp>
      <p:graphicFrame>
        <p:nvGraphicFramePr>
          <p:cNvPr id="6" name="Picture Placeholder 5">
            <a:extLst>
              <a:ext uri="{FF2B5EF4-FFF2-40B4-BE49-F238E27FC236}">
                <a16:creationId xmlns:a16="http://schemas.microsoft.com/office/drawing/2014/main" id="{892C7AFD-6AD3-43DB-A8DB-CAB9966BE636}"/>
              </a:ext>
            </a:extLst>
          </p:cNvPr>
          <p:cNvGraphicFramePr>
            <a:graphicFrameLocks noGrp="1"/>
          </p:cNvGraphicFramePr>
          <p:nvPr>
            <p:ph type="pic" idx="1"/>
            <p:extLst>
              <p:ext uri="{D42A27DB-BD31-4B8C-83A1-F6EECF244321}">
                <p14:modId xmlns:p14="http://schemas.microsoft.com/office/powerpoint/2010/main" val="2304990423"/>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51698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48626-2F8A-E921-4738-C81B281F1095}"/>
              </a:ext>
            </a:extLst>
          </p:cNvPr>
          <p:cNvSpPr>
            <a:spLocks noGrp="1"/>
          </p:cNvSpPr>
          <p:nvPr>
            <p:ph type="title"/>
          </p:nvPr>
        </p:nvSpPr>
        <p:spPr>
          <a:xfrm>
            <a:off x="839788" y="457200"/>
            <a:ext cx="3932237" cy="1003852"/>
          </a:xfrm>
        </p:spPr>
        <p:txBody>
          <a:bodyPr/>
          <a:lstStyle/>
          <a:p>
            <a:r>
              <a:rPr lang="en-IN" dirty="0"/>
              <a:t>Products by profit</a:t>
            </a:r>
          </a:p>
        </p:txBody>
      </p:sp>
      <p:sp>
        <p:nvSpPr>
          <p:cNvPr id="4" name="Text Placeholder 3">
            <a:extLst>
              <a:ext uri="{FF2B5EF4-FFF2-40B4-BE49-F238E27FC236}">
                <a16:creationId xmlns:a16="http://schemas.microsoft.com/office/drawing/2014/main" id="{886873C7-C059-4EB4-916D-6ECDB9FE7139}"/>
              </a:ext>
            </a:extLst>
          </p:cNvPr>
          <p:cNvSpPr>
            <a:spLocks noGrp="1"/>
          </p:cNvSpPr>
          <p:nvPr>
            <p:ph type="body" sz="half" idx="2"/>
          </p:nvPr>
        </p:nvSpPr>
        <p:spPr>
          <a:xfrm>
            <a:off x="836612" y="2136912"/>
            <a:ext cx="3932237" cy="3554761"/>
          </a:xfrm>
        </p:spPr>
        <p:txBody>
          <a:bodyPr>
            <a:normAutofit lnSpcReduction="10000"/>
          </a:bodyPr>
          <a:lstStyle/>
          <a:p>
            <a:pPr algn="just"/>
            <a:r>
              <a:rPr lang="en-IN" sz="1800" dirty="0">
                <a:latin typeface="Aptos" panose="020B0004020202020204" pitchFamily="34" charset="0"/>
              </a:rPr>
              <a:t>The plot gives info about how each product has given the profit  over the duration of sales record i.e. May 2021 to Feb 2023.</a:t>
            </a:r>
          </a:p>
          <a:p>
            <a:pPr algn="just"/>
            <a:r>
              <a:rPr lang="en-IN" sz="1800" dirty="0">
                <a:latin typeface="Aptos" panose="020B0004020202020204" pitchFamily="34" charset="0"/>
              </a:rPr>
              <a:t> The top 5 profitable products belong to the Home &amp; Kitchen and Toys category.</a:t>
            </a:r>
          </a:p>
          <a:p>
            <a:pPr algn="just"/>
            <a:endParaRPr lang="en-IN" sz="1800" dirty="0">
              <a:latin typeface="Aptos" panose="020B0004020202020204" pitchFamily="34" charset="0"/>
            </a:endParaRPr>
          </a:p>
          <a:p>
            <a:pPr algn="just"/>
            <a:r>
              <a:rPr lang="en-IN" sz="1800" dirty="0">
                <a:latin typeface="Aptos" panose="020B0004020202020204" pitchFamily="34" charset="0"/>
              </a:rPr>
              <a:t>The bottom 5 products with loss also belong to the same 2 categories. We have further examined their sales over the years to check if there’s any progress in sales.</a:t>
            </a:r>
          </a:p>
        </p:txBody>
      </p:sp>
      <p:graphicFrame>
        <p:nvGraphicFramePr>
          <p:cNvPr id="7" name="Picture Placeholder 6">
            <a:extLst>
              <a:ext uri="{FF2B5EF4-FFF2-40B4-BE49-F238E27FC236}">
                <a16:creationId xmlns:a16="http://schemas.microsoft.com/office/drawing/2014/main" id="{150CDD67-7C5B-40FB-9339-A853BBB3913C}"/>
              </a:ext>
            </a:extLst>
          </p:cNvPr>
          <p:cNvGraphicFramePr>
            <a:graphicFrameLocks noGrp="1"/>
          </p:cNvGraphicFramePr>
          <p:nvPr>
            <p:ph type="pic" idx="1"/>
            <p:extLst>
              <p:ext uri="{D42A27DB-BD31-4B8C-83A1-F6EECF244321}">
                <p14:modId xmlns:p14="http://schemas.microsoft.com/office/powerpoint/2010/main" val="1688069444"/>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88425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F840-70CF-1483-3C7A-27247047759B}"/>
              </a:ext>
            </a:extLst>
          </p:cNvPr>
          <p:cNvSpPr>
            <a:spLocks noGrp="1"/>
          </p:cNvSpPr>
          <p:nvPr>
            <p:ph type="title"/>
          </p:nvPr>
        </p:nvSpPr>
        <p:spPr>
          <a:xfrm>
            <a:off x="836612" y="615820"/>
            <a:ext cx="3932237" cy="1600200"/>
          </a:xfrm>
        </p:spPr>
        <p:txBody>
          <a:bodyPr>
            <a:normAutofit fontScale="90000"/>
          </a:bodyPr>
          <a:lstStyle/>
          <a:p>
            <a:r>
              <a:rPr lang="en-US" baseline="0" dirty="0"/>
              <a:t>Avg monthly </a:t>
            </a:r>
            <a:r>
              <a:rPr lang="en-US" dirty="0"/>
              <a:t>sales of bottom 5 products</a:t>
            </a:r>
            <a:br>
              <a:rPr lang="en-US" dirty="0"/>
            </a:br>
            <a:endParaRPr lang="en-IN" dirty="0"/>
          </a:p>
        </p:txBody>
      </p:sp>
      <p:sp>
        <p:nvSpPr>
          <p:cNvPr id="4" name="Text Placeholder 3">
            <a:extLst>
              <a:ext uri="{FF2B5EF4-FFF2-40B4-BE49-F238E27FC236}">
                <a16:creationId xmlns:a16="http://schemas.microsoft.com/office/drawing/2014/main" id="{E9064B1E-BDAB-3FDD-97F2-C7EB28A2CF03}"/>
              </a:ext>
            </a:extLst>
          </p:cNvPr>
          <p:cNvSpPr>
            <a:spLocks noGrp="1"/>
          </p:cNvSpPr>
          <p:nvPr>
            <p:ph type="body" sz="half" idx="2"/>
          </p:nvPr>
        </p:nvSpPr>
        <p:spPr>
          <a:xfrm>
            <a:off x="839788" y="2379306"/>
            <a:ext cx="3932237" cy="3489682"/>
          </a:xfrm>
        </p:spPr>
        <p:txBody>
          <a:bodyPr>
            <a:normAutofit/>
          </a:bodyPr>
          <a:lstStyle/>
          <a:p>
            <a:pPr algn="just"/>
            <a:r>
              <a:rPr lang="en-IN" sz="1800" dirty="0">
                <a:latin typeface="Aptos" panose="020B0004020202020204" pitchFamily="34" charset="0"/>
              </a:rPr>
              <a:t>The plot shows average monthly sales from each year as the sales record has varied months in each year, so this was the only justifiable metric to ensure uniformity.</a:t>
            </a:r>
          </a:p>
          <a:p>
            <a:pPr algn="just"/>
            <a:endParaRPr lang="en-IN" sz="1800" dirty="0">
              <a:latin typeface="Aptos" panose="020B0004020202020204" pitchFamily="34" charset="0"/>
            </a:endParaRPr>
          </a:p>
          <a:p>
            <a:pPr algn="just"/>
            <a:r>
              <a:rPr lang="en-IN" sz="1800" dirty="0">
                <a:latin typeface="Aptos" panose="020B0004020202020204" pitchFamily="34" charset="0"/>
              </a:rPr>
              <a:t>The graph shows 2022 being the year of increased sales for each of the 5 products, while it significantly decreased the next year, indicating the decline in the demands despite heavy discounts.</a:t>
            </a:r>
          </a:p>
        </p:txBody>
      </p:sp>
      <p:graphicFrame>
        <p:nvGraphicFramePr>
          <p:cNvPr id="7" name="Picture Placeholder 6">
            <a:extLst>
              <a:ext uri="{FF2B5EF4-FFF2-40B4-BE49-F238E27FC236}">
                <a16:creationId xmlns:a16="http://schemas.microsoft.com/office/drawing/2014/main" id="{66F3E8AD-F233-4B40-BEDD-29F7B1735E7F}"/>
              </a:ext>
            </a:extLst>
          </p:cNvPr>
          <p:cNvGraphicFramePr>
            <a:graphicFrameLocks noGrp="1"/>
          </p:cNvGraphicFramePr>
          <p:nvPr>
            <p:ph type="pic" idx="1"/>
            <p:extLst>
              <p:ext uri="{D42A27DB-BD31-4B8C-83A1-F6EECF244321}">
                <p14:modId xmlns:p14="http://schemas.microsoft.com/office/powerpoint/2010/main" val="4158041054"/>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59821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2DEE-33D9-1BAA-986F-784C3FA3D882}"/>
              </a:ext>
            </a:extLst>
          </p:cNvPr>
          <p:cNvSpPr>
            <a:spLocks noGrp="1"/>
          </p:cNvSpPr>
          <p:nvPr>
            <p:ph type="title"/>
          </p:nvPr>
        </p:nvSpPr>
        <p:spPr>
          <a:xfrm>
            <a:off x="839788" y="447868"/>
            <a:ext cx="3932237" cy="1338943"/>
          </a:xfrm>
        </p:spPr>
        <p:txBody>
          <a:bodyPr>
            <a:normAutofit fontScale="90000"/>
          </a:bodyPr>
          <a:lstStyle/>
          <a:p>
            <a:r>
              <a:rPr lang="en-IN" dirty="0"/>
              <a:t>Stores sales from the year of opening	</a:t>
            </a:r>
          </a:p>
        </p:txBody>
      </p:sp>
      <p:sp>
        <p:nvSpPr>
          <p:cNvPr id="4" name="Text Placeholder 3">
            <a:extLst>
              <a:ext uri="{FF2B5EF4-FFF2-40B4-BE49-F238E27FC236}">
                <a16:creationId xmlns:a16="http://schemas.microsoft.com/office/drawing/2014/main" id="{FAAEFE67-00C7-69D9-3CF8-83C079C8F7E3}"/>
              </a:ext>
            </a:extLst>
          </p:cNvPr>
          <p:cNvSpPr>
            <a:spLocks noGrp="1"/>
          </p:cNvSpPr>
          <p:nvPr>
            <p:ph type="body" sz="half" idx="2"/>
          </p:nvPr>
        </p:nvSpPr>
        <p:spPr>
          <a:xfrm>
            <a:off x="839788" y="2491272"/>
            <a:ext cx="3932237" cy="3377715"/>
          </a:xfrm>
        </p:spPr>
        <p:txBody>
          <a:bodyPr/>
          <a:lstStyle/>
          <a:p>
            <a:pPr algn="just"/>
            <a:r>
              <a:rPr lang="en-IN" sz="1800" dirty="0">
                <a:latin typeface="Aptos" panose="020B0004020202020204" pitchFamily="34" charset="0"/>
              </a:rPr>
              <a:t>The sales registered from each store were compared for performance review from the year they were opened to the last day of sales record i.e. Feb 2023.</a:t>
            </a:r>
          </a:p>
          <a:p>
            <a:endParaRPr lang="en-IN" dirty="0"/>
          </a:p>
          <a:p>
            <a:pPr algn="just"/>
            <a:r>
              <a:rPr lang="en-IN" sz="1800" kern="100" dirty="0">
                <a:effectLst/>
                <a:latin typeface="Aptos" panose="020B0004020202020204" pitchFamily="34" charset="0"/>
                <a:ea typeface="Aptos" panose="020B0004020202020204" pitchFamily="34" charset="0"/>
                <a:cs typeface="Times New Roman" panose="02020603050405020304" pitchFamily="18" charset="0"/>
              </a:rPr>
              <a:t>High performing stores are: 107 and 109. Since they opened in 2022 and still gave comparable and in few cases, better sales than other stores. </a:t>
            </a:r>
          </a:p>
          <a:p>
            <a:endParaRPr lang="en-IN" dirty="0"/>
          </a:p>
        </p:txBody>
      </p:sp>
      <p:graphicFrame>
        <p:nvGraphicFramePr>
          <p:cNvPr id="6" name="Content Placeholder 5">
            <a:extLst>
              <a:ext uri="{FF2B5EF4-FFF2-40B4-BE49-F238E27FC236}">
                <a16:creationId xmlns:a16="http://schemas.microsoft.com/office/drawing/2014/main" id="{B83CA2BB-5478-4218-BF75-AD5CD2B577D1}"/>
              </a:ext>
            </a:extLst>
          </p:cNvPr>
          <p:cNvGraphicFramePr>
            <a:graphicFrameLocks noGrp="1"/>
          </p:cNvGraphicFramePr>
          <p:nvPr>
            <p:ph idx="1"/>
            <p:extLst>
              <p:ext uri="{D42A27DB-BD31-4B8C-83A1-F6EECF244321}">
                <p14:modId xmlns:p14="http://schemas.microsoft.com/office/powerpoint/2010/main" val="2199571022"/>
              </p:ext>
            </p:extLst>
          </p:nvPr>
        </p:nvGraphicFramePr>
        <p:xfrm>
          <a:off x="5183188" y="987425"/>
          <a:ext cx="6172200" cy="48736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22465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5466-8411-F2D0-B240-AB90E9245BF3}"/>
              </a:ext>
            </a:extLst>
          </p:cNvPr>
          <p:cNvSpPr>
            <a:spLocks noGrp="1"/>
          </p:cNvSpPr>
          <p:nvPr>
            <p:ph type="title"/>
          </p:nvPr>
        </p:nvSpPr>
        <p:spPr>
          <a:xfrm>
            <a:off x="854390" y="457200"/>
            <a:ext cx="3932237" cy="1063690"/>
          </a:xfrm>
        </p:spPr>
        <p:txBody>
          <a:bodyPr>
            <a:normAutofit/>
          </a:bodyPr>
          <a:lstStyle/>
          <a:p>
            <a:r>
              <a:rPr lang="en-US" dirty="0"/>
              <a:t>Discount and sales comparison</a:t>
            </a:r>
            <a:endParaRPr lang="en-IN" dirty="0"/>
          </a:p>
        </p:txBody>
      </p:sp>
      <p:sp>
        <p:nvSpPr>
          <p:cNvPr id="4" name="Text Placeholder 3">
            <a:extLst>
              <a:ext uri="{FF2B5EF4-FFF2-40B4-BE49-F238E27FC236}">
                <a16:creationId xmlns:a16="http://schemas.microsoft.com/office/drawing/2014/main" id="{4F20B2D9-866E-EF28-DB77-34C0AB848CAC}"/>
              </a:ext>
            </a:extLst>
          </p:cNvPr>
          <p:cNvSpPr>
            <a:spLocks noGrp="1"/>
          </p:cNvSpPr>
          <p:nvPr>
            <p:ph type="body" sz="half" idx="2"/>
          </p:nvPr>
        </p:nvSpPr>
        <p:spPr>
          <a:xfrm>
            <a:off x="839788" y="1595535"/>
            <a:ext cx="3932237" cy="4800611"/>
          </a:xfrm>
        </p:spPr>
        <p:txBody>
          <a:bodyPr>
            <a:normAutofit/>
          </a:bodyPr>
          <a:lstStyle/>
          <a:p>
            <a:pPr algn="just"/>
            <a:r>
              <a:rPr lang="en-IN" sz="1800" dirty="0">
                <a:latin typeface="Aptos" panose="020B0004020202020204" pitchFamily="34" charset="0"/>
              </a:rPr>
              <a:t>The stats belong to the year 2022. </a:t>
            </a:r>
          </a:p>
          <a:p>
            <a:pPr algn="just"/>
            <a:r>
              <a:rPr lang="en-IN" sz="1800" dirty="0">
                <a:latin typeface="Aptos" panose="020B0004020202020204" pitchFamily="34" charset="0"/>
              </a:rPr>
              <a:t>North region: Sales in this region (store ID 101, 102, 107, 110) respond well with discounts. Total sales of the region being $600K</a:t>
            </a:r>
          </a:p>
          <a:p>
            <a:pPr algn="just"/>
            <a:r>
              <a:rPr lang="en-IN" sz="1800" kern="100" dirty="0">
                <a:effectLst/>
                <a:latin typeface="Aptos" panose="020B0004020202020204" pitchFamily="34" charset="0"/>
                <a:ea typeface="Aptos" panose="020B0004020202020204" pitchFamily="34" charset="0"/>
                <a:cs typeface="Times New Roman" panose="02020603050405020304" pitchFamily="18" charset="0"/>
              </a:rPr>
              <a:t>East </a:t>
            </a:r>
            <a:r>
              <a:rPr lang="en-IN" sz="1800" kern="100" dirty="0">
                <a:latin typeface="Aptos" panose="020B0004020202020204" pitchFamily="34" charset="0"/>
                <a:ea typeface="Aptos" panose="020B0004020202020204" pitchFamily="34" charset="0"/>
                <a:cs typeface="Times New Roman" panose="02020603050405020304" pitchFamily="18" charset="0"/>
              </a:rPr>
              <a:t>r</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egion: Store 103 with an average discount of 14% has given sales of $100K possibly due to being the only store in the region.</a:t>
            </a:r>
          </a:p>
          <a:p>
            <a:pPr algn="just"/>
            <a:r>
              <a:rPr lang="en-IN" sz="1800" kern="100" dirty="0">
                <a:latin typeface="Aptos" panose="020B0004020202020204" pitchFamily="34" charset="0"/>
                <a:ea typeface="Aptos" panose="020B0004020202020204" pitchFamily="34" charset="0"/>
                <a:cs typeface="Times New Roman" panose="02020603050405020304" pitchFamily="18" charset="0"/>
              </a:rPr>
              <a:t>West region: Store 109 with an average discount of 16.67% has recorded total sales of $120K in the region.</a:t>
            </a:r>
          </a:p>
          <a:p>
            <a:pPr algn="just"/>
            <a:r>
              <a:rPr lang="en-IN" sz="1800" kern="100" dirty="0">
                <a:latin typeface="Aptos" panose="020B0004020202020204" pitchFamily="34" charset="0"/>
                <a:ea typeface="Aptos" panose="020B0004020202020204" pitchFamily="34" charset="0"/>
                <a:cs typeface="Times New Roman" panose="02020603050405020304" pitchFamily="18" charset="0"/>
              </a:rPr>
              <a:t>South region: Doesn’t respond well with discounts. Total sales of the region being $210K with stores 104, 105 and 106.</a:t>
            </a:r>
          </a:p>
        </p:txBody>
      </p:sp>
      <p:graphicFrame>
        <p:nvGraphicFramePr>
          <p:cNvPr id="8" name="Picture Placeholder 7">
            <a:extLst>
              <a:ext uri="{FF2B5EF4-FFF2-40B4-BE49-F238E27FC236}">
                <a16:creationId xmlns:a16="http://schemas.microsoft.com/office/drawing/2014/main" id="{573EF71B-73D9-42DE-A4DD-8C8B75E4EA43}"/>
              </a:ext>
            </a:extLst>
          </p:cNvPr>
          <p:cNvGraphicFramePr>
            <a:graphicFrameLocks noGrp="1"/>
          </p:cNvGraphicFramePr>
          <p:nvPr>
            <p:ph type="pic" idx="1"/>
            <p:extLst>
              <p:ext uri="{D42A27DB-BD31-4B8C-83A1-F6EECF244321}">
                <p14:modId xmlns:p14="http://schemas.microsoft.com/office/powerpoint/2010/main" val="2567509339"/>
              </p:ext>
            </p:extLst>
          </p:nvPr>
        </p:nvGraphicFramePr>
        <p:xfrm>
          <a:off x="5183188" y="3429000"/>
          <a:ext cx="6172200" cy="29671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Picture Placeholder 4">
            <a:extLst>
              <a:ext uri="{FF2B5EF4-FFF2-40B4-BE49-F238E27FC236}">
                <a16:creationId xmlns:a16="http://schemas.microsoft.com/office/drawing/2014/main" id="{943CE16E-FDE2-F4D0-93E8-7CBB1F6AC968}"/>
              </a:ext>
            </a:extLst>
          </p:cNvPr>
          <p:cNvGraphicFramePr>
            <a:graphicFrameLocks/>
          </p:cNvGraphicFramePr>
          <p:nvPr>
            <p:extLst>
              <p:ext uri="{D42A27DB-BD31-4B8C-83A1-F6EECF244321}">
                <p14:modId xmlns:p14="http://schemas.microsoft.com/office/powerpoint/2010/main" val="4063261857"/>
              </p:ext>
            </p:extLst>
          </p:nvPr>
        </p:nvGraphicFramePr>
        <p:xfrm>
          <a:off x="5183188" y="457200"/>
          <a:ext cx="6172200" cy="296855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69319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3AA2-3824-367F-612F-E883FE2A0AFE}"/>
              </a:ext>
            </a:extLst>
          </p:cNvPr>
          <p:cNvSpPr>
            <a:spLocks noGrp="1"/>
          </p:cNvSpPr>
          <p:nvPr>
            <p:ph type="title"/>
          </p:nvPr>
        </p:nvSpPr>
        <p:spPr>
          <a:xfrm>
            <a:off x="839788" y="233265"/>
            <a:ext cx="10552890" cy="662473"/>
          </a:xfrm>
        </p:spPr>
        <p:txBody>
          <a:bodyPr/>
          <a:lstStyle/>
          <a:p>
            <a:r>
              <a:rPr lang="en-IN" dirty="0"/>
              <a:t>Insights</a:t>
            </a:r>
          </a:p>
        </p:txBody>
      </p:sp>
      <p:sp>
        <p:nvSpPr>
          <p:cNvPr id="4" name="Text Placeholder 3">
            <a:extLst>
              <a:ext uri="{FF2B5EF4-FFF2-40B4-BE49-F238E27FC236}">
                <a16:creationId xmlns:a16="http://schemas.microsoft.com/office/drawing/2014/main" id="{18916963-76DF-E3F1-0109-B48D248A9266}"/>
              </a:ext>
            </a:extLst>
          </p:cNvPr>
          <p:cNvSpPr>
            <a:spLocks noGrp="1"/>
          </p:cNvSpPr>
          <p:nvPr>
            <p:ph type="body" sz="half" idx="2"/>
          </p:nvPr>
        </p:nvSpPr>
        <p:spPr>
          <a:xfrm>
            <a:off x="839788" y="979714"/>
            <a:ext cx="10552890" cy="5150498"/>
          </a:xfrm>
        </p:spPr>
        <p:txBody>
          <a:bodyPr>
            <a:normAutofit lnSpcReduction="10000"/>
          </a:bodyPr>
          <a:lstStyle/>
          <a:p>
            <a:pPr algn="just">
              <a:lnSpc>
                <a:spcPct val="100000"/>
              </a:lnSpc>
            </a:pPr>
            <a:r>
              <a:rPr lang="en-IN" dirty="0">
                <a:latin typeface="Aptos" panose="020B0004020202020204" pitchFamily="34" charset="0"/>
              </a:rPr>
              <a:t>North region has the highest buying capacity among all the regions, especially in the winter season(November, December and January), giving maximum sales among all the regions.</a:t>
            </a:r>
          </a:p>
          <a:p>
            <a:pPr algn="just">
              <a:lnSpc>
                <a:spcPct val="100000"/>
              </a:lnSpc>
            </a:pPr>
            <a:endParaRPr lang="en-IN" dirty="0">
              <a:latin typeface="Aptos" panose="020B0004020202020204" pitchFamily="34" charset="0"/>
            </a:endParaRPr>
          </a:p>
          <a:p>
            <a:pPr algn="just">
              <a:lnSpc>
                <a:spcPct val="100000"/>
              </a:lnSpc>
              <a:spcBef>
                <a:spcPts val="600"/>
              </a:spcBef>
            </a:pPr>
            <a:r>
              <a:rPr lang="en-IN" dirty="0">
                <a:latin typeface="Aptos" panose="020B0004020202020204" pitchFamily="34" charset="0"/>
              </a:rPr>
              <a:t>Store 109 of the east region has promising results. Being opened only in 2022, it brought sales comparable to the ones opened in 2020 for single store sales. This might be due to the fact that it is the only store in the west region.</a:t>
            </a:r>
          </a:p>
          <a:p>
            <a:pPr algn="just">
              <a:lnSpc>
                <a:spcPct val="100000"/>
              </a:lnSpc>
            </a:pPr>
            <a:endParaRPr lang="en-IN" dirty="0">
              <a:latin typeface="Aptos" panose="020B0004020202020204" pitchFamily="34" charset="0"/>
            </a:endParaRPr>
          </a:p>
          <a:p>
            <a:pPr algn="just">
              <a:lnSpc>
                <a:spcPct val="100000"/>
              </a:lnSpc>
              <a:spcBef>
                <a:spcPts val="600"/>
              </a:spcBef>
            </a:pPr>
            <a:r>
              <a:rPr lang="en-IN" dirty="0">
                <a:latin typeface="Aptos" panose="020B0004020202020204" pitchFamily="34" charset="0"/>
              </a:rPr>
              <a:t>Rep 204 has been a key factor to drive sales in the Store 109 giving an avg. daily sales of $5.3K. Although maximum sales were registered by reps 205, 207, 219. </a:t>
            </a:r>
            <a:r>
              <a:rPr lang="en-IN" dirty="0">
                <a:highlight>
                  <a:srgbClr val="00FFFF"/>
                </a:highlight>
                <a:latin typeface="Aptos" panose="020B0004020202020204" pitchFamily="34" charset="0"/>
              </a:rPr>
              <a:t>Rewarding the best performers and incentivising the average reps might draw more efforts for sales.</a:t>
            </a:r>
          </a:p>
          <a:p>
            <a:pPr algn="just">
              <a:lnSpc>
                <a:spcPct val="100000"/>
              </a:lnSpc>
            </a:pPr>
            <a:endParaRPr lang="en-IN" dirty="0">
              <a:latin typeface="Aptos" panose="020B0004020202020204" pitchFamily="34" charset="0"/>
            </a:endParaRPr>
          </a:p>
          <a:p>
            <a:pPr algn="just">
              <a:lnSpc>
                <a:spcPct val="100000"/>
              </a:lnSpc>
              <a:spcBef>
                <a:spcPts val="600"/>
              </a:spcBef>
            </a:pPr>
            <a:r>
              <a:rPr lang="en-IN" dirty="0">
                <a:latin typeface="Aptos" panose="020B0004020202020204" pitchFamily="34" charset="0"/>
              </a:rPr>
              <a:t>Toys and Home &amp; Kitchen have comparable sales with profits of toys(outdoor) being higher than the rest. </a:t>
            </a:r>
            <a:r>
              <a:rPr lang="en-IN" dirty="0">
                <a:highlight>
                  <a:srgbClr val="00FFFF"/>
                </a:highlight>
                <a:latin typeface="Aptos" panose="020B0004020202020204" pitchFamily="34" charset="0"/>
              </a:rPr>
              <a:t>So increasing the SKUs in these two categories may draw better sales.</a:t>
            </a:r>
          </a:p>
          <a:p>
            <a:pPr algn="just">
              <a:lnSpc>
                <a:spcPct val="100000"/>
              </a:lnSpc>
            </a:pPr>
            <a:endParaRPr lang="en-IN" dirty="0">
              <a:latin typeface="Aptos" panose="020B0004020202020204" pitchFamily="34" charset="0"/>
            </a:endParaRPr>
          </a:p>
          <a:p>
            <a:pPr algn="just">
              <a:lnSpc>
                <a:spcPct val="100000"/>
              </a:lnSpc>
              <a:spcBef>
                <a:spcPts val="600"/>
              </a:spcBef>
            </a:pPr>
            <a:r>
              <a:rPr lang="en-IN" dirty="0">
                <a:latin typeface="Aptos" panose="020B0004020202020204" pitchFamily="34" charset="0"/>
              </a:rPr>
              <a:t>Products 307, 311, 317, 301, 319 have highest profitability belonging to above mentioned categories. While the bottom 5 products(302, 308, 315 , 316, 320) according to profitability also belong to these two categories with only 315 having promising results(increasing avg. monthly sales every year). </a:t>
            </a:r>
            <a:r>
              <a:rPr lang="en-IN" dirty="0">
                <a:highlight>
                  <a:srgbClr val="00FFFF"/>
                </a:highlight>
                <a:latin typeface="Aptos" panose="020B0004020202020204" pitchFamily="34" charset="0"/>
              </a:rPr>
              <a:t>The others incurring loss need to be dropped from the listing to manage losses while focusing on the highly profitable ones, their size, looks, build quality. Thus getting maximum profits.</a:t>
            </a:r>
          </a:p>
          <a:p>
            <a:pPr algn="just">
              <a:lnSpc>
                <a:spcPct val="100000"/>
              </a:lnSpc>
              <a:spcBef>
                <a:spcPts val="600"/>
              </a:spcBef>
            </a:pPr>
            <a:endParaRPr lang="en-IN" dirty="0">
              <a:highlight>
                <a:srgbClr val="00FFFF"/>
              </a:highlight>
              <a:latin typeface="Aptos" panose="020B0004020202020204" pitchFamily="34" charset="0"/>
            </a:endParaRPr>
          </a:p>
          <a:p>
            <a:pPr algn="just">
              <a:lnSpc>
                <a:spcPct val="100000"/>
              </a:lnSpc>
              <a:spcBef>
                <a:spcPts val="600"/>
              </a:spcBef>
            </a:pPr>
            <a:endParaRPr lang="en-IN" dirty="0">
              <a:highlight>
                <a:srgbClr val="00FFFF"/>
              </a:highlight>
              <a:latin typeface="Aptos" panose="020B0004020202020204" pitchFamily="34" charset="0"/>
            </a:endParaRPr>
          </a:p>
        </p:txBody>
      </p:sp>
    </p:spTree>
    <p:extLst>
      <p:ext uri="{BB962C8B-B14F-4D97-AF65-F5344CB8AC3E}">
        <p14:creationId xmlns:p14="http://schemas.microsoft.com/office/powerpoint/2010/main" val="3599387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FD05317-60D6-4B3A-8545-888496D1A8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1784</TotalTime>
  <Words>1067</Words>
  <Application>Microsoft Office PowerPoint</Application>
  <PresentationFormat>Widescreen</PresentationFormat>
  <Paragraphs>77</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Century Gothic</vt:lpstr>
      <vt:lpstr>Segoe UI Light</vt:lpstr>
      <vt:lpstr>Office Theme</vt:lpstr>
      <vt:lpstr>Supermarket-chain  sales analysis</vt:lpstr>
      <vt:lpstr>Summary</vt:lpstr>
      <vt:lpstr>PowerPoint Presentation</vt:lpstr>
      <vt:lpstr>Sales and profit comparison</vt:lpstr>
      <vt:lpstr>Sales contribution by subcategory</vt:lpstr>
      <vt:lpstr>Performance per day by each rep</vt:lpstr>
      <vt:lpstr>Products by profit</vt:lpstr>
      <vt:lpstr>Avg monthly sales of bottom 5 products </vt:lpstr>
      <vt:lpstr>Stores sales from the year of opening </vt:lpstr>
      <vt:lpstr>Discount and sales comparison</vt:lpstr>
      <vt:lpstr>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 Gupta</dc:creator>
  <cp:lastModifiedBy>Yog Gupta</cp:lastModifiedBy>
  <cp:revision>16</cp:revision>
  <dcterms:created xsi:type="dcterms:W3CDTF">2025-04-29T02:55:46Z</dcterms:created>
  <dcterms:modified xsi:type="dcterms:W3CDTF">2025-04-30T21:56:04Z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