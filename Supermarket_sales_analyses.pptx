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7"/>
  </p:notesMasterIdLst>
  <p:handoutMasterIdLst>
    <p:handoutMasterId r:id="rId18"/>
  </p:handoutMasterIdLst>
  <p:sldIdLst>
    <p:sldId id="256" r:id="rId5"/>
    <p:sldId id="292" r:id="rId6"/>
    <p:sldId id="288" r:id="rId7"/>
    <p:sldId id="289" r:id="rId8"/>
    <p:sldId id="290" r:id="rId9"/>
    <p:sldId id="291" r:id="rId10"/>
    <p:sldId id="293" r:id="rId11"/>
    <p:sldId id="294" r:id="rId12"/>
    <p:sldId id="295" r:id="rId13"/>
    <p:sldId id="296" r:id="rId14"/>
    <p:sldId id="297" r:id="rId15"/>
    <p:sldId id="28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28" userDrawn="1">
          <p15:clr>
            <a:srgbClr val="A4A3A4"/>
          </p15:clr>
        </p15:guide>
        <p15:guide id="2" pos="3864" userDrawn="1">
          <p15:clr>
            <a:srgbClr val="A4A3A4"/>
          </p15:clr>
        </p15:guide>
        <p15:guide id="3" pos="7512" userDrawn="1">
          <p15:clr>
            <a:srgbClr val="A4A3A4"/>
          </p15:clr>
        </p15:guide>
        <p15:guide id="4" pos="144" userDrawn="1">
          <p15:clr>
            <a:srgbClr val="A4A3A4"/>
          </p15:clr>
        </p15:guide>
        <p15:guide id="5" orient="horz" pos="624" userDrawn="1">
          <p15:clr>
            <a:srgbClr val="A4A3A4"/>
          </p15:clr>
        </p15:guide>
        <p15:guide id="6" orient="horz" pos="40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95" autoAdjust="0"/>
  </p:normalViewPr>
  <p:slideViewPr>
    <p:cSldViewPr snapToGrid="0" showGuides="1">
      <p:cViewPr varScale="1">
        <p:scale>
          <a:sx n="82" d="100"/>
          <a:sy n="82" d="100"/>
        </p:scale>
        <p:origin x="720" y="96"/>
      </p:cViewPr>
      <p:guideLst>
        <p:guide orient="horz" pos="2328"/>
        <p:guide pos="3864"/>
        <p:guide pos="7512"/>
        <p:guide pos="144"/>
        <p:guide orient="horz" pos="624"/>
        <p:guide orient="horz" pos="4056"/>
      </p:guideLst>
    </p:cSldViewPr>
  </p:slideViewPr>
  <p:notesTextViewPr>
    <p:cViewPr>
      <p:scale>
        <a:sx n="1" d="1"/>
        <a:sy n="1" d="1"/>
      </p:scale>
      <p:origin x="0" y="0"/>
    </p:cViewPr>
  </p:notesTextViewPr>
  <p:notesViewPr>
    <p:cSldViewPr snapToGrid="0">
      <p:cViewPr varScale="1">
        <p:scale>
          <a:sx n="68" d="100"/>
          <a:sy n="68" d="100"/>
        </p:scale>
        <p:origin x="328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yoggu\Downloads\Excel%20project\RetailSalesData_StablePricing(AutoRecovered).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[RetailSalesData_StablePricing(AutoRecovered).xlsx]Pivot tables!PivotTable4</c:name>
    <c:fmtId val="9"/>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7.447317777262176E-2"/>
          <c:y val="0.18101604609892405"/>
          <c:w val="0.89424122946138196"/>
          <c:h val="0.58979651776074393"/>
        </c:manualLayout>
      </c:layout>
      <c:barChart>
        <c:barDir val="col"/>
        <c:grouping val="clustered"/>
        <c:varyColors val="0"/>
        <c:ser>
          <c:idx val="0"/>
          <c:order val="0"/>
          <c:tx>
            <c:strRef>
              <c:f>'Pivot tables'!$B$1:$B$2</c:f>
              <c:strCache>
                <c:ptCount val="1"/>
                <c:pt idx="0">
                  <c:v>East</c:v>
                </c:pt>
              </c:strCache>
            </c:strRef>
          </c:tx>
          <c:spPr>
            <a:solidFill>
              <a:schemeClr val="accent1"/>
            </a:solidFill>
            <a:ln>
              <a:noFill/>
            </a:ln>
            <a:effectLst/>
          </c:spPr>
          <c:invertIfNegative val="0"/>
          <c:cat>
            <c:strRef>
              <c:f>'Pivot tables'!$A$3:$A$15</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'Pivot tables'!$B$3:$B$15</c:f>
              <c:numCache>
                <c:formatCode>General</c:formatCode>
                <c:ptCount val="12"/>
                <c:pt idx="3" formatCode="[$$-409]#,##0.00">
                  <c:v>32723.5275</c:v>
                </c:pt>
                <c:pt idx="4" formatCode="[$$-409]#,##0.00">
                  <c:v>31487.698200000006</c:v>
                </c:pt>
                <c:pt idx="5" formatCode="[$$-409]#,##0.00">
                  <c:v>41609.585100000011</c:v>
                </c:pt>
                <c:pt idx="6" formatCode="[$$-409]#,##0.00">
                  <c:v>1960.5389999999998</c:v>
                </c:pt>
              </c:numCache>
            </c:numRef>
          </c:val>
          <c:extLst>
            <c:ext xmlns:c16="http://schemas.microsoft.com/office/drawing/2014/chart" uri="{C3380CC4-5D6E-409C-BE32-E72D297353CC}">
              <c16:uniqueId val="{00000009-FFB2-4A43-ADE0-1FF2E2CE2165}"/>
            </c:ext>
          </c:extLst>
        </c:ser>
        <c:ser>
          <c:idx val="1"/>
          <c:order val="1"/>
          <c:tx>
            <c:strRef>
              <c:f>'Pivot tables'!$C$1:$C$2</c:f>
              <c:strCache>
                <c:ptCount val="1"/>
                <c:pt idx="0">
                  <c:v>North</c:v>
                </c:pt>
              </c:strCache>
            </c:strRef>
          </c:tx>
          <c:spPr>
            <a:solidFill>
              <a:schemeClr val="accent2"/>
            </a:solidFill>
            <a:ln>
              <a:noFill/>
            </a:ln>
            <a:effectLst/>
          </c:spPr>
          <c:invertIfNegative val="0"/>
          <c:cat>
            <c:strRef>
              <c:f>'Pivot tables'!$A$3:$A$15</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'Pivot tables'!$C$3:$C$15</c:f>
              <c:numCache>
                <c:formatCode>[$$-409]#,##0.00</c:formatCode>
                <c:ptCount val="12"/>
                <c:pt idx="0">
                  <c:v>76269.208900000027</c:v>
                </c:pt>
                <c:pt idx="1">
                  <c:v>68745.405100000018</c:v>
                </c:pt>
                <c:pt idx="4">
                  <c:v>23930.800600000002</c:v>
                </c:pt>
                <c:pt idx="5">
                  <c:v>40447.690199999997</c:v>
                </c:pt>
                <c:pt idx="6">
                  <c:v>42827.763599999998</c:v>
                </c:pt>
                <c:pt idx="7">
                  <c:v>19461.313300000002</c:v>
                </c:pt>
                <c:pt idx="8">
                  <c:v>15078.178400000001</c:v>
                </c:pt>
                <c:pt idx="9">
                  <c:v>43039.677299999996</c:v>
                </c:pt>
                <c:pt idx="10">
                  <c:v>68043.596099999981</c:v>
                </c:pt>
                <c:pt idx="11">
                  <c:v>133723.59089999989</c:v>
                </c:pt>
              </c:numCache>
            </c:numRef>
          </c:val>
          <c:extLst>
            <c:ext xmlns:c16="http://schemas.microsoft.com/office/drawing/2014/chart" uri="{C3380CC4-5D6E-409C-BE32-E72D297353CC}">
              <c16:uniqueId val="{0000000A-FFB2-4A43-ADE0-1FF2E2CE2165}"/>
            </c:ext>
          </c:extLst>
        </c:ser>
        <c:ser>
          <c:idx val="2"/>
          <c:order val="2"/>
          <c:tx>
            <c:strRef>
              <c:f>'Pivot tables'!$D$1:$D$2</c:f>
              <c:strCache>
                <c:ptCount val="1"/>
                <c:pt idx="0">
                  <c:v>South</c:v>
                </c:pt>
              </c:strCache>
            </c:strRef>
          </c:tx>
          <c:spPr>
            <a:solidFill>
              <a:schemeClr val="accent3"/>
            </a:solidFill>
            <a:ln>
              <a:noFill/>
            </a:ln>
            <a:effectLst/>
          </c:spPr>
          <c:invertIfNegative val="0"/>
          <c:cat>
            <c:strRef>
              <c:f>'Pivot tables'!$A$3:$A$15</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'Pivot tables'!$D$3:$D$15</c:f>
              <c:numCache>
                <c:formatCode>[$$-409]#,##0.00</c:formatCode>
                <c:ptCount val="12"/>
                <c:pt idx="0">
                  <c:v>6442.7451000000001</c:v>
                </c:pt>
                <c:pt idx="1">
                  <c:v>5051.2498000000005</c:v>
                </c:pt>
                <c:pt idx="2">
                  <c:v>22920.817499999994</c:v>
                </c:pt>
                <c:pt idx="3">
                  <c:v>36693.144999999997</c:v>
                </c:pt>
                <c:pt idx="4">
                  <c:v>54263.9637</c:v>
                </c:pt>
                <c:pt idx="5">
                  <c:v>57027.792799999988</c:v>
                </c:pt>
                <c:pt idx="6">
                  <c:v>44955.494799999993</c:v>
                </c:pt>
                <c:pt idx="7">
                  <c:v>12254.7197</c:v>
                </c:pt>
                <c:pt idx="8">
                  <c:v>22555.936999999994</c:v>
                </c:pt>
                <c:pt idx="9">
                  <c:v>11485.2284</c:v>
                </c:pt>
                <c:pt idx="10">
                  <c:v>9079.4734999999982</c:v>
                </c:pt>
                <c:pt idx="11">
                  <c:v>9345.7288000000008</c:v>
                </c:pt>
              </c:numCache>
            </c:numRef>
          </c:val>
          <c:extLst>
            <c:ext xmlns:c16="http://schemas.microsoft.com/office/drawing/2014/chart" uri="{C3380CC4-5D6E-409C-BE32-E72D297353CC}">
              <c16:uniqueId val="{0000000B-FFB2-4A43-ADE0-1FF2E2CE2165}"/>
            </c:ext>
          </c:extLst>
        </c:ser>
        <c:ser>
          <c:idx val="3"/>
          <c:order val="3"/>
          <c:tx>
            <c:strRef>
              <c:f>'Pivot tables'!$E$1:$E$2</c:f>
              <c:strCache>
                <c:ptCount val="1"/>
                <c:pt idx="0">
                  <c:v>West</c:v>
                </c:pt>
              </c:strCache>
            </c:strRef>
          </c:tx>
          <c:spPr>
            <a:solidFill>
              <a:schemeClr val="accent4"/>
            </a:solidFill>
            <a:ln>
              <a:noFill/>
            </a:ln>
            <a:effectLst/>
          </c:spPr>
          <c:invertIfNegative val="0"/>
          <c:cat>
            <c:strRef>
              <c:f>'Pivot tables'!$A$3:$A$15</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'Pivot tables'!$E$3:$E$15</c:f>
              <c:numCache>
                <c:formatCode>[$$-409]#,##0.00</c:formatCode>
                <c:ptCount val="12"/>
                <c:pt idx="1">
                  <c:v>13309.1034</c:v>
                </c:pt>
                <c:pt idx="2">
                  <c:v>22572.680700000001</c:v>
                </c:pt>
                <c:pt idx="3">
                  <c:v>24568.227800000001</c:v>
                </c:pt>
                <c:pt idx="4">
                  <c:v>7047.3888000000006</c:v>
                </c:pt>
                <c:pt idx="5">
                  <c:v>16536.615900000001</c:v>
                </c:pt>
                <c:pt idx="6">
                  <c:v>17090.453599999997</c:v>
                </c:pt>
                <c:pt idx="7">
                  <c:v>20349.019299999996</c:v>
                </c:pt>
              </c:numCache>
            </c:numRef>
          </c:val>
          <c:extLst>
            <c:ext xmlns:c16="http://schemas.microsoft.com/office/drawing/2014/chart" uri="{C3380CC4-5D6E-409C-BE32-E72D297353CC}">
              <c16:uniqueId val="{0000000C-FFB2-4A43-ADE0-1FF2E2CE2165}"/>
            </c:ext>
          </c:extLst>
        </c:ser>
        <c:dLbls>
          <c:showLegendKey val="0"/>
          <c:showVal val="0"/>
          <c:showCatName val="0"/>
          <c:showSerName val="0"/>
          <c:showPercent val="0"/>
          <c:showBubbleSize val="0"/>
        </c:dLbls>
        <c:gapWidth val="219"/>
        <c:overlap val="-27"/>
        <c:axId val="712754031"/>
        <c:axId val="712746351"/>
      </c:barChart>
      <c:catAx>
        <c:axId val="7127540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746351"/>
        <c:crosses val="autoZero"/>
        <c:auto val="1"/>
        <c:lblAlgn val="ctr"/>
        <c:lblOffset val="100"/>
        <c:noMultiLvlLbl val="0"/>
      </c:catAx>
      <c:valAx>
        <c:axId val="71274635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12754031"/>
        <c:crosses val="autoZero"/>
        <c:crossBetween val="between"/>
        <c:dispUnits>
          <c:builtInUnit val="tenThousands"/>
          <c:dispUnitsLbl>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legend>
      <c:legendPos val="t"/>
      <c:layout>
        <c:manualLayout>
          <c:xMode val="edge"/>
          <c:yMode val="edge"/>
          <c:x val="0.31354363056978235"/>
          <c:y val="6.4210134905631322E-2"/>
          <c:w val="0.36251375602982172"/>
          <c:h val="6.6691670470094472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[RetailSalesData_StablePricing(AutoRecovered).xlsx]Pivot tables!PivotTable6</c:name>
    <c:fmtId val="23"/>
  </c:pivotSource>
  <c:chart>
    <c:autoTitleDeleted val="1"/>
    <c:pivotFmts>
      <c:pivotFmt>
        <c:idx val="0"/>
        <c:spPr>
          <a:solidFill>
            <a:schemeClr val="accent1"/>
          </a:solidFill>
          <a:ln>
            <a:noFill/>
          </a:ln>
          <a:effectLst/>
        </c:spPr>
        <c:marker>
          <c:symbol val="diamond"/>
          <c:size val="6"/>
          <c:spPr>
            <a:solidFill>
              <a:schemeClr val="accent1"/>
            </a:solidFill>
            <a:ln w="9525">
              <a:solidFill>
                <a:schemeClr val="accent1"/>
              </a:solidFill>
              <a:round/>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square"/>
          <c:size val="6"/>
          <c:spPr>
            <a:solidFill>
              <a:schemeClr val="accent1"/>
            </a:solidFill>
            <a:ln w="9525">
              <a:solidFill>
                <a:schemeClr val="accent1"/>
              </a:solidFill>
              <a:round/>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dLbl>
          <c:idx val="0"/>
          <c:layout>
            <c:manualLayout>
              <c:x val="-2.8490028490028622E-3"/>
              <c:y val="-3.3055564954556964E-2"/>
            </c:manualLayout>
          </c:layout>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F13D344F-5F7A-4A86-89CB-7C8E581167B1}"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7"/>
        <c:spPr>
          <a:solidFill>
            <a:schemeClr val="accent1"/>
          </a:solidFill>
          <a:ln>
            <a:noFill/>
          </a:ln>
          <a:effectLst/>
        </c:spPr>
        <c:dLbl>
          <c:idx val="0"/>
          <c:layout>
            <c:manualLayout>
              <c:x val="0"/>
              <c:y val="-3.3055564954556964E-2"/>
            </c:manualLayout>
          </c:layout>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BCE653FE-59BC-4C99-9A48-04732818E9D7}"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8"/>
        <c:spPr>
          <a:solidFill>
            <a:schemeClr val="accent1"/>
          </a:solidFill>
          <a:ln>
            <a:no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761775A8-CFD3-4A09-BFE5-E642D4693374}"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9"/>
        <c:spPr>
          <a:solidFill>
            <a:schemeClr val="accent1"/>
          </a:solidFill>
          <a:ln>
            <a:no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A21DDF52-5439-46F5-8548-DFD8E69B99E2}"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dLbl>
          <c:idx val="0"/>
          <c:layout>
            <c:manualLayout>
              <c:x val="-2.8490028490028622E-3"/>
              <c:y val="-3.3055564954556964E-2"/>
            </c:manualLayout>
          </c:layout>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F13D344F-5F7A-4A86-89CB-7C8E581167B1}"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13"/>
        <c:spPr>
          <a:solidFill>
            <a:schemeClr val="accent1"/>
          </a:solidFill>
          <a:ln>
            <a:noFill/>
          </a:ln>
          <a:effectLst/>
        </c:spPr>
        <c:dLbl>
          <c:idx val="0"/>
          <c:layout>
            <c:manualLayout>
              <c:x val="0"/>
              <c:y val="-3.3055564954556964E-2"/>
            </c:manualLayout>
          </c:layout>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BCE653FE-59BC-4C99-9A48-04732818E9D7}"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14"/>
        <c:spPr>
          <a:solidFill>
            <a:schemeClr val="accent1"/>
          </a:solidFill>
          <a:ln>
            <a:no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761775A8-CFD3-4A09-BFE5-E642D4693374}"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15"/>
        <c:spPr>
          <a:solidFill>
            <a:schemeClr val="accent1"/>
          </a:solidFill>
          <a:ln>
            <a:no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A21DDF52-5439-46F5-8548-DFD8E69B99E2}"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1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extLst>
        </c:dLbl>
      </c:pivotFmt>
      <c:pivotFmt>
        <c:idx val="18"/>
        <c:spPr>
          <a:solidFill>
            <a:schemeClr val="accent1"/>
          </a:solidFill>
          <a:ln>
            <a:noFill/>
          </a:ln>
          <a:effectLst/>
        </c:spPr>
        <c:dLbl>
          <c:idx val="0"/>
          <c:layout>
            <c:manualLayout>
              <c:x val="-2.8490028490028622E-3"/>
              <c:y val="-3.3055564954556964E-2"/>
            </c:manualLayout>
          </c:layout>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F13D344F-5F7A-4A86-89CB-7C8E581167B1}"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19"/>
        <c:spPr>
          <a:solidFill>
            <a:schemeClr val="accent1"/>
          </a:solidFill>
          <a:ln>
            <a:noFill/>
          </a:ln>
          <a:effectLst/>
        </c:spPr>
        <c:dLbl>
          <c:idx val="0"/>
          <c:layout>
            <c:manualLayout>
              <c:x val="0"/>
              <c:y val="-3.3055564954556964E-2"/>
            </c:manualLayout>
          </c:layout>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BCE653FE-59BC-4C99-9A48-04732818E9D7}"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0"/>
        <c:spPr>
          <a:solidFill>
            <a:schemeClr val="accent1"/>
          </a:solidFill>
          <a:ln>
            <a:no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761775A8-CFD3-4A09-BFE5-E642D4693374}"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1"/>
        <c:spPr>
          <a:solidFill>
            <a:schemeClr val="accent1"/>
          </a:solidFill>
          <a:ln>
            <a:no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fld id="{A21DDF52-5439-46F5-8548-DFD8E69B99E2}" type="VALUE">
                  <a:rPr lang="en-US">
                    <a:solidFill>
                      <a:schemeClr val="tx1">
                        <a:lumMod val="75000"/>
                        <a:lumOff val="25000"/>
                      </a:schemeClr>
                    </a:solidFill>
                  </a:rPr>
                  <a:pPr>
                    <a:defRPr sz="900" b="0" i="0" u="none" strike="noStrike" kern="1200" baseline="0">
                      <a:solidFill>
                        <a:schemeClr val="lt1"/>
                      </a:solidFill>
                      <a:latin typeface="+mn-lt"/>
                      <a:ea typeface="+mn-ea"/>
                      <a:cs typeface="+mn-cs"/>
                    </a:defRPr>
                  </a:pPr>
                  <a:t>[VALUE]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IN"/>
            </a:p>
          </c:txPr>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s>
    <c:plotArea>
      <c:layout>
        <c:manualLayout>
          <c:layoutTarget val="inner"/>
          <c:xMode val="edge"/>
          <c:yMode val="edge"/>
          <c:x val="5.0498687664041995E-2"/>
          <c:y val="0.1568292505103529"/>
          <c:w val="0.91894586894586894"/>
          <c:h val="0.71195902595508898"/>
        </c:manualLayout>
      </c:layout>
      <c:barChart>
        <c:barDir val="col"/>
        <c:grouping val="stacked"/>
        <c:varyColors val="0"/>
        <c:ser>
          <c:idx val="0"/>
          <c:order val="0"/>
          <c:tx>
            <c:strRef>
              <c:f>'Pivot tables'!$B$29</c:f>
              <c:strCache>
                <c:ptCount val="1"/>
                <c:pt idx="0">
                  <c:v>Sum of Sales</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'Pivot tables'!$A$30:$A$34</c:f>
              <c:strCache>
                <c:ptCount val="4"/>
                <c:pt idx="0">
                  <c:v>Clothing</c:v>
                </c:pt>
                <c:pt idx="1">
                  <c:v>Electronics</c:v>
                </c:pt>
                <c:pt idx="2">
                  <c:v>Home &amp; Kitchen</c:v>
                </c:pt>
                <c:pt idx="3">
                  <c:v>Toys</c:v>
                </c:pt>
              </c:strCache>
            </c:strRef>
          </c:cat>
          <c:val>
            <c:numRef>
              <c:f>'Pivot tables'!$B$30:$B$34</c:f>
              <c:numCache>
                <c:formatCode>[$$-409]#,##0.00</c:formatCode>
                <c:ptCount val="4"/>
                <c:pt idx="0">
                  <c:v>167303.69429999997</c:v>
                </c:pt>
                <c:pt idx="1">
                  <c:v>197546.8018000001</c:v>
                </c:pt>
                <c:pt idx="2">
                  <c:v>363865.02119999984</c:v>
                </c:pt>
                <c:pt idx="3">
                  <c:v>324182.84249999956</c:v>
                </c:pt>
              </c:numCache>
            </c:numRef>
          </c:val>
          <c:extLst>
            <c:ext xmlns:c16="http://schemas.microsoft.com/office/drawing/2014/chart" uri="{C3380CC4-5D6E-409C-BE32-E72D297353CC}">
              <c16:uniqueId val="{00000000-0B80-4128-BA54-DA906C520CE2}"/>
            </c:ext>
          </c:extLst>
        </c:ser>
        <c:ser>
          <c:idx val="1"/>
          <c:order val="1"/>
          <c:tx>
            <c:strRef>
              <c:f>'Pivot tables'!$C$29</c:f>
              <c:strCache>
                <c:ptCount val="1"/>
                <c:pt idx="0">
                  <c:v>Sum of Profit</c:v>
                </c:pt>
              </c:strCache>
            </c:strRef>
          </c:tx>
          <c:spPr>
            <a:solidFill>
              <a:schemeClr val="accent2"/>
            </a:solidFill>
            <a:ln>
              <a:noFill/>
            </a:ln>
            <a:effectLst/>
          </c:spPr>
          <c:invertIfNegative val="0"/>
          <c:dLbls>
            <c:dLbl>
              <c:idx val="0"/>
              <c:layout>
                <c:manualLayout>
                  <c:x val="-2.8490028490028622E-3"/>
                  <c:y val="-3.3055564954556964E-2"/>
                </c:manualLayout>
              </c:layout>
              <c:tx>
                <c:rich>
                  <a:bodyPr/>
                  <a:lstStyle/>
                  <a:p>
                    <a:fld id="{F13D344F-5F7A-4A86-89CB-7C8E581167B1}" type="VALUE">
                      <a:rPr lang="en-US">
                        <a:solidFill>
                          <a:schemeClr val="tx1">
                            <a:lumMod val="75000"/>
                            <a:lumOff val="25000"/>
                          </a:schemeClr>
                        </a:solidFill>
                      </a:rPr>
                      <a:pPr/>
                      <a:t>[VALUE]</a:t>
                    </a:fld>
                    <a:endParaRPr lang="en-IN"/>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0B80-4128-BA54-DA906C520CE2}"/>
                </c:ext>
              </c:extLst>
            </c:dLbl>
            <c:dLbl>
              <c:idx val="1"/>
              <c:layout>
                <c:manualLayout>
                  <c:x val="0"/>
                  <c:y val="-3.3055564954556964E-2"/>
                </c:manualLayout>
              </c:layout>
              <c:tx>
                <c:rich>
                  <a:bodyPr/>
                  <a:lstStyle/>
                  <a:p>
                    <a:fld id="{BCE653FE-59BC-4C99-9A48-04732818E9D7}" type="VALUE">
                      <a:rPr lang="en-US">
                        <a:solidFill>
                          <a:schemeClr val="tx1">
                            <a:lumMod val="75000"/>
                            <a:lumOff val="25000"/>
                          </a:schemeClr>
                        </a:solidFill>
                      </a:rPr>
                      <a:pPr/>
                      <a:t>[VALUE]</a:t>
                    </a:fld>
                    <a:endParaRPr lang="en-IN"/>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0B80-4128-BA54-DA906C520CE2}"/>
                </c:ext>
              </c:extLst>
            </c:dLbl>
            <c:dLbl>
              <c:idx val="2"/>
              <c:tx>
                <c:rich>
                  <a:bodyPr/>
                  <a:lstStyle/>
                  <a:p>
                    <a:fld id="{761775A8-CFD3-4A09-BFE5-E642D4693374}" type="VALUE">
                      <a:rPr lang="en-US">
                        <a:solidFill>
                          <a:schemeClr val="tx1">
                            <a:lumMod val="75000"/>
                            <a:lumOff val="25000"/>
                          </a:schemeClr>
                        </a:solidFill>
                      </a:rPr>
                      <a:pPr/>
                      <a:t>[VALUE]</a:t>
                    </a:fld>
                    <a:endParaRPr lang="en-IN"/>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0B80-4128-BA54-DA906C520CE2}"/>
                </c:ext>
              </c:extLst>
            </c:dLbl>
            <c:dLbl>
              <c:idx val="3"/>
              <c:tx>
                <c:rich>
                  <a:bodyPr/>
                  <a:lstStyle/>
                  <a:p>
                    <a:fld id="{A21DDF52-5439-46F5-8548-DFD8E69B99E2}" type="VALUE">
                      <a:rPr lang="en-US">
                        <a:solidFill>
                          <a:schemeClr val="tx1">
                            <a:lumMod val="75000"/>
                            <a:lumOff val="25000"/>
                          </a:schemeClr>
                        </a:solidFill>
                      </a:rPr>
                      <a:pPr/>
                      <a:t>[VALUE]</a:t>
                    </a:fld>
                    <a:endParaRPr lang="en-IN"/>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4-0B80-4128-BA54-DA906C520CE2}"/>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'Pivot tables'!$A$30:$A$34</c:f>
              <c:strCache>
                <c:ptCount val="4"/>
                <c:pt idx="0">
                  <c:v>Clothing</c:v>
                </c:pt>
                <c:pt idx="1">
                  <c:v>Electronics</c:v>
                </c:pt>
                <c:pt idx="2">
                  <c:v>Home &amp; Kitchen</c:v>
                </c:pt>
                <c:pt idx="3">
                  <c:v>Toys</c:v>
                </c:pt>
              </c:strCache>
            </c:strRef>
          </c:cat>
          <c:val>
            <c:numRef>
              <c:f>'Pivot tables'!$C$30:$C$34</c:f>
              <c:numCache>
                <c:formatCode>[$$-409]#,##0.00</c:formatCode>
                <c:ptCount val="4"/>
                <c:pt idx="0">
                  <c:v>9569.8142999999909</c:v>
                </c:pt>
                <c:pt idx="1">
                  <c:v>18547.441799999997</c:v>
                </c:pt>
                <c:pt idx="2">
                  <c:v>21511.831200000026</c:v>
                </c:pt>
                <c:pt idx="3">
                  <c:v>23715.572500000028</c:v>
                </c:pt>
              </c:numCache>
            </c:numRef>
          </c:val>
          <c:extLst>
            <c:ext xmlns:c16="http://schemas.microsoft.com/office/drawing/2014/chart" uri="{C3380CC4-5D6E-409C-BE32-E72D297353CC}">
              <c16:uniqueId val="{00000005-0B80-4128-BA54-DA906C520CE2}"/>
            </c:ext>
          </c:extLst>
        </c:ser>
        <c:dLbls>
          <c:dLblPos val="ctr"/>
          <c:showLegendKey val="0"/>
          <c:showVal val="1"/>
          <c:showCatName val="0"/>
          <c:showSerName val="0"/>
          <c:showPercent val="0"/>
          <c:showBubbleSize val="0"/>
        </c:dLbls>
        <c:gapWidth val="79"/>
        <c:overlap val="100"/>
        <c:axId val="1719865647"/>
        <c:axId val="1719854607"/>
      </c:barChart>
      <c:catAx>
        <c:axId val="171986564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cap="all" spc="120" normalizeH="0" baseline="0">
                <a:solidFill>
                  <a:schemeClr val="tx1">
                    <a:lumMod val="65000"/>
                    <a:lumOff val="35000"/>
                  </a:schemeClr>
                </a:solidFill>
                <a:latin typeface="+mn-lt"/>
                <a:ea typeface="+mn-ea"/>
                <a:cs typeface="+mn-cs"/>
              </a:defRPr>
            </a:pPr>
            <a:endParaRPr lang="en-US"/>
          </a:p>
        </c:txPr>
        <c:crossAx val="1719854607"/>
        <c:crosses val="autoZero"/>
        <c:auto val="1"/>
        <c:lblAlgn val="ctr"/>
        <c:lblOffset val="100"/>
        <c:noMultiLvlLbl val="0"/>
      </c:catAx>
      <c:valAx>
        <c:axId val="1719854607"/>
        <c:scaling>
          <c:orientation val="minMax"/>
        </c:scaling>
        <c:delete val="1"/>
        <c:axPos val="l"/>
        <c:numFmt formatCode="[$$-409]#,##0.00" sourceLinked="1"/>
        <c:majorTickMark val="none"/>
        <c:minorTickMark val="none"/>
        <c:tickLblPos val="nextTo"/>
        <c:crossAx val="1719865647"/>
        <c:crosses val="autoZero"/>
        <c:crossBetween val="between"/>
      </c:valAx>
      <c:spPr>
        <a:noFill/>
        <a:ln>
          <a:noFill/>
        </a:ln>
        <a:effectLst/>
      </c:spPr>
    </c:plotArea>
    <c:legend>
      <c:legendPos val="t"/>
      <c:layout>
        <c:manualLayout>
          <c:xMode val="edge"/>
          <c:yMode val="edge"/>
          <c:x val="0.36185168983506683"/>
          <c:y val="3.1270358306188926E-2"/>
          <c:w val="0.29275736366287547"/>
          <c:h val="4.651527353869040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[RetailSalesData_StablePricing(AutoRecovered).xlsx]Pivot tables!PivotTable7</c:name>
    <c:fmtId val="8"/>
  </c:pivotSource>
  <c:chart>
    <c:autoTitleDeleted val="1"/>
    <c:pivotFmts>
      <c:pivotFmt>
        <c:idx val="0"/>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1"/>
        <c:spPr>
          <a:solidFill>
            <a:schemeClr val="accent2"/>
          </a:solidFill>
          <a:ln w="19050">
            <a:solidFill>
              <a:schemeClr val="lt1"/>
            </a:solidFill>
          </a:ln>
          <a:effectLst/>
        </c:spPr>
        <c:dLbl>
          <c:idx val="0"/>
          <c:layout>
            <c:manualLayout>
              <c:x val="-5.2505358705161854E-2"/>
              <c:y val="2.8980752405949255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2"/>
        <c:spPr>
          <a:solidFill>
            <a:schemeClr val="accent2"/>
          </a:solidFill>
          <a:ln w="19050">
            <a:solidFill>
              <a:schemeClr val="lt1"/>
            </a:solidFill>
          </a:ln>
          <a:effectLst/>
        </c:spPr>
        <c:dLbl>
          <c:idx val="0"/>
          <c:layout>
            <c:manualLayout>
              <c:x val="2.1557633420822397E-2"/>
              <c:y val="-4.2664041994750657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3"/>
        <c:spPr>
          <a:solidFill>
            <a:schemeClr val="accent2"/>
          </a:solidFill>
          <a:ln w="19050">
            <a:solidFill>
              <a:schemeClr val="lt1"/>
            </a:solidFill>
          </a:ln>
          <a:effectLst/>
        </c:spPr>
        <c:dLbl>
          <c:idx val="0"/>
          <c:layout>
            <c:manualLayout>
              <c:x val="-9.4918853893263336E-2"/>
              <c:y val="-0.13610418489355497"/>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4"/>
        <c:spPr>
          <a:solidFill>
            <a:schemeClr val="accent2"/>
          </a:solidFill>
          <a:ln w="19050">
            <a:solidFill>
              <a:schemeClr val="lt1"/>
            </a:solidFill>
          </a:ln>
          <a:effectLst/>
        </c:spPr>
        <c:dLbl>
          <c:idx val="0"/>
          <c:layout>
            <c:manualLayout>
              <c:x val="-7.5402230971128636E-2"/>
              <c:y val="-1.9814814814814816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5"/>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6"/>
        <c:spPr>
          <a:solidFill>
            <a:schemeClr val="accent2"/>
          </a:solidFill>
          <a:ln w="19050">
            <a:solidFill>
              <a:schemeClr val="lt1"/>
            </a:solidFill>
          </a:ln>
          <a:effectLst/>
        </c:spPr>
      </c:pivotFmt>
      <c:pivotFmt>
        <c:idx val="7"/>
        <c:spPr>
          <a:solidFill>
            <a:schemeClr val="accent2"/>
          </a:solidFill>
          <a:ln w="19050">
            <a:solidFill>
              <a:schemeClr val="lt1"/>
            </a:solidFill>
          </a:ln>
          <a:effectLst/>
        </c:spPr>
        <c:dLbl>
          <c:idx val="0"/>
          <c:layout>
            <c:manualLayout>
              <c:x val="-7.5402230971128636E-2"/>
              <c:y val="-1.9814814814814816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8"/>
        <c:spPr>
          <a:solidFill>
            <a:schemeClr val="accent2"/>
          </a:solidFill>
          <a:ln w="19050">
            <a:solidFill>
              <a:schemeClr val="lt1"/>
            </a:solidFill>
          </a:ln>
          <a:effectLst/>
        </c:spPr>
        <c:dLbl>
          <c:idx val="0"/>
          <c:layout>
            <c:manualLayout>
              <c:x val="-9.4918853893263336E-2"/>
              <c:y val="-0.13610418489355497"/>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9"/>
        <c:spPr>
          <a:solidFill>
            <a:schemeClr val="accent2"/>
          </a:solidFill>
          <a:ln w="19050">
            <a:solidFill>
              <a:schemeClr val="lt1"/>
            </a:solidFill>
          </a:ln>
          <a:effectLst/>
        </c:spPr>
        <c:dLbl>
          <c:idx val="0"/>
          <c:layout>
            <c:manualLayout>
              <c:x val="2.1557633420822397E-2"/>
              <c:y val="-4.2664041994750657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10"/>
        <c:spPr>
          <a:solidFill>
            <a:schemeClr val="accent2"/>
          </a:solidFill>
          <a:ln w="19050">
            <a:solidFill>
              <a:schemeClr val="lt1"/>
            </a:solidFill>
          </a:ln>
          <a:effectLst/>
        </c:spPr>
        <c:dLbl>
          <c:idx val="0"/>
          <c:layout>
            <c:manualLayout>
              <c:x val="-5.2505358705161854E-2"/>
              <c:y val="2.8980752405949255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11"/>
        <c:spPr>
          <a:solidFill>
            <a:schemeClr val="accent2"/>
          </a:solidFill>
          <a:ln w="19050">
            <a:solidFill>
              <a:schemeClr val="lt1"/>
            </a:solidFill>
          </a:ln>
          <a:effectLst/>
        </c:spPr>
      </c:pivotFmt>
      <c:pivotFmt>
        <c:idx val="12"/>
        <c:spPr>
          <a:solidFill>
            <a:schemeClr val="accent2"/>
          </a:solidFill>
          <a:ln w="19050">
            <a:solidFill>
              <a:schemeClr val="lt1"/>
            </a:solidFill>
          </a:ln>
          <a:effectLst/>
        </c:spPr>
      </c:pivotFmt>
      <c:pivotFmt>
        <c:idx val="13"/>
        <c:spPr>
          <a:solidFill>
            <a:schemeClr val="accent2"/>
          </a:solidFill>
          <a:ln w="19050">
            <a:solidFill>
              <a:schemeClr val="lt1"/>
            </a:solidFill>
          </a:ln>
          <a:effectLst/>
        </c:spPr>
      </c:pivotFmt>
      <c:pivotFmt>
        <c:idx val="14"/>
        <c:spPr>
          <a:solidFill>
            <a:schemeClr val="accent2"/>
          </a:solidFill>
          <a:ln w="19050">
            <a:solidFill>
              <a:schemeClr val="lt1"/>
            </a:solidFill>
          </a:ln>
          <a:effectLst/>
        </c:spPr>
      </c:pivotFmt>
      <c:pivotFmt>
        <c:idx val="15"/>
        <c:spPr>
          <a:solidFill>
            <a:schemeClr val="accent2"/>
          </a:solidFill>
          <a:ln w="19050">
            <a:solidFill>
              <a:schemeClr val="lt1"/>
            </a:solidFill>
          </a:ln>
          <a:effectLst/>
        </c:spPr>
      </c:pivotFmt>
      <c:pivotFmt>
        <c:idx val="16"/>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17"/>
        <c:spPr>
          <a:solidFill>
            <a:schemeClr val="accent2"/>
          </a:solidFill>
          <a:ln w="19050">
            <a:solidFill>
              <a:schemeClr val="lt1"/>
            </a:solidFill>
          </a:ln>
          <a:effectLst/>
        </c:spPr>
      </c:pivotFmt>
      <c:pivotFmt>
        <c:idx val="18"/>
        <c:spPr>
          <a:solidFill>
            <a:schemeClr val="accent2"/>
          </a:solidFill>
          <a:ln w="19050">
            <a:solidFill>
              <a:schemeClr val="lt1"/>
            </a:solidFill>
          </a:ln>
          <a:effectLst/>
        </c:spPr>
        <c:dLbl>
          <c:idx val="0"/>
          <c:layout>
            <c:manualLayout>
              <c:x val="-7.5402230971128636E-2"/>
              <c:y val="-1.9814814814814816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19"/>
        <c:spPr>
          <a:solidFill>
            <a:schemeClr val="accent2"/>
          </a:solidFill>
          <a:ln w="19050">
            <a:solidFill>
              <a:schemeClr val="lt1"/>
            </a:solidFill>
          </a:ln>
          <a:effectLst/>
        </c:spPr>
        <c:dLbl>
          <c:idx val="0"/>
          <c:layout>
            <c:manualLayout>
              <c:x val="-9.4918853893263336E-2"/>
              <c:y val="-0.13610418489355497"/>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20"/>
        <c:spPr>
          <a:solidFill>
            <a:schemeClr val="accent2"/>
          </a:solidFill>
          <a:ln w="19050">
            <a:solidFill>
              <a:schemeClr val="lt1"/>
            </a:solidFill>
          </a:ln>
          <a:effectLst/>
        </c:spPr>
        <c:dLbl>
          <c:idx val="0"/>
          <c:layout>
            <c:manualLayout>
              <c:x val="2.1557633420822397E-2"/>
              <c:y val="-4.2664041994750657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21"/>
        <c:spPr>
          <a:solidFill>
            <a:schemeClr val="accent2"/>
          </a:solidFill>
          <a:ln w="19050">
            <a:solidFill>
              <a:schemeClr val="lt1"/>
            </a:solidFill>
          </a:ln>
          <a:effectLst/>
        </c:spPr>
        <c:dLbl>
          <c:idx val="0"/>
          <c:layout>
            <c:manualLayout>
              <c:x val="-5.2505358705161854E-2"/>
              <c:y val="2.8980752405949255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22"/>
        <c:spPr>
          <a:solidFill>
            <a:schemeClr val="accent2"/>
          </a:solidFill>
          <a:ln w="19050">
            <a:solidFill>
              <a:schemeClr val="lt1"/>
            </a:solidFill>
          </a:ln>
          <a:effectLst/>
        </c:spPr>
      </c:pivotFmt>
      <c:pivotFmt>
        <c:idx val="23"/>
        <c:spPr>
          <a:solidFill>
            <a:schemeClr val="accent2"/>
          </a:solidFill>
          <a:ln w="19050">
            <a:solidFill>
              <a:schemeClr val="lt1"/>
            </a:solidFill>
          </a:ln>
          <a:effectLst/>
        </c:spPr>
      </c:pivotFmt>
      <c:pivotFmt>
        <c:idx val="24"/>
        <c:spPr>
          <a:solidFill>
            <a:schemeClr val="accent2"/>
          </a:solidFill>
          <a:ln w="19050">
            <a:solidFill>
              <a:schemeClr val="lt1"/>
            </a:solidFill>
          </a:ln>
          <a:effectLst/>
        </c:spPr>
      </c:pivotFmt>
      <c:pivotFmt>
        <c:idx val="25"/>
        <c:spPr>
          <a:solidFill>
            <a:schemeClr val="accent2"/>
          </a:solidFill>
          <a:ln w="19050">
            <a:solidFill>
              <a:schemeClr val="lt1"/>
            </a:solidFill>
          </a:ln>
          <a:effectLst/>
        </c:spPr>
      </c:pivotFmt>
      <c:pivotFmt>
        <c:idx val="26"/>
        <c:spPr>
          <a:solidFill>
            <a:schemeClr val="accent2"/>
          </a:solidFill>
          <a:ln w="19050">
            <a:solidFill>
              <a:schemeClr val="lt1"/>
            </a:solidFill>
          </a:ln>
          <a:effectLst/>
        </c:spPr>
      </c:pivotFmt>
      <c:pivotFmt>
        <c:idx val="27"/>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28"/>
        <c:spPr>
          <a:solidFill>
            <a:schemeClr val="accent2"/>
          </a:solidFill>
          <a:ln w="19050">
            <a:solidFill>
              <a:schemeClr val="lt1"/>
            </a:solidFill>
          </a:ln>
          <a:effectLst/>
        </c:spPr>
      </c:pivotFmt>
      <c:pivotFmt>
        <c:idx val="29"/>
        <c:spPr>
          <a:solidFill>
            <a:schemeClr val="accent2"/>
          </a:solidFill>
          <a:ln w="19050">
            <a:solidFill>
              <a:schemeClr val="lt1"/>
            </a:solidFill>
          </a:ln>
          <a:effectLst/>
        </c:spPr>
        <c:dLbl>
          <c:idx val="0"/>
          <c:layout>
            <c:manualLayout>
              <c:x val="-7.5402230971128636E-2"/>
              <c:y val="-1.9814814814814816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30"/>
        <c:spPr>
          <a:solidFill>
            <a:schemeClr val="accent2"/>
          </a:solidFill>
          <a:ln w="19050">
            <a:solidFill>
              <a:schemeClr val="lt1"/>
            </a:solidFill>
          </a:ln>
          <a:effectLst/>
        </c:spPr>
        <c:dLbl>
          <c:idx val="0"/>
          <c:layout>
            <c:manualLayout>
              <c:x val="-9.4918853893263336E-2"/>
              <c:y val="-0.13610418489355497"/>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31"/>
        <c:spPr>
          <a:solidFill>
            <a:schemeClr val="accent2"/>
          </a:solidFill>
          <a:ln w="19050">
            <a:solidFill>
              <a:schemeClr val="lt1"/>
            </a:solidFill>
          </a:ln>
          <a:effectLst/>
        </c:spPr>
        <c:dLbl>
          <c:idx val="0"/>
          <c:layout>
            <c:manualLayout>
              <c:x val="2.1557633420822397E-2"/>
              <c:y val="-4.2664041994750657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32"/>
        <c:spPr>
          <a:solidFill>
            <a:schemeClr val="accent2"/>
          </a:solidFill>
          <a:ln w="19050">
            <a:solidFill>
              <a:schemeClr val="lt1"/>
            </a:solidFill>
          </a:ln>
          <a:effectLst/>
        </c:spPr>
        <c:dLbl>
          <c:idx val="0"/>
          <c:layout>
            <c:manualLayout>
              <c:x val="-5.2505358705161854E-2"/>
              <c:y val="2.8980752405949255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33"/>
        <c:spPr>
          <a:solidFill>
            <a:schemeClr val="accent2"/>
          </a:solidFill>
          <a:ln w="19050">
            <a:solidFill>
              <a:schemeClr val="lt1"/>
            </a:solidFill>
          </a:ln>
          <a:effectLst/>
        </c:spPr>
      </c:pivotFmt>
      <c:pivotFmt>
        <c:idx val="34"/>
        <c:spPr>
          <a:solidFill>
            <a:schemeClr val="accent2"/>
          </a:solidFill>
          <a:ln w="19050">
            <a:solidFill>
              <a:schemeClr val="lt1"/>
            </a:solidFill>
          </a:ln>
          <a:effectLst/>
        </c:spPr>
      </c:pivotFmt>
      <c:pivotFmt>
        <c:idx val="35"/>
        <c:spPr>
          <a:solidFill>
            <a:schemeClr val="accent2"/>
          </a:solidFill>
          <a:ln w="19050">
            <a:solidFill>
              <a:schemeClr val="lt1"/>
            </a:solidFill>
          </a:ln>
          <a:effectLst/>
        </c:spPr>
      </c:pivotFmt>
      <c:pivotFmt>
        <c:idx val="36"/>
        <c:spPr>
          <a:solidFill>
            <a:schemeClr val="accent2"/>
          </a:solidFill>
          <a:ln w="19050">
            <a:solidFill>
              <a:schemeClr val="lt1"/>
            </a:solidFill>
          </a:ln>
          <a:effectLst/>
        </c:spPr>
      </c:pivotFmt>
      <c:pivotFmt>
        <c:idx val="37"/>
        <c:spPr>
          <a:solidFill>
            <a:schemeClr val="accent2"/>
          </a:solidFill>
          <a:ln w="19050">
            <a:solidFill>
              <a:schemeClr val="lt1"/>
            </a:solidFill>
          </a:ln>
          <a:effectLst/>
        </c:spPr>
      </c:pivotFmt>
      <c:pivotFmt>
        <c:idx val="38"/>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39"/>
        <c:spPr>
          <a:solidFill>
            <a:schemeClr val="accent2"/>
          </a:solidFill>
          <a:ln w="19050">
            <a:solidFill>
              <a:schemeClr val="lt1"/>
            </a:solidFill>
          </a:ln>
          <a:effectLst/>
        </c:spPr>
      </c:pivotFmt>
      <c:pivotFmt>
        <c:idx val="40"/>
        <c:spPr>
          <a:solidFill>
            <a:schemeClr val="accent2"/>
          </a:solidFill>
          <a:ln w="19050">
            <a:solidFill>
              <a:schemeClr val="lt1"/>
            </a:solidFill>
          </a:ln>
          <a:effectLst/>
        </c:spPr>
        <c:dLbl>
          <c:idx val="0"/>
          <c:layout>
            <c:manualLayout>
              <c:x val="-7.5402230971128636E-2"/>
              <c:y val="-1.9814814814814816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41"/>
        <c:spPr>
          <a:solidFill>
            <a:schemeClr val="accent2"/>
          </a:solidFill>
          <a:ln w="19050">
            <a:solidFill>
              <a:schemeClr val="lt1"/>
            </a:solidFill>
          </a:ln>
          <a:effectLst/>
        </c:spPr>
        <c:dLbl>
          <c:idx val="0"/>
          <c:layout>
            <c:manualLayout>
              <c:x val="-9.4918853893263336E-2"/>
              <c:y val="-0.13610418489355497"/>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42"/>
        <c:spPr>
          <a:solidFill>
            <a:schemeClr val="accent2"/>
          </a:solidFill>
          <a:ln w="19050">
            <a:solidFill>
              <a:schemeClr val="lt1"/>
            </a:solidFill>
          </a:ln>
          <a:effectLst/>
        </c:spPr>
        <c:dLbl>
          <c:idx val="0"/>
          <c:layout>
            <c:manualLayout>
              <c:x val="2.1557633420822397E-2"/>
              <c:y val="-4.2664041994750657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43"/>
        <c:spPr>
          <a:solidFill>
            <a:schemeClr val="accent2"/>
          </a:solidFill>
          <a:ln w="19050">
            <a:solidFill>
              <a:schemeClr val="lt1"/>
            </a:solidFill>
          </a:ln>
          <a:effectLst/>
        </c:spPr>
        <c:dLbl>
          <c:idx val="0"/>
          <c:layout>
            <c:manualLayout>
              <c:x val="-5.2505358705161854E-2"/>
              <c:y val="2.8980752405949255E-2"/>
            </c:manualLayout>
          </c:layout>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extLst>
            <c:ext xmlns:c15="http://schemas.microsoft.com/office/drawing/2012/chart" uri="{CE6537A1-D6FC-4f65-9D91-7224C49458BB}"/>
          </c:extLst>
        </c:dLbl>
      </c:pivotFmt>
      <c:pivotFmt>
        <c:idx val="44"/>
        <c:spPr>
          <a:solidFill>
            <a:schemeClr val="accent2"/>
          </a:solidFill>
          <a:ln w="19050">
            <a:solidFill>
              <a:schemeClr val="lt1"/>
            </a:solidFill>
          </a:ln>
          <a:effectLst/>
        </c:spPr>
      </c:pivotFmt>
      <c:pivotFmt>
        <c:idx val="45"/>
        <c:spPr>
          <a:solidFill>
            <a:schemeClr val="accent2"/>
          </a:solidFill>
          <a:ln w="19050">
            <a:solidFill>
              <a:schemeClr val="lt1"/>
            </a:solidFill>
          </a:ln>
          <a:effectLst/>
        </c:spPr>
      </c:pivotFmt>
      <c:pivotFmt>
        <c:idx val="46"/>
        <c:spPr>
          <a:solidFill>
            <a:schemeClr val="accent2"/>
          </a:solidFill>
          <a:ln w="19050">
            <a:solidFill>
              <a:schemeClr val="lt1"/>
            </a:solidFill>
          </a:ln>
          <a:effectLst/>
        </c:spPr>
      </c:pivotFmt>
      <c:pivotFmt>
        <c:idx val="47"/>
        <c:spPr>
          <a:solidFill>
            <a:schemeClr val="accent2"/>
          </a:solidFill>
          <a:ln w="19050">
            <a:solidFill>
              <a:schemeClr val="lt1"/>
            </a:solidFill>
          </a:ln>
          <a:effectLst/>
        </c:spPr>
      </c:pivotFmt>
      <c:pivotFmt>
        <c:idx val="48"/>
        <c:spPr>
          <a:solidFill>
            <a:schemeClr val="accent2"/>
          </a:solidFill>
          <a:ln w="19050">
            <a:solidFill>
              <a:schemeClr val="lt1"/>
            </a:solidFill>
          </a:ln>
          <a:effectLst/>
        </c:spPr>
      </c:pivotFmt>
    </c:pivotFmts>
    <c:plotArea>
      <c:layout/>
      <c:ofPieChart>
        <c:ofPieType val="bar"/>
        <c:varyColors val="1"/>
        <c:ser>
          <c:idx val="0"/>
          <c:order val="0"/>
          <c:tx>
            <c:strRef>
              <c:f>'Pivot tables'!$B$44</c:f>
              <c:strCache>
                <c:ptCount val="1"/>
                <c:pt idx="0">
                  <c:v>Total</c:v>
                </c:pt>
              </c:strCache>
            </c:strRef>
          </c:tx>
          <c:dPt>
            <c:idx val="0"/>
            <c:bubble3D val="0"/>
            <c:spPr>
              <a:solidFill>
                <a:schemeClr val="accent2"/>
              </a:solidFill>
              <a:ln w="19050">
                <a:solidFill>
                  <a:schemeClr val="lt1"/>
                </a:solidFill>
              </a:ln>
              <a:effectLst/>
            </c:spPr>
            <c:extLst>
              <c:ext xmlns:c16="http://schemas.microsoft.com/office/drawing/2014/chart" uri="{C3380CC4-5D6E-409C-BE32-E72D297353CC}">
                <c16:uniqueId val="{00000001-24C9-4ADD-BCFB-A4614EACDC20}"/>
              </c:ext>
            </c:extLst>
          </c:dPt>
          <c:dPt>
            <c:idx val="1"/>
            <c:bubble3D val="0"/>
            <c:spPr>
              <a:solidFill>
                <a:schemeClr val="accent4"/>
              </a:solidFill>
              <a:ln w="19050">
                <a:solidFill>
                  <a:schemeClr val="lt1"/>
                </a:solidFill>
              </a:ln>
              <a:effectLst/>
            </c:spPr>
            <c:extLst>
              <c:ext xmlns:c16="http://schemas.microsoft.com/office/drawing/2014/chart" uri="{C3380CC4-5D6E-409C-BE32-E72D297353CC}">
                <c16:uniqueId val="{00000003-24C9-4ADD-BCFB-A4614EACDC20}"/>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5-24C9-4ADD-BCFB-A4614EACDC20}"/>
              </c:ext>
            </c:extLst>
          </c:dPt>
          <c:dPt>
            <c:idx val="3"/>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7-24C9-4ADD-BCFB-A4614EACDC20}"/>
              </c:ext>
            </c:extLst>
          </c:dPt>
          <c:dPt>
            <c:idx val="4"/>
            <c:bubble3D val="0"/>
            <c:spPr>
              <a:solidFill>
                <a:schemeClr val="accent4">
                  <a:lumMod val="60000"/>
                </a:schemeClr>
              </a:solidFill>
              <a:ln w="19050">
                <a:solidFill>
                  <a:schemeClr val="lt1"/>
                </a:solidFill>
              </a:ln>
              <a:effectLst/>
            </c:spPr>
            <c:extLst>
              <c:ext xmlns:c16="http://schemas.microsoft.com/office/drawing/2014/chart" uri="{C3380CC4-5D6E-409C-BE32-E72D297353CC}">
                <c16:uniqueId val="{00000009-24C9-4ADD-BCFB-A4614EACDC20}"/>
              </c:ext>
            </c:extLst>
          </c:dPt>
          <c:dPt>
            <c:idx val="5"/>
            <c:bubble3D val="0"/>
            <c:spPr>
              <a:solidFill>
                <a:schemeClr val="accent6">
                  <a:lumMod val="60000"/>
                </a:schemeClr>
              </a:solidFill>
              <a:ln w="19050">
                <a:solidFill>
                  <a:schemeClr val="lt1"/>
                </a:solidFill>
              </a:ln>
              <a:effectLst/>
            </c:spPr>
            <c:extLst>
              <c:ext xmlns:c16="http://schemas.microsoft.com/office/drawing/2014/chart" uri="{C3380CC4-5D6E-409C-BE32-E72D297353CC}">
                <c16:uniqueId val="{0000000B-24C9-4ADD-BCFB-A4614EACDC20}"/>
              </c:ext>
            </c:extLst>
          </c:dPt>
          <c:dPt>
            <c:idx val="6"/>
            <c:bubble3D val="0"/>
            <c:spPr>
              <a:solidFill>
                <a:schemeClr val="accent2">
                  <a:lumMod val="80000"/>
                  <a:lumOff val="20000"/>
                </a:schemeClr>
              </a:solidFill>
              <a:ln w="19050">
                <a:solidFill>
                  <a:schemeClr val="lt1"/>
                </a:solidFill>
              </a:ln>
              <a:effectLst/>
            </c:spPr>
            <c:extLst>
              <c:ext xmlns:c16="http://schemas.microsoft.com/office/drawing/2014/chart" uri="{C3380CC4-5D6E-409C-BE32-E72D297353CC}">
                <c16:uniqueId val="{0000000D-24C9-4ADD-BCFB-A4614EACDC20}"/>
              </c:ext>
            </c:extLst>
          </c:dPt>
          <c:dPt>
            <c:idx val="7"/>
            <c:bubble3D val="0"/>
            <c:spPr>
              <a:solidFill>
                <a:schemeClr val="accent4">
                  <a:lumMod val="80000"/>
                  <a:lumOff val="20000"/>
                </a:schemeClr>
              </a:solidFill>
              <a:ln w="19050">
                <a:solidFill>
                  <a:schemeClr val="lt1"/>
                </a:solidFill>
              </a:ln>
              <a:effectLst/>
            </c:spPr>
            <c:extLst>
              <c:ext xmlns:c16="http://schemas.microsoft.com/office/drawing/2014/chart" uri="{C3380CC4-5D6E-409C-BE32-E72D297353CC}">
                <c16:uniqueId val="{0000000F-24C9-4ADD-BCFB-A4614EACDC20}"/>
              </c:ext>
            </c:extLst>
          </c:dPt>
          <c:dPt>
            <c:idx val="8"/>
            <c:bubble3D val="0"/>
            <c:spPr>
              <a:solidFill>
                <a:schemeClr val="accent6">
                  <a:lumMod val="80000"/>
                  <a:lumOff val="20000"/>
                </a:schemeClr>
              </a:solidFill>
              <a:ln w="19050">
                <a:solidFill>
                  <a:schemeClr val="lt1"/>
                </a:solidFill>
              </a:ln>
              <a:effectLst/>
            </c:spPr>
            <c:extLst>
              <c:ext xmlns:c16="http://schemas.microsoft.com/office/drawing/2014/chart" uri="{C3380CC4-5D6E-409C-BE32-E72D297353CC}">
                <c16:uniqueId val="{00000011-24C9-4ADD-BCFB-A4614EACDC20}"/>
              </c:ext>
            </c:extLst>
          </c:dPt>
          <c:dPt>
            <c:idx val="9"/>
            <c:bubble3D val="0"/>
            <c:spPr>
              <a:solidFill>
                <a:schemeClr val="accent2">
                  <a:lumMod val="80000"/>
                </a:schemeClr>
              </a:solidFill>
              <a:ln w="19050">
                <a:solidFill>
                  <a:schemeClr val="lt1"/>
                </a:solidFill>
              </a:ln>
              <a:effectLst/>
            </c:spPr>
            <c:extLst>
              <c:ext xmlns:c16="http://schemas.microsoft.com/office/drawing/2014/chart" uri="{C3380CC4-5D6E-409C-BE32-E72D297353CC}">
                <c16:uniqueId val="{00000013-24C9-4ADD-BCFB-A4614EACDC20}"/>
              </c:ext>
            </c:extLst>
          </c:dPt>
          <c:dPt>
            <c:idx val="10"/>
            <c:bubble3D val="0"/>
            <c:spPr>
              <a:solidFill>
                <a:schemeClr val="accent4">
                  <a:lumMod val="80000"/>
                </a:schemeClr>
              </a:solidFill>
              <a:ln w="19050">
                <a:solidFill>
                  <a:schemeClr val="lt1"/>
                </a:solidFill>
              </a:ln>
              <a:effectLst/>
            </c:spPr>
            <c:extLst>
              <c:ext xmlns:c16="http://schemas.microsoft.com/office/drawing/2014/chart" uri="{C3380CC4-5D6E-409C-BE32-E72D297353CC}">
                <c16:uniqueId val="{00000015-24C9-4ADD-BCFB-A4614EACDC20}"/>
              </c:ext>
            </c:extLst>
          </c:dPt>
          <c:dLbls>
            <c:dLbl>
              <c:idx val="1"/>
              <c:layout>
                <c:manualLayout>
                  <c:x val="-7.5402230971128636E-2"/>
                  <c:y val="-1.9814814814814816E-2"/>
                </c:manualLayout>
              </c:layout>
              <c:dLblPos val="bestFit"/>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3-24C9-4ADD-BCFB-A4614EACDC20}"/>
                </c:ext>
              </c:extLst>
            </c:dLbl>
            <c:dLbl>
              <c:idx val="2"/>
              <c:layout>
                <c:manualLayout>
                  <c:x val="-9.4918853893263336E-2"/>
                  <c:y val="-0.13610418489355497"/>
                </c:manualLayout>
              </c:layout>
              <c:dLblPos val="bestFit"/>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5-24C9-4ADD-BCFB-A4614EACDC20}"/>
                </c:ext>
              </c:extLst>
            </c:dLbl>
            <c:dLbl>
              <c:idx val="3"/>
              <c:layout>
                <c:manualLayout>
                  <c:x val="2.1557633420822397E-2"/>
                  <c:y val="-4.2664041994750657E-2"/>
                </c:manualLayout>
              </c:layout>
              <c:dLblPos val="bestFit"/>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7-24C9-4ADD-BCFB-A4614EACDC20}"/>
                </c:ext>
              </c:extLst>
            </c:dLbl>
            <c:dLbl>
              <c:idx val="4"/>
              <c:layout>
                <c:manualLayout>
                  <c:x val="-5.2505358705161854E-2"/>
                  <c:y val="2.8980752405949255E-2"/>
                </c:manualLayout>
              </c:layout>
              <c:dLblPos val="bestFit"/>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9-24C9-4ADD-BCFB-A4614EACDC20}"/>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separator>
</c:separator>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'Pivot tables'!$A$45:$A$55</c:f>
              <c:strCache>
                <c:ptCount val="10"/>
                <c:pt idx="0">
                  <c:v>Accessories</c:v>
                </c:pt>
                <c:pt idx="1">
                  <c:v>Board Games</c:v>
                </c:pt>
                <c:pt idx="2">
                  <c:v>Educational</c:v>
                </c:pt>
                <c:pt idx="3">
                  <c:v>Furniture</c:v>
                </c:pt>
                <c:pt idx="4">
                  <c:v>Kids</c:v>
                </c:pt>
                <c:pt idx="5">
                  <c:v>Laptops</c:v>
                </c:pt>
                <c:pt idx="6">
                  <c:v>Men</c:v>
                </c:pt>
                <c:pt idx="7">
                  <c:v>Mobiles</c:v>
                </c:pt>
                <c:pt idx="8">
                  <c:v>Outdoor</c:v>
                </c:pt>
                <c:pt idx="9">
                  <c:v>Women</c:v>
                </c:pt>
              </c:strCache>
            </c:strRef>
          </c:cat>
          <c:val>
            <c:numRef>
              <c:f>'Pivot tables'!$B$45:$B$55</c:f>
              <c:numCache>
                <c:formatCode>[$$-409]#,##0.00</c:formatCode>
                <c:ptCount val="10"/>
                <c:pt idx="0">
                  <c:v>47367.396000000008</c:v>
                </c:pt>
                <c:pt idx="1">
                  <c:v>115406.94430000006</c:v>
                </c:pt>
                <c:pt idx="2">
                  <c:v>25375.116799999996</c:v>
                </c:pt>
                <c:pt idx="3">
                  <c:v>363865.02119999984</c:v>
                </c:pt>
                <c:pt idx="4">
                  <c:v>74675.191399999996</c:v>
                </c:pt>
                <c:pt idx="5">
                  <c:v>61153.09770000002</c:v>
                </c:pt>
                <c:pt idx="6">
                  <c:v>62866.551899999984</c:v>
                </c:pt>
                <c:pt idx="7">
                  <c:v>89026.308100000009</c:v>
                </c:pt>
                <c:pt idx="8">
                  <c:v>183400.78139999995</c:v>
                </c:pt>
                <c:pt idx="9">
                  <c:v>29761.951000000005</c:v>
                </c:pt>
              </c:numCache>
            </c:numRef>
          </c:val>
          <c:extLst>
            <c:ext xmlns:c16="http://schemas.microsoft.com/office/drawing/2014/chart" uri="{C3380CC4-5D6E-409C-BE32-E72D297353CC}">
              <c16:uniqueId val="{00000016-24C9-4ADD-BCFB-A4614EACDC20}"/>
            </c:ext>
          </c:extLst>
        </c:ser>
        <c:dLbls>
          <c:dLblPos val="bestFit"/>
          <c:showLegendKey val="0"/>
          <c:showVal val="1"/>
          <c:showCatName val="0"/>
          <c:showSerName val="0"/>
          <c:showPercent val="0"/>
          <c:showBubbleSize val="0"/>
          <c:showLeaderLines val="1"/>
        </c:dLbls>
        <c:gapWidth val="100"/>
        <c:secondPieSize val="75"/>
        <c:serLines>
          <c:spPr>
            <a:ln w="9525" cap="flat" cmpd="sng" algn="ctr">
              <a:solidFill>
                <a:schemeClr val="tx1">
                  <a:lumMod val="35000"/>
                  <a:lumOff val="65000"/>
                </a:schemeClr>
              </a:solidFill>
              <a:round/>
            </a:ln>
            <a:effectLst/>
          </c:spPr>
        </c:serLines>
      </c:of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[RetailSalesData_StablePricing(AutoRecovered).xlsx]Pivot tables!PivotTable5</c:name>
    <c:fmtId val="26"/>
  </c:pivotSource>
  <c:chart>
    <c:autoTitleDeleted val="1"/>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pivotFmt>
      <c:pivotFmt>
        <c:idx val="4"/>
        <c:spPr>
          <a:solidFill>
            <a:schemeClr val="accent2"/>
          </a:solidFill>
          <a:ln>
            <a:noFill/>
          </a:ln>
          <a:effectLst/>
        </c:spPr>
        <c:marker>
          <c:symbol val="none"/>
        </c:marker>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4019622954960972"/>
          <c:y val="0.17514720689875704"/>
          <c:w val="0.82989621199470798"/>
          <c:h val="0.58923028528168975"/>
        </c:manualLayout>
      </c:layout>
      <c:barChart>
        <c:barDir val="col"/>
        <c:grouping val="clustered"/>
        <c:varyColors val="0"/>
        <c:ser>
          <c:idx val="0"/>
          <c:order val="0"/>
          <c:tx>
            <c:strRef>
              <c:f>'Pivot tables'!$I$1:$I$2</c:f>
              <c:strCache>
                <c:ptCount val="1"/>
                <c:pt idx="0">
                  <c:v>Active</c:v>
                </c:pt>
              </c:strCache>
            </c:strRef>
          </c:tx>
          <c:spPr>
            <a:solidFill>
              <a:schemeClr val="accent2"/>
            </a:solidFill>
            <a:ln>
              <a:noFill/>
            </a:ln>
            <a:effectLst/>
          </c:spPr>
          <c:invertIfNegative val="0"/>
          <c:cat>
            <c:multiLvlStrRef>
              <c:f>'Pivot tables'!$H$3:$H$25</c:f>
              <c:multiLvlStrCache>
                <c:ptCount val="20"/>
                <c:lvl>
                  <c:pt idx="0">
                    <c:v>204</c:v>
                  </c:pt>
                  <c:pt idx="1">
                    <c:v>205</c:v>
                  </c:pt>
                  <c:pt idx="2">
                    <c:v>206</c:v>
                  </c:pt>
                  <c:pt idx="3">
                    <c:v>208</c:v>
                  </c:pt>
                  <c:pt idx="4">
                    <c:v>209</c:v>
                  </c:pt>
                  <c:pt idx="5">
                    <c:v>210</c:v>
                  </c:pt>
                  <c:pt idx="6">
                    <c:v>213</c:v>
                  </c:pt>
                  <c:pt idx="7">
                    <c:v>218</c:v>
                  </c:pt>
                  <c:pt idx="8">
                    <c:v>201</c:v>
                  </c:pt>
                  <c:pt idx="9">
                    <c:v>202</c:v>
                  </c:pt>
                  <c:pt idx="10">
                    <c:v>203</c:v>
                  </c:pt>
                  <c:pt idx="11">
                    <c:v>207</c:v>
                  </c:pt>
                  <c:pt idx="12">
                    <c:v>211</c:v>
                  </c:pt>
                  <c:pt idx="13">
                    <c:v>212</c:v>
                  </c:pt>
                  <c:pt idx="14">
                    <c:v>214</c:v>
                  </c:pt>
                  <c:pt idx="15">
                    <c:v>215</c:v>
                  </c:pt>
                  <c:pt idx="16">
                    <c:v>216</c:v>
                  </c:pt>
                  <c:pt idx="17">
                    <c:v>217</c:v>
                  </c:pt>
                  <c:pt idx="18">
                    <c:v>219</c:v>
                  </c:pt>
                  <c:pt idx="19">
                    <c:v>220</c:v>
                  </c:pt>
                </c:lvl>
                <c:lvl>
                  <c:pt idx="0">
                    <c:v>2021</c:v>
                  </c:pt>
                  <c:pt idx="8">
                    <c:v>2022</c:v>
                  </c:pt>
                </c:lvl>
              </c:multiLvlStrCache>
            </c:multiLvlStrRef>
          </c:cat>
          <c:val>
            <c:numRef>
              <c:f>'Pivot tables'!$I$3:$I$25</c:f>
              <c:numCache>
                <c:formatCode>[$$-409]#,##0.00</c:formatCode>
                <c:ptCount val="20"/>
                <c:pt idx="0">
                  <c:v>5348.2647916666674</c:v>
                </c:pt>
                <c:pt idx="1">
                  <c:v>8076.1624499999989</c:v>
                </c:pt>
                <c:pt idx="2">
                  <c:v>2546.9414500000007</c:v>
                </c:pt>
                <c:pt idx="3">
                  <c:v>1532.5465333333332</c:v>
                </c:pt>
                <c:pt idx="5">
                  <c:v>2173.0278916666662</c:v>
                </c:pt>
                <c:pt idx="6">
                  <c:v>2016.4564250000003</c:v>
                </c:pt>
                <c:pt idx="7">
                  <c:v>1377.9882833333334</c:v>
                </c:pt>
                <c:pt idx="8">
                  <c:v>1915.1163750000003</c:v>
                </c:pt>
                <c:pt idx="9">
                  <c:v>4548.8798666666662</c:v>
                </c:pt>
                <c:pt idx="10">
                  <c:v>1863.8678833333331</c:v>
                </c:pt>
                <c:pt idx="11">
                  <c:v>8981.7791500000039</c:v>
                </c:pt>
                <c:pt idx="12">
                  <c:v>4209.075291666667</c:v>
                </c:pt>
                <c:pt idx="13">
                  <c:v>2015.2018833333329</c:v>
                </c:pt>
                <c:pt idx="14">
                  <c:v>4774.5259999999989</c:v>
                </c:pt>
                <c:pt idx="15">
                  <c:v>4317.4977833333323</c:v>
                </c:pt>
                <c:pt idx="18">
                  <c:v>10171.43501666667</c:v>
                </c:pt>
                <c:pt idx="19">
                  <c:v>1560.9908583333338</c:v>
                </c:pt>
              </c:numCache>
            </c:numRef>
          </c:val>
          <c:extLst>
            <c:ext xmlns:c16="http://schemas.microsoft.com/office/drawing/2014/chart" uri="{C3380CC4-5D6E-409C-BE32-E72D297353CC}">
              <c16:uniqueId val="{00000000-4C70-4DB7-A07C-A2062B218236}"/>
            </c:ext>
          </c:extLst>
        </c:ser>
        <c:ser>
          <c:idx val="1"/>
          <c:order val="1"/>
          <c:tx>
            <c:strRef>
              <c:f>'Pivot tables'!$J$1:$J$2</c:f>
              <c:strCache>
                <c:ptCount val="1"/>
                <c:pt idx="0">
                  <c:v>Left</c:v>
                </c:pt>
              </c:strCache>
            </c:strRef>
          </c:tx>
          <c:spPr>
            <a:solidFill>
              <a:schemeClr val="accent4"/>
            </a:solidFill>
            <a:ln>
              <a:noFill/>
            </a:ln>
            <a:effectLst/>
          </c:spPr>
          <c:invertIfNegative val="0"/>
          <c:cat>
            <c:multiLvlStrRef>
              <c:f>'Pivot tables'!$H$3:$H$25</c:f>
              <c:multiLvlStrCache>
                <c:ptCount val="20"/>
                <c:lvl>
                  <c:pt idx="0">
                    <c:v>204</c:v>
                  </c:pt>
                  <c:pt idx="1">
                    <c:v>205</c:v>
                  </c:pt>
                  <c:pt idx="2">
                    <c:v>206</c:v>
                  </c:pt>
                  <c:pt idx="3">
                    <c:v>208</c:v>
                  </c:pt>
                  <c:pt idx="4">
                    <c:v>209</c:v>
                  </c:pt>
                  <c:pt idx="5">
                    <c:v>210</c:v>
                  </c:pt>
                  <c:pt idx="6">
                    <c:v>213</c:v>
                  </c:pt>
                  <c:pt idx="7">
                    <c:v>218</c:v>
                  </c:pt>
                  <c:pt idx="8">
                    <c:v>201</c:v>
                  </c:pt>
                  <c:pt idx="9">
                    <c:v>202</c:v>
                  </c:pt>
                  <c:pt idx="10">
                    <c:v>203</c:v>
                  </c:pt>
                  <c:pt idx="11">
                    <c:v>207</c:v>
                  </c:pt>
                  <c:pt idx="12">
                    <c:v>211</c:v>
                  </c:pt>
                  <c:pt idx="13">
                    <c:v>212</c:v>
                  </c:pt>
                  <c:pt idx="14">
                    <c:v>214</c:v>
                  </c:pt>
                  <c:pt idx="15">
                    <c:v>215</c:v>
                  </c:pt>
                  <c:pt idx="16">
                    <c:v>216</c:v>
                  </c:pt>
                  <c:pt idx="17">
                    <c:v>217</c:v>
                  </c:pt>
                  <c:pt idx="18">
                    <c:v>219</c:v>
                  </c:pt>
                  <c:pt idx="19">
                    <c:v>220</c:v>
                  </c:pt>
                </c:lvl>
                <c:lvl>
                  <c:pt idx="0">
                    <c:v>2021</c:v>
                  </c:pt>
                  <c:pt idx="8">
                    <c:v>2022</c:v>
                  </c:pt>
                </c:lvl>
              </c:multiLvlStrCache>
            </c:multiLvlStrRef>
          </c:cat>
          <c:val>
            <c:numRef>
              <c:f>'Pivot tables'!$J$3:$J$25</c:f>
              <c:numCache>
                <c:formatCode>General</c:formatCode>
                <c:ptCount val="20"/>
                <c:pt idx="4" formatCode="[$$-409]#,##0.00">
                  <c:v>1723.5018916666668</c:v>
                </c:pt>
                <c:pt idx="16" formatCode="[$$-409]#,##0.00">
                  <c:v>9407.5541333333349</c:v>
                </c:pt>
                <c:pt idx="17" formatCode="[$$-409]#,##0.00">
                  <c:v>9180.7160249999997</c:v>
                </c:pt>
              </c:numCache>
            </c:numRef>
          </c:val>
          <c:extLst>
            <c:ext xmlns:c16="http://schemas.microsoft.com/office/drawing/2014/chart" uri="{C3380CC4-5D6E-409C-BE32-E72D297353CC}">
              <c16:uniqueId val="{00000001-4C70-4DB7-A07C-A2062B218236}"/>
            </c:ext>
          </c:extLst>
        </c:ser>
        <c:dLbls>
          <c:showLegendKey val="0"/>
          <c:showVal val="0"/>
          <c:showCatName val="0"/>
          <c:showSerName val="0"/>
          <c:showPercent val="0"/>
          <c:showBubbleSize val="0"/>
        </c:dLbls>
        <c:gapWidth val="219"/>
        <c:overlap val="-27"/>
        <c:axId val="1719902607"/>
        <c:axId val="1719903087"/>
      </c:barChart>
      <c:catAx>
        <c:axId val="1719902607"/>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Joining</a:t>
                </a:r>
                <a:r>
                  <a:rPr lang="en-IN" baseline="0"/>
                  <a:t> year</a:t>
                </a:r>
                <a:endParaRPr lang="en-IN"/>
              </a:p>
            </c:rich>
          </c:tx>
          <c:layout>
            <c:manualLayout>
              <c:xMode val="edge"/>
              <c:yMode val="edge"/>
              <c:x val="0.48132029988910441"/>
              <c:y val="0.9281984314787024"/>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19903087"/>
        <c:crosses val="autoZero"/>
        <c:auto val="1"/>
        <c:lblAlgn val="ctr"/>
        <c:lblOffset val="100"/>
        <c:noMultiLvlLbl val="0"/>
      </c:catAx>
      <c:valAx>
        <c:axId val="1719903087"/>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Sales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409]#,##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19902607"/>
        <c:crosses val="autoZero"/>
        <c:crossBetween val="between"/>
        <c:dispUnits>
          <c:builtInUnit val="tenThousands"/>
          <c:dispUnitsLbl>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[RetailSalesData_StablePricing(AutoRecovered).xlsx]Pivot tables!PivotTable11</c:name>
    <c:fmtId val="14"/>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4324959176519872"/>
          <c:y val="0.17171296296296296"/>
          <c:w val="0.82619478143407965"/>
          <c:h val="0.70696741032370958"/>
        </c:manualLayout>
      </c:layout>
      <c:barChart>
        <c:barDir val="col"/>
        <c:grouping val="clustered"/>
        <c:varyColors val="0"/>
        <c:ser>
          <c:idx val="0"/>
          <c:order val="0"/>
          <c:tx>
            <c:strRef>
              <c:f>'Pivot tables'!$I$28</c:f>
              <c:strCache>
                <c:ptCount val="1"/>
                <c:pt idx="0">
                  <c:v>Total</c:v>
                </c:pt>
              </c:strCache>
            </c:strRef>
          </c:tx>
          <c:spPr>
            <a:solidFill>
              <a:schemeClr val="accent1"/>
            </a:solidFill>
            <a:ln>
              <a:noFill/>
            </a:ln>
            <a:effectLst/>
          </c:spPr>
          <c:invertIfNegative val="0"/>
          <c:cat>
            <c:strRef>
              <c:f>'Pivot tables'!$H$29:$H$49</c:f>
              <c:strCache>
                <c:ptCount val="20"/>
                <c:pt idx="0">
                  <c:v>307</c:v>
                </c:pt>
                <c:pt idx="1">
                  <c:v>311</c:v>
                </c:pt>
                <c:pt idx="2">
                  <c:v>319</c:v>
                </c:pt>
                <c:pt idx="3">
                  <c:v>301</c:v>
                </c:pt>
                <c:pt idx="4">
                  <c:v>317</c:v>
                </c:pt>
                <c:pt idx="5">
                  <c:v>310</c:v>
                </c:pt>
                <c:pt idx="6">
                  <c:v>306</c:v>
                </c:pt>
                <c:pt idx="7">
                  <c:v>303</c:v>
                </c:pt>
                <c:pt idx="8">
                  <c:v>312</c:v>
                </c:pt>
                <c:pt idx="9">
                  <c:v>318</c:v>
                </c:pt>
                <c:pt idx="10">
                  <c:v>313</c:v>
                </c:pt>
                <c:pt idx="11">
                  <c:v>309</c:v>
                </c:pt>
                <c:pt idx="12">
                  <c:v>305</c:v>
                </c:pt>
                <c:pt idx="13">
                  <c:v>304</c:v>
                </c:pt>
                <c:pt idx="14">
                  <c:v>314</c:v>
                </c:pt>
                <c:pt idx="15">
                  <c:v>316</c:v>
                </c:pt>
                <c:pt idx="16">
                  <c:v>308</c:v>
                </c:pt>
                <c:pt idx="17">
                  <c:v>315</c:v>
                </c:pt>
                <c:pt idx="18">
                  <c:v>320</c:v>
                </c:pt>
                <c:pt idx="19">
                  <c:v>302</c:v>
                </c:pt>
              </c:strCache>
            </c:strRef>
          </c:cat>
          <c:val>
            <c:numRef>
              <c:f>'Pivot tables'!$I$29:$I$49</c:f>
              <c:numCache>
                <c:formatCode>[$$-409]#,##0.00</c:formatCode>
                <c:ptCount val="20"/>
                <c:pt idx="0">
                  <c:v>12465.269700000003</c:v>
                </c:pt>
                <c:pt idx="1">
                  <c:v>10193.215099999998</c:v>
                </c:pt>
                <c:pt idx="2">
                  <c:v>9903.5738000000038</c:v>
                </c:pt>
                <c:pt idx="3">
                  <c:v>9204.4924999999985</c:v>
                </c:pt>
                <c:pt idx="4">
                  <c:v>8533.7468000000008</c:v>
                </c:pt>
                <c:pt idx="5">
                  <c:v>8521.7796999999973</c:v>
                </c:pt>
                <c:pt idx="6">
                  <c:v>6231.1018999999987</c:v>
                </c:pt>
                <c:pt idx="7">
                  <c:v>5832.0436000000027</c:v>
                </c:pt>
                <c:pt idx="8">
                  <c:v>5751.2324999999992</c:v>
                </c:pt>
                <c:pt idx="9">
                  <c:v>4864.2955999999995</c:v>
                </c:pt>
                <c:pt idx="10">
                  <c:v>3033.9509999999996</c:v>
                </c:pt>
                <c:pt idx="11">
                  <c:v>2814.3777</c:v>
                </c:pt>
                <c:pt idx="12">
                  <c:v>1664.2760000000019</c:v>
                </c:pt>
                <c:pt idx="13">
                  <c:v>1114.7009000000007</c:v>
                </c:pt>
                <c:pt idx="14">
                  <c:v>304.76139999999714</c:v>
                </c:pt>
                <c:pt idx="15">
                  <c:v>-1749.0595999999957</c:v>
                </c:pt>
                <c:pt idx="16">
                  <c:v>-2400.8484999999941</c:v>
                </c:pt>
                <c:pt idx="17">
                  <c:v>-3363.0519999999992</c:v>
                </c:pt>
                <c:pt idx="18">
                  <c:v>-3582.8373999999963</c:v>
                </c:pt>
                <c:pt idx="19">
                  <c:v>-5992.3608999999915</c:v>
                </c:pt>
              </c:numCache>
            </c:numRef>
          </c:val>
          <c:extLst>
            <c:ext xmlns:c16="http://schemas.microsoft.com/office/drawing/2014/chart" uri="{C3380CC4-5D6E-409C-BE32-E72D297353CC}">
              <c16:uniqueId val="{00000000-92DB-4179-A928-A105CBD3E4DA}"/>
            </c:ext>
          </c:extLst>
        </c:ser>
        <c:dLbls>
          <c:showLegendKey val="0"/>
          <c:showVal val="0"/>
          <c:showCatName val="0"/>
          <c:showSerName val="0"/>
          <c:showPercent val="0"/>
          <c:showBubbleSize val="0"/>
        </c:dLbls>
        <c:gapWidth val="219"/>
        <c:overlap val="-27"/>
        <c:axId val="1781940063"/>
        <c:axId val="1781942463"/>
      </c:barChart>
      <c:catAx>
        <c:axId val="1781940063"/>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Product</a:t>
                </a:r>
                <a:r>
                  <a:rPr lang="en-IN" baseline="0"/>
                  <a:t> ID</a:t>
                </a:r>
                <a:endParaRPr lang="en-IN"/>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42463"/>
        <c:crosses val="autoZero"/>
        <c:auto val="1"/>
        <c:lblAlgn val="ctr"/>
        <c:lblOffset val="100"/>
        <c:noMultiLvlLbl val="0"/>
      </c:catAx>
      <c:valAx>
        <c:axId val="1781942463"/>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Saes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409]#,##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40063"/>
        <c:crosses val="autoZero"/>
        <c:crossBetween val="between"/>
        <c:dispUnits>
          <c:builtInUnit val="tenThousands"/>
          <c:dispUnitsLbl>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[RetailSalesData_StablePricing(AutoRecovered).xlsx]Pivot tables!PivotTable12</c:name>
    <c:fmtId val="9"/>
  </c:pivotSource>
  <c:chart>
    <c:autoTitleDeleted val="1"/>
    <c:pivotFmts>
      <c:pivotFmt>
        <c:idx val="0"/>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4390338991716944"/>
          <c:y val="0.17171296296296296"/>
          <c:w val="0.82754009442001553"/>
          <c:h val="0.63400877170483982"/>
        </c:manualLayout>
      </c:layout>
      <c:lineChart>
        <c:grouping val="standard"/>
        <c:varyColors val="0"/>
        <c:ser>
          <c:idx val="0"/>
          <c:order val="0"/>
          <c:tx>
            <c:strRef>
              <c:f>'Pivot tables'!$I$56</c:f>
              <c:strCache>
                <c:ptCount val="1"/>
                <c:pt idx="0">
                  <c:v>Total</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multiLvlStrRef>
              <c:f>'Pivot tables'!$H$57:$H$77</c:f>
              <c:multiLvlStrCache>
                <c:ptCount val="15"/>
                <c:lvl>
                  <c:pt idx="0">
                    <c:v>2021</c:v>
                  </c:pt>
                  <c:pt idx="1">
                    <c:v>2022</c:v>
                  </c:pt>
                  <c:pt idx="2">
                    <c:v>2023</c:v>
                  </c:pt>
                  <c:pt idx="3">
                    <c:v>2021</c:v>
                  </c:pt>
                  <c:pt idx="4">
                    <c:v>2022</c:v>
                  </c:pt>
                  <c:pt idx="5">
                    <c:v>2023</c:v>
                  </c:pt>
                  <c:pt idx="6">
                    <c:v>2021</c:v>
                  </c:pt>
                  <c:pt idx="7">
                    <c:v>2022</c:v>
                  </c:pt>
                  <c:pt idx="8">
                    <c:v>2023</c:v>
                  </c:pt>
                  <c:pt idx="9">
                    <c:v>2021</c:v>
                  </c:pt>
                  <c:pt idx="10">
                    <c:v>2022</c:v>
                  </c:pt>
                  <c:pt idx="11">
                    <c:v>2023</c:v>
                  </c:pt>
                  <c:pt idx="12">
                    <c:v>2021</c:v>
                  </c:pt>
                  <c:pt idx="13">
                    <c:v>2022</c:v>
                  </c:pt>
                  <c:pt idx="14">
                    <c:v>2023</c:v>
                  </c:pt>
                </c:lvl>
                <c:lvl>
                  <c:pt idx="0">
                    <c:v>302</c:v>
                  </c:pt>
                  <c:pt idx="3">
                    <c:v>308</c:v>
                  </c:pt>
                  <c:pt idx="6">
                    <c:v>315</c:v>
                  </c:pt>
                  <c:pt idx="9">
                    <c:v>316</c:v>
                  </c:pt>
                  <c:pt idx="12">
                    <c:v>320</c:v>
                  </c:pt>
                </c:lvl>
              </c:multiLvlStrCache>
            </c:multiLvlStrRef>
          </c:cat>
          <c:val>
            <c:numRef>
              <c:f>'Pivot tables'!$I$57:$I$77</c:f>
              <c:numCache>
                <c:formatCode>[$$-409]#,##0.00</c:formatCode>
                <c:ptCount val="15"/>
                <c:pt idx="0">
                  <c:v>1209.3331999999998</c:v>
                </c:pt>
                <c:pt idx="1">
                  <c:v>5951.6090250000007</c:v>
                </c:pt>
                <c:pt idx="2">
                  <c:v>3854.286000000001</c:v>
                </c:pt>
                <c:pt idx="3">
                  <c:v>1425.3433</c:v>
                </c:pt>
                <c:pt idx="4">
                  <c:v>4560.8718500000004</c:v>
                </c:pt>
                <c:pt idx="5">
                  <c:v>2766.2998000000002</c:v>
                </c:pt>
                <c:pt idx="6">
                  <c:v>1087.4862444444445</c:v>
                </c:pt>
                <c:pt idx="7">
                  <c:v>3073.4209499999997</c:v>
                </c:pt>
                <c:pt idx="8">
                  <c:v>4608.3102000000008</c:v>
                </c:pt>
                <c:pt idx="9">
                  <c:v>993.24595555555561</c:v>
                </c:pt>
                <c:pt idx="10">
                  <c:v>4983.3551083333341</c:v>
                </c:pt>
                <c:pt idx="11">
                  <c:v>2605.08275</c:v>
                </c:pt>
                <c:pt idx="12">
                  <c:v>1182.5880333333332</c:v>
                </c:pt>
                <c:pt idx="13">
                  <c:v>4638.0384249999997</c:v>
                </c:pt>
                <c:pt idx="14">
                  <c:v>5112.2896000000001</c:v>
                </c:pt>
              </c:numCache>
            </c:numRef>
          </c:val>
          <c:smooth val="0"/>
          <c:extLst>
            <c:ext xmlns:c16="http://schemas.microsoft.com/office/drawing/2014/chart" uri="{C3380CC4-5D6E-409C-BE32-E72D297353CC}">
              <c16:uniqueId val="{00000000-5BCF-41AD-A966-152C58A96AEA}"/>
            </c:ext>
          </c:extLst>
        </c:ser>
        <c:dLbls>
          <c:showLegendKey val="0"/>
          <c:showVal val="0"/>
          <c:showCatName val="0"/>
          <c:showSerName val="0"/>
          <c:showPercent val="0"/>
          <c:showBubbleSize val="0"/>
        </c:dLbls>
        <c:marker val="1"/>
        <c:smooth val="0"/>
        <c:axId val="1781930463"/>
        <c:axId val="1781931423"/>
      </c:lineChart>
      <c:catAx>
        <c:axId val="1781930463"/>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31423"/>
        <c:crosses val="autoZero"/>
        <c:auto val="1"/>
        <c:lblAlgn val="ctr"/>
        <c:lblOffset val="100"/>
        <c:noMultiLvlLbl val="0"/>
      </c:catAx>
      <c:valAx>
        <c:axId val="1781931423"/>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dirty="0"/>
                  <a:t>Avg. monthly</a:t>
                </a:r>
                <a:r>
                  <a:rPr lang="en-IN" baseline="0" dirty="0"/>
                  <a:t> </a:t>
                </a:r>
                <a:r>
                  <a:rPr lang="en-IN" dirty="0"/>
                  <a:t>Sales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409]#,##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30463"/>
        <c:crosses val="autoZero"/>
        <c:crossBetween val="between"/>
        <c:dispUnits>
          <c:builtInUnit val="tenThousands"/>
          <c:dispUnitsLbl>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[RetailSalesData_StablePricing(AutoRecovered).xlsx]Pivot tables!PivotTable8</c:name>
    <c:fmtId val="12"/>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 tables'!$O$1</c:f>
              <c:strCache>
                <c:ptCount val="1"/>
                <c:pt idx="0">
                  <c:v>Total</c:v>
                </c:pt>
              </c:strCache>
            </c:strRef>
          </c:tx>
          <c:spPr>
            <a:solidFill>
              <a:schemeClr val="accent6"/>
            </a:solidFill>
            <a:ln>
              <a:noFill/>
            </a:ln>
            <a:effectLst/>
          </c:spPr>
          <c:invertIfNegative val="0"/>
          <c:cat>
            <c:multiLvlStrRef>
              <c:f>'Pivot tables'!$N$2:$N$15</c:f>
              <c:multiLvlStrCache>
                <c:ptCount val="10"/>
                <c:lvl>
                  <c:pt idx="0">
                    <c:v>103</c:v>
                  </c:pt>
                  <c:pt idx="1">
                    <c:v>105</c:v>
                  </c:pt>
                  <c:pt idx="2">
                    <c:v>106</c:v>
                  </c:pt>
                  <c:pt idx="3">
                    <c:v>108</c:v>
                  </c:pt>
                  <c:pt idx="4">
                    <c:v>110</c:v>
                  </c:pt>
                  <c:pt idx="5">
                    <c:v>104</c:v>
                  </c:pt>
                  <c:pt idx="6">
                    <c:v>101</c:v>
                  </c:pt>
                  <c:pt idx="7">
                    <c:v>102</c:v>
                  </c:pt>
                  <c:pt idx="8">
                    <c:v>107</c:v>
                  </c:pt>
                  <c:pt idx="9">
                    <c:v>109</c:v>
                  </c:pt>
                </c:lvl>
                <c:lvl>
                  <c:pt idx="0">
                    <c:v>2020</c:v>
                  </c:pt>
                  <c:pt idx="5">
                    <c:v>2021</c:v>
                  </c:pt>
                  <c:pt idx="6">
                    <c:v>2022</c:v>
                  </c:pt>
                </c:lvl>
              </c:multiLvlStrCache>
            </c:multiLvlStrRef>
          </c:cat>
          <c:val>
            <c:numRef>
              <c:f>'Pivot tables'!$O$2:$O$15</c:f>
              <c:numCache>
                <c:formatCode>[$$-409]#,##0.00</c:formatCode>
                <c:ptCount val="10"/>
                <c:pt idx="0">
                  <c:v>107781.34980000004</c:v>
                </c:pt>
                <c:pt idx="1">
                  <c:v>112890.64960000002</c:v>
                </c:pt>
                <c:pt idx="2">
                  <c:v>85185.175100000022</c:v>
                </c:pt>
                <c:pt idx="3">
                  <c:v>96913.949399999983</c:v>
                </c:pt>
                <c:pt idx="4">
                  <c:v>110168.5923</c:v>
                </c:pt>
                <c:pt idx="5">
                  <c:v>94000.471400000053</c:v>
                </c:pt>
                <c:pt idx="6">
                  <c:v>100108.58560000003</c:v>
                </c:pt>
                <c:pt idx="7">
                  <c:v>122057.22020000004</c:v>
                </c:pt>
                <c:pt idx="8">
                  <c:v>102318.87689999997</c:v>
                </c:pt>
                <c:pt idx="9">
                  <c:v>121473.48950000001</c:v>
                </c:pt>
              </c:numCache>
            </c:numRef>
          </c:val>
          <c:extLst>
            <c:ext xmlns:c16="http://schemas.microsoft.com/office/drawing/2014/chart" uri="{C3380CC4-5D6E-409C-BE32-E72D297353CC}">
              <c16:uniqueId val="{00000003-D70B-4817-9E4A-BC27040C7891}"/>
            </c:ext>
          </c:extLst>
        </c:ser>
        <c:dLbls>
          <c:showLegendKey val="0"/>
          <c:showVal val="0"/>
          <c:showCatName val="0"/>
          <c:showSerName val="0"/>
          <c:showPercent val="0"/>
          <c:showBubbleSize val="0"/>
        </c:dLbls>
        <c:gapWidth val="219"/>
        <c:overlap val="-27"/>
        <c:axId val="1781905503"/>
        <c:axId val="1781917023"/>
      </c:barChart>
      <c:catAx>
        <c:axId val="1781905503"/>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Opening</a:t>
                </a:r>
                <a:r>
                  <a:rPr lang="en-IN" baseline="0"/>
                  <a:t> year</a:t>
                </a:r>
                <a:endParaRPr lang="en-IN"/>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17023"/>
        <c:crosses val="autoZero"/>
        <c:auto val="1"/>
        <c:lblAlgn val="ctr"/>
        <c:lblOffset val="100"/>
        <c:noMultiLvlLbl val="0"/>
      </c:catAx>
      <c:valAx>
        <c:axId val="178191702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Sales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409]#,##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0550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[RetailSalesData_StablePricing(AutoRecovered).xlsx]Pivot tables!PivotTable9</c:name>
    <c:fmtId val="14"/>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Sales per store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extLst>
            <c:ext xmlns:c15="http://schemas.microsoft.com/office/drawing/2012/chart" uri="{CE6537A1-D6FC-4f65-9D91-7224C49458BB}"/>
          </c:extLst>
        </c:dLbl>
      </c:pivotFmt>
      <c:pivotFmt>
        <c:idx val="3"/>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extLst>
            <c:ext xmlns:c15="http://schemas.microsoft.com/office/drawing/2012/chart" uri="{CE6537A1-D6FC-4f65-9D91-7224C49458BB}"/>
          </c:extLst>
        </c:dLbl>
      </c:pivotFmt>
      <c:pivotFmt>
        <c:idx val="4"/>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extLst>
            <c:ext xmlns:c15="http://schemas.microsoft.com/office/drawing/2012/chart" uri="{CE6537A1-D6FC-4f65-9D91-7224C49458BB}"/>
          </c:extLst>
        </c:dLbl>
      </c:pivotFmt>
    </c:pivotFmts>
    <c:plotArea>
      <c:layout>
        <c:manualLayout>
          <c:layoutTarget val="inner"/>
          <c:xMode val="edge"/>
          <c:yMode val="edge"/>
          <c:x val="0.18702559055118109"/>
          <c:y val="0.20949077344787634"/>
          <c:w val="0.78241885389326338"/>
          <c:h val="0.63216048712506678"/>
        </c:manualLayout>
      </c:layout>
      <c:lineChart>
        <c:grouping val="standard"/>
        <c:varyColors val="0"/>
        <c:ser>
          <c:idx val="0"/>
          <c:order val="0"/>
          <c:tx>
            <c:strRef>
              <c:f>'Pivot tables'!$O$27</c:f>
              <c:strCache>
                <c:ptCount val="1"/>
                <c:pt idx="0">
                  <c:v>Total</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 tables'!$N$28:$N$37</c:f>
              <c:strCache>
                <c:ptCount val="9"/>
                <c:pt idx="0">
                  <c:v>101</c:v>
                </c:pt>
                <c:pt idx="1">
                  <c:v>102</c:v>
                </c:pt>
                <c:pt idx="2">
                  <c:v>103</c:v>
                </c:pt>
                <c:pt idx="3">
                  <c:v>104</c:v>
                </c:pt>
                <c:pt idx="4">
                  <c:v>105</c:v>
                </c:pt>
                <c:pt idx="5">
                  <c:v>106</c:v>
                </c:pt>
                <c:pt idx="6">
                  <c:v>107</c:v>
                </c:pt>
                <c:pt idx="7">
                  <c:v>109</c:v>
                </c:pt>
                <c:pt idx="8">
                  <c:v>110</c:v>
                </c:pt>
              </c:strCache>
            </c:strRef>
          </c:cat>
          <c:val>
            <c:numRef>
              <c:f>'Pivot tables'!$O$28:$O$37</c:f>
              <c:numCache>
                <c:formatCode>[$$-409]#,##0.00</c:formatCode>
                <c:ptCount val="9"/>
                <c:pt idx="0">
                  <c:v>100108.58560000003</c:v>
                </c:pt>
                <c:pt idx="1">
                  <c:v>58567.831299999998</c:v>
                </c:pt>
                <c:pt idx="2">
                  <c:v>107781.34980000004</c:v>
                </c:pt>
                <c:pt idx="3">
                  <c:v>73318.448699999994</c:v>
                </c:pt>
                <c:pt idx="4">
                  <c:v>112890.64960000002</c:v>
                </c:pt>
                <c:pt idx="5">
                  <c:v>31087.305099999994</c:v>
                </c:pt>
                <c:pt idx="6">
                  <c:v>87697.630999999979</c:v>
                </c:pt>
                <c:pt idx="7">
                  <c:v>121473.48950000001</c:v>
                </c:pt>
                <c:pt idx="8">
                  <c:v>43264.61310000001</c:v>
                </c:pt>
              </c:numCache>
            </c:numRef>
          </c:val>
          <c:smooth val="0"/>
          <c:extLst>
            <c:ext xmlns:c16="http://schemas.microsoft.com/office/drawing/2014/chart" uri="{C3380CC4-5D6E-409C-BE32-E72D297353CC}">
              <c16:uniqueId val="{00000000-8AD2-4D9B-BCEE-A3BFE26EE535}"/>
            </c:ext>
          </c:extLst>
        </c:ser>
        <c:dLbls>
          <c:dLblPos val="t"/>
          <c:showLegendKey val="0"/>
          <c:showVal val="1"/>
          <c:showCatName val="0"/>
          <c:showSerName val="0"/>
          <c:showPercent val="0"/>
          <c:showBubbleSize val="0"/>
        </c:dLbls>
        <c:marker val="1"/>
        <c:smooth val="0"/>
        <c:axId val="1781955903"/>
        <c:axId val="1781939583"/>
      </c:lineChart>
      <c:catAx>
        <c:axId val="1781955903"/>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Store ID</a:t>
                </a:r>
              </a:p>
            </c:rich>
          </c:tx>
          <c:layout>
            <c:manualLayout>
              <c:xMode val="edge"/>
              <c:yMode val="edge"/>
              <c:x val="0.52461001749781278"/>
              <c:y val="0.91342085184419497"/>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39583"/>
        <c:crosses val="autoZero"/>
        <c:auto val="1"/>
        <c:lblAlgn val="ctr"/>
        <c:lblOffset val="100"/>
        <c:noMultiLvlLbl val="0"/>
      </c:catAx>
      <c:valAx>
        <c:axId val="1781939583"/>
        <c:scaling>
          <c:orientation val="minMax"/>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Sales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409]#,##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81955903"/>
        <c:crosses val="autoZero"/>
        <c:crossBetween val="between"/>
        <c:dispUnits>
          <c:builtInUnit val="tenThousands"/>
          <c:dispUnitsLbl>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[RetailSalesData_StablePricing(AutoRecovered).xlsx]Pivot tables!PivotTable10</c:name>
    <c:fmtId val="16"/>
  </c:pivotSource>
  <c:chart>
    <c:autoTitleDeleted val="1"/>
    <c:pivotFmts>
      <c:pivotFmt>
        <c:idx val="0"/>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extLst>
            <c:ext xmlns:c15="http://schemas.microsoft.com/office/drawing/2012/chart" uri="{CE6537A1-D6FC-4f65-9D91-7224C49458BB}"/>
          </c:extLst>
        </c:dLbl>
      </c:pivotFmt>
      <c:pivotFmt>
        <c:idx val="3"/>
        <c:spPr>
          <a:solidFill>
            <a:schemeClr val="accent2"/>
          </a:solidFill>
          <a:ln>
            <a:noFill/>
          </a:ln>
          <a:effectLst/>
        </c:spPr>
        <c:marker>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extLst>
            <c:ext xmlns:c15="http://schemas.microsoft.com/office/drawing/2012/chart" uri="{CE6537A1-D6FC-4f65-9D91-7224C49458BB}"/>
          </c:extLst>
        </c:dLbl>
      </c:pivotFmt>
      <c:pivotFmt>
        <c:idx val="5"/>
        <c:spPr>
          <a:solidFill>
            <a:schemeClr val="accent2"/>
          </a:solidFill>
          <a:ln>
            <a:noFill/>
          </a:ln>
          <a:effectLst/>
        </c:spPr>
        <c:marker>
          <c:symbol val="circle"/>
          <c:size val="5"/>
          <c:spPr>
            <a:solidFill>
              <a:schemeClr val="accent2"/>
            </a:solidFill>
            <a:ln w="9525">
              <a:solidFill>
                <a:schemeClr val="accent2"/>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extLst>
            <c:ext xmlns:c15="http://schemas.microsoft.com/office/drawing/2012/chart" uri="{CE6537A1-D6FC-4f65-9D91-7224C49458BB}"/>
          </c:extLst>
        </c:dLbl>
      </c:pivotFmt>
    </c:pivotFmts>
    <c:plotArea>
      <c:layout>
        <c:manualLayout>
          <c:layoutTarget val="inner"/>
          <c:xMode val="edge"/>
          <c:yMode val="edge"/>
          <c:x val="0.1350241405009559"/>
          <c:y val="0.18170885207105167"/>
          <c:w val="0.84234211464307707"/>
          <c:h val="0.58627728871367224"/>
        </c:manualLayout>
      </c:layout>
      <c:lineChart>
        <c:grouping val="standard"/>
        <c:varyColors val="0"/>
        <c:ser>
          <c:idx val="0"/>
          <c:order val="0"/>
          <c:tx>
            <c:strRef>
              <c:f>'Pivot tables'!$O$45</c:f>
              <c:strCache>
                <c:ptCount val="1"/>
                <c:pt idx="0">
                  <c:v>Total</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1"/>
            <c:showSerName val="0"/>
            <c:showPercent val="0"/>
            <c:showBubbleSize val="0"/>
            <c:separator>
</c:separator>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 tables'!$N$46:$N$55</c:f>
              <c:strCache>
                <c:ptCount val="9"/>
                <c:pt idx="0">
                  <c:v>101</c:v>
                </c:pt>
                <c:pt idx="1">
                  <c:v>102</c:v>
                </c:pt>
                <c:pt idx="2">
                  <c:v>103</c:v>
                </c:pt>
                <c:pt idx="3">
                  <c:v>104</c:v>
                </c:pt>
                <c:pt idx="4">
                  <c:v>105</c:v>
                </c:pt>
                <c:pt idx="5">
                  <c:v>106</c:v>
                </c:pt>
                <c:pt idx="6">
                  <c:v>107</c:v>
                </c:pt>
                <c:pt idx="7">
                  <c:v>109</c:v>
                </c:pt>
                <c:pt idx="8">
                  <c:v>110</c:v>
                </c:pt>
              </c:strCache>
            </c:strRef>
          </c:cat>
          <c:val>
            <c:numRef>
              <c:f>'Pivot tables'!$O$46:$O$55</c:f>
              <c:numCache>
                <c:formatCode>0.00%</c:formatCode>
                <c:ptCount val="9"/>
                <c:pt idx="0">
                  <c:v>0.14670212765957449</c:v>
                </c:pt>
                <c:pt idx="1">
                  <c:v>0.14200000000000002</c:v>
                </c:pt>
                <c:pt idx="2">
                  <c:v>0.14053571428571426</c:v>
                </c:pt>
                <c:pt idx="3">
                  <c:v>0.14397058823529421</c:v>
                </c:pt>
                <c:pt idx="4">
                  <c:v>0.149622641509434</c:v>
                </c:pt>
                <c:pt idx="5">
                  <c:v>0.15888888888888889</c:v>
                </c:pt>
                <c:pt idx="6">
                  <c:v>0.17948717948717954</c:v>
                </c:pt>
                <c:pt idx="7">
                  <c:v>0.16669642857142852</c:v>
                </c:pt>
                <c:pt idx="8">
                  <c:v>0.13750000000000004</c:v>
                </c:pt>
              </c:numCache>
            </c:numRef>
          </c:val>
          <c:smooth val="0"/>
          <c:extLst>
            <c:ext xmlns:c16="http://schemas.microsoft.com/office/drawing/2014/chart" uri="{C3380CC4-5D6E-409C-BE32-E72D297353CC}">
              <c16:uniqueId val="{00000000-0B56-4DB5-80AF-0454BB3373BF}"/>
            </c:ext>
          </c:extLst>
        </c:ser>
        <c:dLbls>
          <c:dLblPos val="t"/>
          <c:showLegendKey val="0"/>
          <c:showVal val="1"/>
          <c:showCatName val="0"/>
          <c:showSerName val="0"/>
          <c:showPercent val="0"/>
          <c:showBubbleSize val="0"/>
        </c:dLbls>
        <c:marker val="1"/>
        <c:smooth val="0"/>
        <c:axId val="1719880527"/>
        <c:axId val="1719881967"/>
      </c:lineChart>
      <c:catAx>
        <c:axId val="1719880527"/>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Store ID</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19881967"/>
        <c:crosses val="autoZero"/>
        <c:auto val="1"/>
        <c:lblAlgn val="ctr"/>
        <c:lblOffset val="100"/>
        <c:noMultiLvlLbl val="0"/>
      </c:catAx>
      <c:valAx>
        <c:axId val="1719881967"/>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Avg discount</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1988052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accent4">
        <a:lumMod val="20000"/>
        <a:lumOff val="80000"/>
      </a:schemeClr>
    </a:solid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withinLinearReversed" id="26">
  <a:schemeClr val="accent6"/>
</cs:colorStyle>
</file>

<file path=ppt/charts/colors8.xml><?xml version="1.0" encoding="utf-8"?>
<cs:colorStyle xmlns:cs="http://schemas.microsoft.com/office/drawing/2012/chartStyle" xmlns:a="http://schemas.openxmlformats.org/drawingml/2006/main" meth="withinLinearReversed" id="22">
  <a:schemeClr val="accent2"/>
</cs:colorStyle>
</file>

<file path=ppt/charts/colors9.xml><?xml version="1.0" encoding="utf-8"?>
<cs:colorStyle xmlns:cs="http://schemas.microsoft.com/office/drawing/2012/chartStyle" xmlns:a="http://schemas.openxmlformats.org/drawingml/2006/main" meth="withinLinearReversed" id="22">
  <a:schemeClr val="accent2"/>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800"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lt1"/>
    </cs:fontRef>
    <cs:defRPr sz="900"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8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900"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333">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65000"/>
        <a:lumOff val="3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50000"/>
            <a:lumOff val="50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a:ln w="19050">
        <a:solidFill>
          <a:schemeClr val="lt1"/>
        </a:solidFill>
      </a:ln>
    </cs:spPr>
  </cs:dataPoint>
  <cs:dataPoint3D>
    <cs:lnRef idx="0"/>
    <cs:fillRef idx="0">
      <cs:styleClr val="auto"/>
    </cs:fillRef>
    <cs:effectRef idx="0"/>
    <cs:fontRef idx="minor">
      <a:schemeClr val="tx1"/>
    </cs:fontRef>
    <cs:spPr>
      <a:solidFill>
        <a:schemeClr val="phClr"/>
      </a:solidFill>
      <a:ln w="1905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40" b="0" kern="1200" spc="0"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465D3EB-CBDD-4100-83B7-3BFE0A8F411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72B4595-A79D-4567-9FE1-DCF31A42B3D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5C0719-993D-42E1-80ED-8F01056F36C2}" type="datetimeFigureOut">
              <a:rPr lang="en-US" smtClean="0"/>
              <a:t>5/1/2025</a:t>
            </a:fld>
            <a:endParaRPr lang="en-US" dirty="0"/>
          </a:p>
        </p:txBody>
      </p:sp>
      <p:sp>
        <p:nvSpPr>
          <p:cNvPr id="4" name="Footer Placeholder 3">
            <a:extLst>
              <a:ext uri="{FF2B5EF4-FFF2-40B4-BE49-F238E27FC236}">
                <a16:creationId xmlns:a16="http://schemas.microsoft.com/office/drawing/2014/main" id="{850E452F-E862-4273-987C-980229E5320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C3EE394C-9AD7-48EA-AB0F-18032A3E097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0421AD-3AC0-48CB-8727-BB447FD2264E}" type="slidenum">
              <a:rPr lang="en-US" smtClean="0"/>
              <a:t>‹#›</a:t>
            </a:fld>
            <a:endParaRPr lang="en-US" dirty="0"/>
          </a:p>
        </p:txBody>
      </p:sp>
    </p:spTree>
    <p:extLst>
      <p:ext uri="{BB962C8B-B14F-4D97-AF65-F5344CB8AC3E}">
        <p14:creationId xmlns:p14="http://schemas.microsoft.com/office/powerpoint/2010/main" val="326815982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D3BC9C-6C58-464F-B94E-FD73C5FB016E}" type="datetimeFigureOut">
              <a:rPr lang="en-US" smtClean="0"/>
              <a:t>5/1/2025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60DC36-8EFA-4378-9855-E019C55AC472}" type="slidenum">
              <a:rPr lang="en-US" smtClean="0"/>
              <a:t>‹#›</a:t>
            </a:fld>
            <a:endParaRPr lang="en-US" dirty="0"/>
          </a:p>
        </p:txBody>
      </p:sp>
    </p:spTree>
    <p:extLst>
      <p:ext uri="{BB962C8B-B14F-4D97-AF65-F5344CB8AC3E}">
        <p14:creationId xmlns:p14="http://schemas.microsoft.com/office/powerpoint/2010/main" val="1877053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E60DC36-8EFA-4378-9855-E019C55AC472}" type="slidenum">
              <a:rPr lang="en-US" smtClean="0"/>
              <a:t>1</a:t>
            </a:fld>
            <a:endParaRPr lang="en-US" dirty="0"/>
          </a:p>
        </p:txBody>
      </p:sp>
    </p:spTree>
    <p:extLst>
      <p:ext uri="{BB962C8B-B14F-4D97-AF65-F5344CB8AC3E}">
        <p14:creationId xmlns:p14="http://schemas.microsoft.com/office/powerpoint/2010/main" val="1773527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E60DC36-8EFA-4378-9855-E019C55AC472}" type="slidenum">
              <a:rPr lang="en-US" smtClean="0"/>
              <a:t>12</a:t>
            </a:fld>
            <a:endParaRPr lang="en-US" dirty="0"/>
          </a:p>
        </p:txBody>
      </p:sp>
    </p:spTree>
    <p:extLst>
      <p:ext uri="{BB962C8B-B14F-4D97-AF65-F5344CB8AC3E}">
        <p14:creationId xmlns:p14="http://schemas.microsoft.com/office/powerpoint/2010/main" val="3967918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F864C-44C4-4000-952D-01F31BFB3FD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392E06-C914-467E-9D4F-BD763EDA2D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FBEFBAF-82E9-49AD-B2CF-7D154E024431}"/>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5" name="Footer Placeholder 4">
            <a:extLst>
              <a:ext uri="{FF2B5EF4-FFF2-40B4-BE49-F238E27FC236}">
                <a16:creationId xmlns:a16="http://schemas.microsoft.com/office/drawing/2014/main" id="{5AD8006A-94B1-44F7-972D-56767EDE3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E7BFAB-D84B-45E1-A0BD-2516AC14F8AC}"/>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485646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07FBE-061D-452C-A8A6-213063CFD67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33A3535-1708-499D-B5D2-7D8F9FD182D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B06063-A112-49AB-80C8-504D99ECD771}"/>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5" name="Footer Placeholder 4">
            <a:extLst>
              <a:ext uri="{FF2B5EF4-FFF2-40B4-BE49-F238E27FC236}">
                <a16:creationId xmlns:a16="http://schemas.microsoft.com/office/drawing/2014/main" id="{6344C8D5-F898-4318-A76D-1FBD8732919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976EC76-E8E8-4FFA-B671-7FA2F3EF5DEF}"/>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2789287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2CABF-E3C1-431A-A69C-D4881CC43F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584226-69DA-4211-B2C8-C29FD05A4A6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FF82DB-B518-40FD-8A66-44B874C055FB}"/>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5" name="Footer Placeholder 4">
            <a:extLst>
              <a:ext uri="{FF2B5EF4-FFF2-40B4-BE49-F238E27FC236}">
                <a16:creationId xmlns:a16="http://schemas.microsoft.com/office/drawing/2014/main" id="{FCC1CCEE-725F-4745-837B-87EFB70E71D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561522A-E0E6-406B-BF30-A7C7A57294BE}"/>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12300417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C9BDC-6F21-4EF5-A8DD-E35E27EACA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968D5F-2AB6-42D3-A54E-AB3E603251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65AB07F-D5F7-402A-AE4E-027BF1CA91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5108EDC-3863-43B9-93C7-37465DC73B28}"/>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6" name="Footer Placeholder 5">
            <a:extLst>
              <a:ext uri="{FF2B5EF4-FFF2-40B4-BE49-F238E27FC236}">
                <a16:creationId xmlns:a16="http://schemas.microsoft.com/office/drawing/2014/main" id="{A777D452-958D-4159-A9A4-16DD29680A04}"/>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89654B6-1460-48B9-AC7E-592F68BAB276}"/>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974041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8C848-926A-4FD3-A311-A100A2662BE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C8ECD90-B4F0-4DFB-BB3D-F231020789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5A6C3A-033E-474B-AB97-D8291A04E7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32B928-3A23-4FCA-AD1F-E45A467B54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BDC8376-6FC6-4A11-B0DB-9A148E9C00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E80206F-8846-425C-A56E-16FFBA442014}"/>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8" name="Footer Placeholder 7">
            <a:extLst>
              <a:ext uri="{FF2B5EF4-FFF2-40B4-BE49-F238E27FC236}">
                <a16:creationId xmlns:a16="http://schemas.microsoft.com/office/drawing/2014/main" id="{6A45E89F-12CF-4561-A5F2-1E05783A3063}"/>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EB4DFE4-927C-43B1-A061-5CB97FFB33BE}"/>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4690582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0E367-8DA0-4655-BCBC-F4280D8642C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FEF9592-AA3C-4CF8-A5DB-4D010195A438}"/>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4" name="Footer Placeholder 3">
            <a:extLst>
              <a:ext uri="{FF2B5EF4-FFF2-40B4-BE49-F238E27FC236}">
                <a16:creationId xmlns:a16="http://schemas.microsoft.com/office/drawing/2014/main" id="{3C2C9377-F93E-4515-852A-264707755154}"/>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AED076D-476B-42BA-8795-14FE6C1E6974}"/>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6255511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A599B4-6AB2-4190-82B5-7667EE1E922A}"/>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3" name="Footer Placeholder 2">
            <a:extLst>
              <a:ext uri="{FF2B5EF4-FFF2-40B4-BE49-F238E27FC236}">
                <a16:creationId xmlns:a16="http://schemas.microsoft.com/office/drawing/2014/main" id="{1B8FBFB3-AD86-4E39-B8AE-B4EC14528156}"/>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9A4AF55-C114-4B60-9A20-56B00A11B3BF}"/>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058200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83DA1-5CB8-405D-9613-8A9B7BC56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842BB15-A24D-42E9-9CAE-BB827226301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8F0849D-D3C3-462A-9751-4EAB0B9145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80DD20-7A20-4574-98A4-427795876739}"/>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6" name="Footer Placeholder 5">
            <a:extLst>
              <a:ext uri="{FF2B5EF4-FFF2-40B4-BE49-F238E27FC236}">
                <a16:creationId xmlns:a16="http://schemas.microsoft.com/office/drawing/2014/main" id="{54D0ED2B-71C4-421A-9DB0-676E00C10BD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78C4572A-ADFC-4C53-BCA2-42BDF693BC4D}"/>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230950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F5C67-EEEC-4AB0-9653-0F80D6B109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DD50D6D-5277-4324-AF23-5FAF007834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5275657-2BF9-4761-96B6-50EE3CFCFA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3C3F7B-A4C8-4F9D-8165-BC5186EA0929}"/>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6" name="Footer Placeholder 5">
            <a:extLst>
              <a:ext uri="{FF2B5EF4-FFF2-40B4-BE49-F238E27FC236}">
                <a16:creationId xmlns:a16="http://schemas.microsoft.com/office/drawing/2014/main" id="{DE696EA5-2FA2-464D-982F-C53E6426A84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911B398-191B-4AB1-86ED-00D0046EACF5}"/>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1586601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7B869-BFB2-4C20-8AB1-46704BB3D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F007DB-4F12-4428-9C48-5120DF0704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FFA8DA-0E31-4CA6-BBFC-2467AAD1D30B}"/>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5" name="Footer Placeholder 4">
            <a:extLst>
              <a:ext uri="{FF2B5EF4-FFF2-40B4-BE49-F238E27FC236}">
                <a16:creationId xmlns:a16="http://schemas.microsoft.com/office/drawing/2014/main" id="{064974BD-9845-459A-9AAA-12731E2507C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2A71B0A-FDFB-4B2C-A9EC-2334C590013E}"/>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3931409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0B5D73-1652-4A8E-B5A3-101523D7290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9B7FB99-7425-444D-B602-01B672BCE8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EEA9C5-552A-48A1-AB54-ED54209B3B48}"/>
              </a:ext>
            </a:extLst>
          </p:cNvPr>
          <p:cNvSpPr>
            <a:spLocks noGrp="1"/>
          </p:cNvSpPr>
          <p:nvPr>
            <p:ph type="dt" sz="half" idx="10"/>
          </p:nvPr>
        </p:nvSpPr>
        <p:spPr/>
        <p:txBody>
          <a:bodyPr/>
          <a:lstStyle/>
          <a:p>
            <a:fld id="{40DA1498-92C7-4E4B-8045-C9195F453964}" type="datetimeFigureOut">
              <a:rPr lang="en-US" smtClean="0"/>
              <a:t>5/1/2025</a:t>
            </a:fld>
            <a:endParaRPr lang="en-US" dirty="0"/>
          </a:p>
        </p:txBody>
      </p:sp>
      <p:sp>
        <p:nvSpPr>
          <p:cNvPr id="5" name="Footer Placeholder 4">
            <a:extLst>
              <a:ext uri="{FF2B5EF4-FFF2-40B4-BE49-F238E27FC236}">
                <a16:creationId xmlns:a16="http://schemas.microsoft.com/office/drawing/2014/main" id="{1A83AAA3-4155-48FB-8F00-16DBE0C9C2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D694EAE-CB3C-4DEF-A66D-583C7AAC92D8}"/>
              </a:ext>
            </a:extLst>
          </p:cNvPr>
          <p:cNvSpPr>
            <a:spLocks noGrp="1"/>
          </p:cNvSpPr>
          <p:nvPr>
            <p:ph type="sldNum" sz="quarter" idx="12"/>
          </p:nvPr>
        </p:nvSpPr>
        <p:spPr/>
        <p:txBody>
          <a:bodyPr/>
          <a:lstStyle/>
          <a:p>
            <a:fld id="{06FEDF93-2BFD-41CA-ABC7-B039102F3792}" type="slidenum">
              <a:rPr lang="en-US" smtClean="0"/>
              <a:t>‹#›</a:t>
            </a:fld>
            <a:endParaRPr lang="en-US" dirty="0"/>
          </a:p>
        </p:txBody>
      </p:sp>
    </p:spTree>
    <p:extLst>
      <p:ext uri="{BB962C8B-B14F-4D97-AF65-F5344CB8AC3E}">
        <p14:creationId xmlns:p14="http://schemas.microsoft.com/office/powerpoint/2010/main" val="17468042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B3445CA-54C1-4DDE-A216-DD2414E3F5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306395A-6879-4E93-B24E-067F88AC1D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50FF5B-A6A6-4F0F-AA5D-3F0F69A43A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0DA1498-92C7-4E4B-8045-C9195F453964}" type="datetimeFigureOut">
              <a:rPr lang="en-US" smtClean="0"/>
              <a:t>5/1/2025</a:t>
            </a:fld>
            <a:endParaRPr lang="en-US" dirty="0"/>
          </a:p>
        </p:txBody>
      </p:sp>
      <p:sp>
        <p:nvSpPr>
          <p:cNvPr id="5" name="Footer Placeholder 4">
            <a:extLst>
              <a:ext uri="{FF2B5EF4-FFF2-40B4-BE49-F238E27FC236}">
                <a16:creationId xmlns:a16="http://schemas.microsoft.com/office/drawing/2014/main" id="{FA798FAA-76CC-42EF-8BE0-466A41BBAB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5149FF02-6890-4E10-B958-1097AD32C6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6FEDF93-2BFD-41CA-ABC7-B039102F3792}" type="slidenum">
              <a:rPr lang="en-US" smtClean="0"/>
              <a:t>‹#›</a:t>
            </a:fld>
            <a:endParaRPr lang="en-US" dirty="0"/>
          </a:p>
        </p:txBody>
      </p:sp>
    </p:spTree>
    <p:extLst>
      <p:ext uri="{BB962C8B-B14F-4D97-AF65-F5344CB8AC3E}">
        <p14:creationId xmlns:p14="http://schemas.microsoft.com/office/powerpoint/2010/main" val="2603789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pattFill prst="wave">
          <a:fgClr>
            <a:schemeClr val="accent3">
              <a:lumMod val="75000"/>
            </a:schemeClr>
          </a:fgClr>
          <a:bgClr>
            <a:schemeClr val="accent3">
              <a:lumMod val="50000"/>
            </a:schemeClr>
          </a:bgClr>
        </a:patt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00AEF-1595-4419-801B-6E36A33BB8CF}"/>
              </a:ext>
            </a:extLst>
          </p:cNvPr>
          <p:cNvSpPr>
            <a:spLocks noGrp="1"/>
          </p:cNvSpPr>
          <p:nvPr>
            <p:ph type="ctrTitle"/>
          </p:nvPr>
        </p:nvSpPr>
        <p:spPr>
          <a:xfrm>
            <a:off x="1492312" y="3500387"/>
            <a:ext cx="9501352" cy="1661993"/>
          </a:xfrm>
        </p:spPr>
        <p:txBody>
          <a:bodyPr wrap="square" lIns="0" tIns="0" rIns="0" bIns="0" anchor="t">
            <a:spAutoFit/>
          </a:bodyPr>
          <a:lstStyle/>
          <a:p>
            <a:r>
              <a:rPr lang="en-US" b="1" dirty="0">
                <a:solidFill>
                  <a:schemeClr val="bg1"/>
                </a:solidFill>
              </a:rPr>
              <a:t>Supermarket-chain </a:t>
            </a:r>
            <a:br>
              <a:rPr lang="en-US" b="1" dirty="0">
                <a:solidFill>
                  <a:schemeClr val="bg1"/>
                </a:solidFill>
              </a:rPr>
            </a:br>
            <a:r>
              <a:rPr lang="en-US" b="1" dirty="0">
                <a:solidFill>
                  <a:schemeClr val="bg1"/>
                </a:solidFill>
              </a:rPr>
              <a:t>sales analysis</a:t>
            </a:r>
            <a:endParaRPr lang="en-US" dirty="0">
              <a:solidFill>
                <a:schemeClr val="accent4"/>
              </a:solidFill>
            </a:endParaRPr>
          </a:p>
        </p:txBody>
      </p:sp>
      <p:grpSp>
        <p:nvGrpSpPr>
          <p:cNvPr id="7" name="Group 6" descr="Icon of chart. ">
            <a:extLst>
              <a:ext uri="{FF2B5EF4-FFF2-40B4-BE49-F238E27FC236}">
                <a16:creationId xmlns:a16="http://schemas.microsoft.com/office/drawing/2014/main" id="{B95DF07A-CE7E-4D89-9AA0-25F4FFF3B9C7}"/>
              </a:ext>
            </a:extLst>
          </p:cNvPr>
          <p:cNvGrpSpPr/>
          <p:nvPr/>
        </p:nvGrpSpPr>
        <p:grpSpPr>
          <a:xfrm>
            <a:off x="5851021" y="2668943"/>
            <a:ext cx="489958" cy="492680"/>
            <a:chOff x="2025650" y="4786313"/>
            <a:chExt cx="285750" cy="287338"/>
          </a:xfrm>
          <a:solidFill>
            <a:schemeClr val="bg1"/>
          </a:solidFill>
        </p:grpSpPr>
        <p:sp>
          <p:nvSpPr>
            <p:cNvPr id="8" name="Freeform 565">
              <a:extLst>
                <a:ext uri="{FF2B5EF4-FFF2-40B4-BE49-F238E27FC236}">
                  <a16:creationId xmlns:a16="http://schemas.microsoft.com/office/drawing/2014/main" id="{548FC78B-EF83-4185-A63D-1A5A85640B62}"/>
                </a:ext>
              </a:extLst>
            </p:cNvPr>
            <p:cNvSpPr>
              <a:spLocks noEditPoints="1"/>
            </p:cNvSpPr>
            <p:nvPr/>
          </p:nvSpPr>
          <p:spPr bwMode="auto">
            <a:xfrm>
              <a:off x="2025650" y="4786313"/>
              <a:ext cx="285750" cy="287338"/>
            </a:xfrm>
            <a:custGeom>
              <a:avLst/>
              <a:gdLst>
                <a:gd name="T0" fmla="*/ 812 w 903"/>
                <a:gd name="T1" fmla="*/ 500 h 903"/>
                <a:gd name="T2" fmla="*/ 810 w 903"/>
                <a:gd name="T3" fmla="*/ 505 h 903"/>
                <a:gd name="T4" fmla="*/ 806 w 903"/>
                <a:gd name="T5" fmla="*/ 509 h 903"/>
                <a:gd name="T6" fmla="*/ 800 w 903"/>
                <a:gd name="T7" fmla="*/ 511 h 903"/>
                <a:gd name="T8" fmla="*/ 105 w 903"/>
                <a:gd name="T9" fmla="*/ 511 h 903"/>
                <a:gd name="T10" fmla="*/ 99 w 903"/>
                <a:gd name="T11" fmla="*/ 510 h 903"/>
                <a:gd name="T12" fmla="*/ 95 w 903"/>
                <a:gd name="T13" fmla="*/ 507 h 903"/>
                <a:gd name="T14" fmla="*/ 92 w 903"/>
                <a:gd name="T15" fmla="*/ 502 h 903"/>
                <a:gd name="T16" fmla="*/ 90 w 903"/>
                <a:gd name="T17" fmla="*/ 496 h 903"/>
                <a:gd name="T18" fmla="*/ 90 w 903"/>
                <a:gd name="T19" fmla="*/ 105 h 903"/>
                <a:gd name="T20" fmla="*/ 92 w 903"/>
                <a:gd name="T21" fmla="*/ 100 h 903"/>
                <a:gd name="T22" fmla="*/ 95 w 903"/>
                <a:gd name="T23" fmla="*/ 94 h 903"/>
                <a:gd name="T24" fmla="*/ 99 w 903"/>
                <a:gd name="T25" fmla="*/ 91 h 903"/>
                <a:gd name="T26" fmla="*/ 105 w 903"/>
                <a:gd name="T27" fmla="*/ 90 h 903"/>
                <a:gd name="T28" fmla="*/ 800 w 903"/>
                <a:gd name="T29" fmla="*/ 90 h 903"/>
                <a:gd name="T30" fmla="*/ 806 w 903"/>
                <a:gd name="T31" fmla="*/ 92 h 903"/>
                <a:gd name="T32" fmla="*/ 810 w 903"/>
                <a:gd name="T33" fmla="*/ 96 h 903"/>
                <a:gd name="T34" fmla="*/ 812 w 903"/>
                <a:gd name="T35" fmla="*/ 102 h 903"/>
                <a:gd name="T36" fmla="*/ 813 w 903"/>
                <a:gd name="T37" fmla="*/ 496 h 903"/>
                <a:gd name="T38" fmla="*/ 15 w 903"/>
                <a:gd name="T39" fmla="*/ 0 h 903"/>
                <a:gd name="T40" fmla="*/ 9 w 903"/>
                <a:gd name="T41" fmla="*/ 1 h 903"/>
                <a:gd name="T42" fmla="*/ 5 w 903"/>
                <a:gd name="T43" fmla="*/ 4 h 903"/>
                <a:gd name="T44" fmla="*/ 1 w 903"/>
                <a:gd name="T45" fmla="*/ 8 h 903"/>
                <a:gd name="T46" fmla="*/ 0 w 903"/>
                <a:gd name="T47" fmla="*/ 15 h 903"/>
                <a:gd name="T48" fmla="*/ 0 w 903"/>
                <a:gd name="T49" fmla="*/ 590 h 903"/>
                <a:gd name="T50" fmla="*/ 2 w 903"/>
                <a:gd name="T51" fmla="*/ 595 h 903"/>
                <a:gd name="T52" fmla="*/ 7 w 903"/>
                <a:gd name="T53" fmla="*/ 599 h 903"/>
                <a:gd name="T54" fmla="*/ 12 w 903"/>
                <a:gd name="T55" fmla="*/ 602 h 903"/>
                <a:gd name="T56" fmla="*/ 437 w 903"/>
                <a:gd name="T57" fmla="*/ 602 h 903"/>
                <a:gd name="T58" fmla="*/ 260 w 903"/>
                <a:gd name="T59" fmla="*/ 877 h 903"/>
                <a:gd name="T60" fmla="*/ 257 w 903"/>
                <a:gd name="T61" fmla="*/ 883 h 903"/>
                <a:gd name="T62" fmla="*/ 256 w 903"/>
                <a:gd name="T63" fmla="*/ 888 h 903"/>
                <a:gd name="T64" fmla="*/ 257 w 903"/>
                <a:gd name="T65" fmla="*/ 893 h 903"/>
                <a:gd name="T66" fmla="*/ 260 w 903"/>
                <a:gd name="T67" fmla="*/ 899 h 903"/>
                <a:gd name="T68" fmla="*/ 265 w 903"/>
                <a:gd name="T69" fmla="*/ 902 h 903"/>
                <a:gd name="T70" fmla="*/ 271 w 903"/>
                <a:gd name="T71" fmla="*/ 903 h 903"/>
                <a:gd name="T72" fmla="*/ 277 w 903"/>
                <a:gd name="T73" fmla="*/ 902 h 903"/>
                <a:gd name="T74" fmla="*/ 281 w 903"/>
                <a:gd name="T75" fmla="*/ 899 h 903"/>
                <a:gd name="T76" fmla="*/ 621 w 903"/>
                <a:gd name="T77" fmla="*/ 899 h 903"/>
                <a:gd name="T78" fmla="*/ 627 w 903"/>
                <a:gd name="T79" fmla="*/ 902 h 903"/>
                <a:gd name="T80" fmla="*/ 632 w 903"/>
                <a:gd name="T81" fmla="*/ 903 h 903"/>
                <a:gd name="T82" fmla="*/ 637 w 903"/>
                <a:gd name="T83" fmla="*/ 902 h 903"/>
                <a:gd name="T84" fmla="*/ 643 w 903"/>
                <a:gd name="T85" fmla="*/ 899 h 903"/>
                <a:gd name="T86" fmla="*/ 646 w 903"/>
                <a:gd name="T87" fmla="*/ 893 h 903"/>
                <a:gd name="T88" fmla="*/ 647 w 903"/>
                <a:gd name="T89" fmla="*/ 888 h 903"/>
                <a:gd name="T90" fmla="*/ 646 w 903"/>
                <a:gd name="T91" fmla="*/ 883 h 903"/>
                <a:gd name="T92" fmla="*/ 643 w 903"/>
                <a:gd name="T93" fmla="*/ 877 h 903"/>
                <a:gd name="T94" fmla="*/ 467 w 903"/>
                <a:gd name="T95" fmla="*/ 602 h 903"/>
                <a:gd name="T96" fmla="*/ 892 w 903"/>
                <a:gd name="T97" fmla="*/ 602 h 903"/>
                <a:gd name="T98" fmla="*/ 897 w 903"/>
                <a:gd name="T99" fmla="*/ 599 h 903"/>
                <a:gd name="T100" fmla="*/ 900 w 903"/>
                <a:gd name="T101" fmla="*/ 595 h 903"/>
                <a:gd name="T102" fmla="*/ 902 w 903"/>
                <a:gd name="T103" fmla="*/ 590 h 903"/>
                <a:gd name="T104" fmla="*/ 903 w 903"/>
                <a:gd name="T105" fmla="*/ 15 h 903"/>
                <a:gd name="T106" fmla="*/ 902 w 903"/>
                <a:gd name="T107" fmla="*/ 8 h 903"/>
                <a:gd name="T108" fmla="*/ 899 w 903"/>
                <a:gd name="T109" fmla="*/ 4 h 903"/>
                <a:gd name="T110" fmla="*/ 894 w 903"/>
                <a:gd name="T111" fmla="*/ 1 h 903"/>
                <a:gd name="T112" fmla="*/ 888 w 903"/>
                <a:gd name="T113" fmla="*/ 0 h 9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03" h="903">
                  <a:moveTo>
                    <a:pt x="813" y="496"/>
                  </a:moveTo>
                  <a:lnTo>
                    <a:pt x="812" y="500"/>
                  </a:lnTo>
                  <a:lnTo>
                    <a:pt x="811" y="502"/>
                  </a:lnTo>
                  <a:lnTo>
                    <a:pt x="810" y="505"/>
                  </a:lnTo>
                  <a:lnTo>
                    <a:pt x="808" y="507"/>
                  </a:lnTo>
                  <a:lnTo>
                    <a:pt x="806" y="509"/>
                  </a:lnTo>
                  <a:lnTo>
                    <a:pt x="804" y="510"/>
                  </a:lnTo>
                  <a:lnTo>
                    <a:pt x="800" y="511"/>
                  </a:lnTo>
                  <a:lnTo>
                    <a:pt x="797" y="511"/>
                  </a:lnTo>
                  <a:lnTo>
                    <a:pt x="105" y="511"/>
                  </a:lnTo>
                  <a:lnTo>
                    <a:pt x="102" y="511"/>
                  </a:lnTo>
                  <a:lnTo>
                    <a:pt x="99" y="510"/>
                  </a:lnTo>
                  <a:lnTo>
                    <a:pt x="97" y="509"/>
                  </a:lnTo>
                  <a:lnTo>
                    <a:pt x="95" y="507"/>
                  </a:lnTo>
                  <a:lnTo>
                    <a:pt x="93" y="505"/>
                  </a:lnTo>
                  <a:lnTo>
                    <a:pt x="92" y="502"/>
                  </a:lnTo>
                  <a:lnTo>
                    <a:pt x="90" y="500"/>
                  </a:lnTo>
                  <a:lnTo>
                    <a:pt x="90" y="496"/>
                  </a:lnTo>
                  <a:lnTo>
                    <a:pt x="90" y="316"/>
                  </a:lnTo>
                  <a:lnTo>
                    <a:pt x="90" y="105"/>
                  </a:lnTo>
                  <a:lnTo>
                    <a:pt x="90" y="102"/>
                  </a:lnTo>
                  <a:lnTo>
                    <a:pt x="92" y="100"/>
                  </a:lnTo>
                  <a:lnTo>
                    <a:pt x="93" y="96"/>
                  </a:lnTo>
                  <a:lnTo>
                    <a:pt x="95" y="94"/>
                  </a:lnTo>
                  <a:lnTo>
                    <a:pt x="97" y="92"/>
                  </a:lnTo>
                  <a:lnTo>
                    <a:pt x="99" y="91"/>
                  </a:lnTo>
                  <a:lnTo>
                    <a:pt x="102" y="90"/>
                  </a:lnTo>
                  <a:lnTo>
                    <a:pt x="105" y="90"/>
                  </a:lnTo>
                  <a:lnTo>
                    <a:pt x="798" y="90"/>
                  </a:lnTo>
                  <a:lnTo>
                    <a:pt x="800" y="90"/>
                  </a:lnTo>
                  <a:lnTo>
                    <a:pt x="804" y="91"/>
                  </a:lnTo>
                  <a:lnTo>
                    <a:pt x="806" y="92"/>
                  </a:lnTo>
                  <a:lnTo>
                    <a:pt x="808" y="94"/>
                  </a:lnTo>
                  <a:lnTo>
                    <a:pt x="810" y="96"/>
                  </a:lnTo>
                  <a:lnTo>
                    <a:pt x="811" y="100"/>
                  </a:lnTo>
                  <a:lnTo>
                    <a:pt x="812" y="102"/>
                  </a:lnTo>
                  <a:lnTo>
                    <a:pt x="813" y="105"/>
                  </a:lnTo>
                  <a:lnTo>
                    <a:pt x="813" y="496"/>
                  </a:lnTo>
                  <a:close/>
                  <a:moveTo>
                    <a:pt x="888" y="0"/>
                  </a:moveTo>
                  <a:lnTo>
                    <a:pt x="15" y="0"/>
                  </a:lnTo>
                  <a:lnTo>
                    <a:pt x="12" y="0"/>
                  </a:lnTo>
                  <a:lnTo>
                    <a:pt x="9" y="1"/>
                  </a:lnTo>
                  <a:lnTo>
                    <a:pt x="7" y="2"/>
                  </a:lnTo>
                  <a:lnTo>
                    <a:pt x="5" y="4"/>
                  </a:lnTo>
                  <a:lnTo>
                    <a:pt x="2" y="6"/>
                  </a:lnTo>
                  <a:lnTo>
                    <a:pt x="1" y="8"/>
                  </a:lnTo>
                  <a:lnTo>
                    <a:pt x="0" y="12"/>
                  </a:lnTo>
                  <a:lnTo>
                    <a:pt x="0" y="15"/>
                  </a:lnTo>
                  <a:lnTo>
                    <a:pt x="0" y="587"/>
                  </a:lnTo>
                  <a:lnTo>
                    <a:pt x="0" y="590"/>
                  </a:lnTo>
                  <a:lnTo>
                    <a:pt x="1" y="593"/>
                  </a:lnTo>
                  <a:lnTo>
                    <a:pt x="2" y="595"/>
                  </a:lnTo>
                  <a:lnTo>
                    <a:pt x="5" y="597"/>
                  </a:lnTo>
                  <a:lnTo>
                    <a:pt x="7" y="599"/>
                  </a:lnTo>
                  <a:lnTo>
                    <a:pt x="9" y="601"/>
                  </a:lnTo>
                  <a:lnTo>
                    <a:pt x="12" y="602"/>
                  </a:lnTo>
                  <a:lnTo>
                    <a:pt x="15" y="602"/>
                  </a:lnTo>
                  <a:lnTo>
                    <a:pt x="437" y="602"/>
                  </a:lnTo>
                  <a:lnTo>
                    <a:pt x="437" y="701"/>
                  </a:lnTo>
                  <a:lnTo>
                    <a:pt x="260" y="877"/>
                  </a:lnTo>
                  <a:lnTo>
                    <a:pt x="259" y="879"/>
                  </a:lnTo>
                  <a:lnTo>
                    <a:pt x="257" y="883"/>
                  </a:lnTo>
                  <a:lnTo>
                    <a:pt x="256" y="885"/>
                  </a:lnTo>
                  <a:lnTo>
                    <a:pt x="256" y="888"/>
                  </a:lnTo>
                  <a:lnTo>
                    <a:pt x="256" y="891"/>
                  </a:lnTo>
                  <a:lnTo>
                    <a:pt x="257" y="893"/>
                  </a:lnTo>
                  <a:lnTo>
                    <a:pt x="259" y="897"/>
                  </a:lnTo>
                  <a:lnTo>
                    <a:pt x="260" y="899"/>
                  </a:lnTo>
                  <a:lnTo>
                    <a:pt x="263" y="901"/>
                  </a:lnTo>
                  <a:lnTo>
                    <a:pt x="265" y="902"/>
                  </a:lnTo>
                  <a:lnTo>
                    <a:pt x="268" y="903"/>
                  </a:lnTo>
                  <a:lnTo>
                    <a:pt x="271" y="903"/>
                  </a:lnTo>
                  <a:lnTo>
                    <a:pt x="274" y="903"/>
                  </a:lnTo>
                  <a:lnTo>
                    <a:pt x="277" y="902"/>
                  </a:lnTo>
                  <a:lnTo>
                    <a:pt x="279" y="901"/>
                  </a:lnTo>
                  <a:lnTo>
                    <a:pt x="281" y="899"/>
                  </a:lnTo>
                  <a:lnTo>
                    <a:pt x="452" y="728"/>
                  </a:lnTo>
                  <a:lnTo>
                    <a:pt x="621" y="899"/>
                  </a:lnTo>
                  <a:lnTo>
                    <a:pt x="623" y="901"/>
                  </a:lnTo>
                  <a:lnTo>
                    <a:pt x="627" y="902"/>
                  </a:lnTo>
                  <a:lnTo>
                    <a:pt x="629" y="903"/>
                  </a:lnTo>
                  <a:lnTo>
                    <a:pt x="632" y="903"/>
                  </a:lnTo>
                  <a:lnTo>
                    <a:pt x="635" y="903"/>
                  </a:lnTo>
                  <a:lnTo>
                    <a:pt x="637" y="902"/>
                  </a:lnTo>
                  <a:lnTo>
                    <a:pt x="641" y="901"/>
                  </a:lnTo>
                  <a:lnTo>
                    <a:pt x="643" y="899"/>
                  </a:lnTo>
                  <a:lnTo>
                    <a:pt x="645" y="897"/>
                  </a:lnTo>
                  <a:lnTo>
                    <a:pt x="646" y="893"/>
                  </a:lnTo>
                  <a:lnTo>
                    <a:pt x="647" y="891"/>
                  </a:lnTo>
                  <a:lnTo>
                    <a:pt x="647" y="888"/>
                  </a:lnTo>
                  <a:lnTo>
                    <a:pt x="647" y="885"/>
                  </a:lnTo>
                  <a:lnTo>
                    <a:pt x="646" y="883"/>
                  </a:lnTo>
                  <a:lnTo>
                    <a:pt x="645" y="879"/>
                  </a:lnTo>
                  <a:lnTo>
                    <a:pt x="643" y="877"/>
                  </a:lnTo>
                  <a:lnTo>
                    <a:pt x="467" y="701"/>
                  </a:lnTo>
                  <a:lnTo>
                    <a:pt x="467" y="602"/>
                  </a:lnTo>
                  <a:lnTo>
                    <a:pt x="888" y="602"/>
                  </a:lnTo>
                  <a:lnTo>
                    <a:pt x="892" y="602"/>
                  </a:lnTo>
                  <a:lnTo>
                    <a:pt x="894" y="601"/>
                  </a:lnTo>
                  <a:lnTo>
                    <a:pt x="897" y="599"/>
                  </a:lnTo>
                  <a:lnTo>
                    <a:pt x="899" y="597"/>
                  </a:lnTo>
                  <a:lnTo>
                    <a:pt x="900" y="595"/>
                  </a:lnTo>
                  <a:lnTo>
                    <a:pt x="902" y="593"/>
                  </a:lnTo>
                  <a:lnTo>
                    <a:pt x="902" y="590"/>
                  </a:lnTo>
                  <a:lnTo>
                    <a:pt x="903" y="587"/>
                  </a:lnTo>
                  <a:lnTo>
                    <a:pt x="903" y="15"/>
                  </a:lnTo>
                  <a:lnTo>
                    <a:pt x="902" y="12"/>
                  </a:lnTo>
                  <a:lnTo>
                    <a:pt x="902" y="8"/>
                  </a:lnTo>
                  <a:lnTo>
                    <a:pt x="900" y="6"/>
                  </a:lnTo>
                  <a:lnTo>
                    <a:pt x="899" y="4"/>
                  </a:lnTo>
                  <a:lnTo>
                    <a:pt x="897" y="2"/>
                  </a:lnTo>
                  <a:lnTo>
                    <a:pt x="894" y="1"/>
                  </a:lnTo>
                  <a:lnTo>
                    <a:pt x="892" y="0"/>
                  </a:lnTo>
                  <a:lnTo>
                    <a:pt x="888"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566">
              <a:extLst>
                <a:ext uri="{FF2B5EF4-FFF2-40B4-BE49-F238E27FC236}">
                  <a16:creationId xmlns:a16="http://schemas.microsoft.com/office/drawing/2014/main" id="{B7B50F87-A3AA-4FB6-9692-24BF5512FC5B}"/>
                </a:ext>
              </a:extLst>
            </p:cNvPr>
            <p:cNvSpPr>
              <a:spLocks/>
            </p:cNvSpPr>
            <p:nvPr/>
          </p:nvSpPr>
          <p:spPr bwMode="auto">
            <a:xfrm>
              <a:off x="2054225" y="4843463"/>
              <a:ext cx="200025" cy="73025"/>
            </a:xfrm>
            <a:custGeom>
              <a:avLst/>
              <a:gdLst>
                <a:gd name="T0" fmla="*/ 151 w 632"/>
                <a:gd name="T1" fmla="*/ 151 h 226"/>
                <a:gd name="T2" fmla="*/ 157 w 632"/>
                <a:gd name="T3" fmla="*/ 149 h 226"/>
                <a:gd name="T4" fmla="*/ 161 w 632"/>
                <a:gd name="T5" fmla="*/ 146 h 226"/>
                <a:gd name="T6" fmla="*/ 288 w 632"/>
                <a:gd name="T7" fmla="*/ 217 h 226"/>
                <a:gd name="T8" fmla="*/ 292 w 632"/>
                <a:gd name="T9" fmla="*/ 223 h 226"/>
                <a:gd name="T10" fmla="*/ 299 w 632"/>
                <a:gd name="T11" fmla="*/ 226 h 226"/>
                <a:gd name="T12" fmla="*/ 302 w 632"/>
                <a:gd name="T13" fmla="*/ 226 h 226"/>
                <a:gd name="T14" fmla="*/ 307 w 632"/>
                <a:gd name="T15" fmla="*/ 225 h 226"/>
                <a:gd name="T16" fmla="*/ 313 w 632"/>
                <a:gd name="T17" fmla="*/ 222 h 226"/>
                <a:gd name="T18" fmla="*/ 471 w 632"/>
                <a:gd name="T19" fmla="*/ 191 h 226"/>
                <a:gd name="T20" fmla="*/ 477 w 632"/>
                <a:gd name="T21" fmla="*/ 195 h 226"/>
                <a:gd name="T22" fmla="*/ 483 w 632"/>
                <a:gd name="T23" fmla="*/ 196 h 226"/>
                <a:gd name="T24" fmla="*/ 488 w 632"/>
                <a:gd name="T25" fmla="*/ 194 h 226"/>
                <a:gd name="T26" fmla="*/ 494 w 632"/>
                <a:gd name="T27" fmla="*/ 191 h 226"/>
                <a:gd name="T28" fmla="*/ 631 w 632"/>
                <a:gd name="T29" fmla="*/ 23 h 226"/>
                <a:gd name="T30" fmla="*/ 632 w 632"/>
                <a:gd name="T31" fmla="*/ 16 h 226"/>
                <a:gd name="T32" fmla="*/ 632 w 632"/>
                <a:gd name="T33" fmla="*/ 11 h 226"/>
                <a:gd name="T34" fmla="*/ 629 w 632"/>
                <a:gd name="T35" fmla="*/ 5 h 226"/>
                <a:gd name="T36" fmla="*/ 625 w 632"/>
                <a:gd name="T37" fmla="*/ 2 h 226"/>
                <a:gd name="T38" fmla="*/ 619 w 632"/>
                <a:gd name="T39" fmla="*/ 0 h 226"/>
                <a:gd name="T40" fmla="*/ 613 w 632"/>
                <a:gd name="T41" fmla="*/ 1 h 226"/>
                <a:gd name="T42" fmla="*/ 607 w 632"/>
                <a:gd name="T43" fmla="*/ 3 h 226"/>
                <a:gd name="T44" fmla="*/ 481 w 632"/>
                <a:gd name="T45" fmla="*/ 159 h 226"/>
                <a:gd name="T46" fmla="*/ 415 w 632"/>
                <a:gd name="T47" fmla="*/ 93 h 226"/>
                <a:gd name="T48" fmla="*/ 409 w 632"/>
                <a:gd name="T49" fmla="*/ 91 h 226"/>
                <a:gd name="T50" fmla="*/ 404 w 632"/>
                <a:gd name="T51" fmla="*/ 91 h 226"/>
                <a:gd name="T52" fmla="*/ 398 w 632"/>
                <a:gd name="T53" fmla="*/ 93 h 226"/>
                <a:gd name="T54" fmla="*/ 307 w 632"/>
                <a:gd name="T55" fmla="*/ 185 h 226"/>
                <a:gd name="T56" fmla="*/ 247 w 632"/>
                <a:gd name="T57" fmla="*/ 39 h 226"/>
                <a:gd name="T58" fmla="*/ 242 w 632"/>
                <a:gd name="T59" fmla="*/ 34 h 226"/>
                <a:gd name="T60" fmla="*/ 234 w 632"/>
                <a:gd name="T61" fmla="*/ 33 h 226"/>
                <a:gd name="T62" fmla="*/ 227 w 632"/>
                <a:gd name="T63" fmla="*/ 35 h 226"/>
                <a:gd name="T64" fmla="*/ 144 w 632"/>
                <a:gd name="T65" fmla="*/ 121 h 226"/>
                <a:gd name="T66" fmla="*/ 12 w 632"/>
                <a:gd name="T67" fmla="*/ 121 h 226"/>
                <a:gd name="T68" fmla="*/ 7 w 632"/>
                <a:gd name="T69" fmla="*/ 123 h 226"/>
                <a:gd name="T70" fmla="*/ 3 w 632"/>
                <a:gd name="T71" fmla="*/ 128 h 226"/>
                <a:gd name="T72" fmla="*/ 0 w 632"/>
                <a:gd name="T73" fmla="*/ 133 h 226"/>
                <a:gd name="T74" fmla="*/ 0 w 632"/>
                <a:gd name="T75" fmla="*/ 138 h 226"/>
                <a:gd name="T76" fmla="*/ 3 w 632"/>
                <a:gd name="T77" fmla="*/ 144 h 226"/>
                <a:gd name="T78" fmla="*/ 7 w 632"/>
                <a:gd name="T79" fmla="*/ 148 h 226"/>
                <a:gd name="T80" fmla="*/ 12 w 632"/>
                <a:gd name="T81" fmla="*/ 150 h 226"/>
                <a:gd name="T82" fmla="*/ 15 w 632"/>
                <a:gd name="T83" fmla="*/ 151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32" h="226">
                  <a:moveTo>
                    <a:pt x="15" y="151"/>
                  </a:moveTo>
                  <a:lnTo>
                    <a:pt x="151" y="151"/>
                  </a:lnTo>
                  <a:lnTo>
                    <a:pt x="154" y="150"/>
                  </a:lnTo>
                  <a:lnTo>
                    <a:pt x="157" y="149"/>
                  </a:lnTo>
                  <a:lnTo>
                    <a:pt x="159" y="148"/>
                  </a:lnTo>
                  <a:lnTo>
                    <a:pt x="161" y="146"/>
                  </a:lnTo>
                  <a:lnTo>
                    <a:pt x="230" y="75"/>
                  </a:lnTo>
                  <a:lnTo>
                    <a:pt x="288" y="217"/>
                  </a:lnTo>
                  <a:lnTo>
                    <a:pt x="289" y="220"/>
                  </a:lnTo>
                  <a:lnTo>
                    <a:pt x="292" y="223"/>
                  </a:lnTo>
                  <a:lnTo>
                    <a:pt x="294" y="224"/>
                  </a:lnTo>
                  <a:lnTo>
                    <a:pt x="299" y="226"/>
                  </a:lnTo>
                  <a:lnTo>
                    <a:pt x="300" y="226"/>
                  </a:lnTo>
                  <a:lnTo>
                    <a:pt x="302" y="226"/>
                  </a:lnTo>
                  <a:lnTo>
                    <a:pt x="304" y="226"/>
                  </a:lnTo>
                  <a:lnTo>
                    <a:pt x="307" y="225"/>
                  </a:lnTo>
                  <a:lnTo>
                    <a:pt x="309" y="223"/>
                  </a:lnTo>
                  <a:lnTo>
                    <a:pt x="313" y="222"/>
                  </a:lnTo>
                  <a:lnTo>
                    <a:pt x="407" y="127"/>
                  </a:lnTo>
                  <a:lnTo>
                    <a:pt x="471" y="191"/>
                  </a:lnTo>
                  <a:lnTo>
                    <a:pt x="473" y="193"/>
                  </a:lnTo>
                  <a:lnTo>
                    <a:pt x="477" y="195"/>
                  </a:lnTo>
                  <a:lnTo>
                    <a:pt x="480" y="196"/>
                  </a:lnTo>
                  <a:lnTo>
                    <a:pt x="483" y="196"/>
                  </a:lnTo>
                  <a:lnTo>
                    <a:pt x="486" y="195"/>
                  </a:lnTo>
                  <a:lnTo>
                    <a:pt x="488" y="194"/>
                  </a:lnTo>
                  <a:lnTo>
                    <a:pt x="492" y="193"/>
                  </a:lnTo>
                  <a:lnTo>
                    <a:pt x="494" y="191"/>
                  </a:lnTo>
                  <a:lnTo>
                    <a:pt x="629" y="25"/>
                  </a:lnTo>
                  <a:lnTo>
                    <a:pt x="631" y="23"/>
                  </a:lnTo>
                  <a:lnTo>
                    <a:pt x="632" y="19"/>
                  </a:lnTo>
                  <a:lnTo>
                    <a:pt x="632" y="16"/>
                  </a:lnTo>
                  <a:lnTo>
                    <a:pt x="632" y="14"/>
                  </a:lnTo>
                  <a:lnTo>
                    <a:pt x="632" y="11"/>
                  </a:lnTo>
                  <a:lnTo>
                    <a:pt x="631" y="9"/>
                  </a:lnTo>
                  <a:lnTo>
                    <a:pt x="629" y="5"/>
                  </a:lnTo>
                  <a:lnTo>
                    <a:pt x="627" y="3"/>
                  </a:lnTo>
                  <a:lnTo>
                    <a:pt x="625" y="2"/>
                  </a:lnTo>
                  <a:lnTo>
                    <a:pt x="621" y="1"/>
                  </a:lnTo>
                  <a:lnTo>
                    <a:pt x="619" y="0"/>
                  </a:lnTo>
                  <a:lnTo>
                    <a:pt x="616" y="0"/>
                  </a:lnTo>
                  <a:lnTo>
                    <a:pt x="613" y="1"/>
                  </a:lnTo>
                  <a:lnTo>
                    <a:pt x="611" y="2"/>
                  </a:lnTo>
                  <a:lnTo>
                    <a:pt x="607" y="3"/>
                  </a:lnTo>
                  <a:lnTo>
                    <a:pt x="605" y="5"/>
                  </a:lnTo>
                  <a:lnTo>
                    <a:pt x="481" y="159"/>
                  </a:lnTo>
                  <a:lnTo>
                    <a:pt x="418" y="95"/>
                  </a:lnTo>
                  <a:lnTo>
                    <a:pt x="415" y="93"/>
                  </a:lnTo>
                  <a:lnTo>
                    <a:pt x="412" y="91"/>
                  </a:lnTo>
                  <a:lnTo>
                    <a:pt x="409" y="91"/>
                  </a:lnTo>
                  <a:lnTo>
                    <a:pt x="407" y="90"/>
                  </a:lnTo>
                  <a:lnTo>
                    <a:pt x="404" y="91"/>
                  </a:lnTo>
                  <a:lnTo>
                    <a:pt x="400" y="91"/>
                  </a:lnTo>
                  <a:lnTo>
                    <a:pt x="398" y="93"/>
                  </a:lnTo>
                  <a:lnTo>
                    <a:pt x="396" y="95"/>
                  </a:lnTo>
                  <a:lnTo>
                    <a:pt x="307" y="185"/>
                  </a:lnTo>
                  <a:lnTo>
                    <a:pt x="249" y="42"/>
                  </a:lnTo>
                  <a:lnTo>
                    <a:pt x="247" y="39"/>
                  </a:lnTo>
                  <a:lnTo>
                    <a:pt x="244" y="36"/>
                  </a:lnTo>
                  <a:lnTo>
                    <a:pt x="242" y="34"/>
                  </a:lnTo>
                  <a:lnTo>
                    <a:pt x="237" y="33"/>
                  </a:lnTo>
                  <a:lnTo>
                    <a:pt x="234" y="33"/>
                  </a:lnTo>
                  <a:lnTo>
                    <a:pt x="230" y="33"/>
                  </a:lnTo>
                  <a:lnTo>
                    <a:pt x="227" y="35"/>
                  </a:lnTo>
                  <a:lnTo>
                    <a:pt x="224" y="38"/>
                  </a:lnTo>
                  <a:lnTo>
                    <a:pt x="144" y="121"/>
                  </a:lnTo>
                  <a:lnTo>
                    <a:pt x="15" y="121"/>
                  </a:lnTo>
                  <a:lnTo>
                    <a:pt x="12" y="121"/>
                  </a:lnTo>
                  <a:lnTo>
                    <a:pt x="9" y="122"/>
                  </a:lnTo>
                  <a:lnTo>
                    <a:pt x="7" y="123"/>
                  </a:lnTo>
                  <a:lnTo>
                    <a:pt x="5" y="126"/>
                  </a:lnTo>
                  <a:lnTo>
                    <a:pt x="3" y="128"/>
                  </a:lnTo>
                  <a:lnTo>
                    <a:pt x="2" y="130"/>
                  </a:lnTo>
                  <a:lnTo>
                    <a:pt x="0" y="133"/>
                  </a:lnTo>
                  <a:lnTo>
                    <a:pt x="0" y="136"/>
                  </a:lnTo>
                  <a:lnTo>
                    <a:pt x="0" y="138"/>
                  </a:lnTo>
                  <a:lnTo>
                    <a:pt x="2" y="142"/>
                  </a:lnTo>
                  <a:lnTo>
                    <a:pt x="3" y="144"/>
                  </a:lnTo>
                  <a:lnTo>
                    <a:pt x="5" y="146"/>
                  </a:lnTo>
                  <a:lnTo>
                    <a:pt x="7" y="148"/>
                  </a:lnTo>
                  <a:lnTo>
                    <a:pt x="9" y="150"/>
                  </a:lnTo>
                  <a:lnTo>
                    <a:pt x="12" y="150"/>
                  </a:lnTo>
                  <a:lnTo>
                    <a:pt x="15" y="151"/>
                  </a:lnTo>
                  <a:lnTo>
                    <a:pt x="15" y="15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4" name="Diamond 3">
            <a:extLst>
              <a:ext uri="{FF2B5EF4-FFF2-40B4-BE49-F238E27FC236}">
                <a16:creationId xmlns:a16="http://schemas.microsoft.com/office/drawing/2014/main" id="{1C59176D-59A8-4C02-B448-EE01232FB3E7}"/>
              </a:ext>
              <a:ext uri="{C183D7F6-B498-43B3-948B-1728B52AA6E4}">
                <adec:decorative xmlns:adec="http://schemas.microsoft.com/office/drawing/2017/decorative" val="1"/>
              </a:ext>
            </a:extLst>
          </p:cNvPr>
          <p:cNvSpPr>
            <a:spLocks noChangeAspect="1"/>
          </p:cNvSpPr>
          <p:nvPr/>
        </p:nvSpPr>
        <p:spPr>
          <a:xfrm>
            <a:off x="4792319" y="-608242"/>
            <a:ext cx="2607364" cy="2607364"/>
          </a:xfrm>
          <a:prstGeom prst="diamond">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Diamond 4">
            <a:extLst>
              <a:ext uri="{FF2B5EF4-FFF2-40B4-BE49-F238E27FC236}">
                <a16:creationId xmlns:a16="http://schemas.microsoft.com/office/drawing/2014/main" id="{A50B1817-3C7F-41BC-8557-7A00C928EE16}"/>
              </a:ext>
              <a:ext uri="{C183D7F6-B498-43B3-948B-1728B52AA6E4}">
                <adec:decorative xmlns:adec="http://schemas.microsoft.com/office/drawing/2017/decorative" val="1"/>
              </a:ext>
            </a:extLst>
          </p:cNvPr>
          <p:cNvSpPr>
            <a:spLocks noChangeAspect="1"/>
          </p:cNvSpPr>
          <p:nvPr/>
        </p:nvSpPr>
        <p:spPr>
          <a:xfrm>
            <a:off x="4325258" y="-1770743"/>
            <a:ext cx="3541486" cy="3541486"/>
          </a:xfrm>
          <a:prstGeom prst="diamond">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Rectangle 5">
            <a:extLst>
              <a:ext uri="{FF2B5EF4-FFF2-40B4-BE49-F238E27FC236}">
                <a16:creationId xmlns:a16="http://schemas.microsoft.com/office/drawing/2014/main" id="{20A1171C-8248-9029-D37E-96163A697D44}"/>
              </a:ext>
            </a:extLst>
          </p:cNvPr>
          <p:cNvSpPr/>
          <p:nvPr/>
        </p:nvSpPr>
        <p:spPr>
          <a:xfrm>
            <a:off x="0" y="0"/>
            <a:ext cx="12192000" cy="6858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5BF6F4C-7866-CE9D-1658-BC77583868CB}"/>
              </a:ext>
            </a:extLst>
          </p:cNvPr>
          <p:cNvSpPr txBox="1"/>
          <p:nvPr/>
        </p:nvSpPr>
        <p:spPr>
          <a:xfrm>
            <a:off x="3786673" y="5317783"/>
            <a:ext cx="4618653" cy="369332"/>
          </a:xfrm>
          <a:prstGeom prst="rect">
            <a:avLst/>
          </a:prstGeom>
          <a:noFill/>
        </p:spPr>
        <p:txBody>
          <a:bodyPr wrap="square" rtlCol="0">
            <a:spAutoFit/>
          </a:bodyPr>
          <a:lstStyle/>
          <a:p>
            <a:pPr algn="ctr"/>
            <a:r>
              <a:rPr lang="en-IN" dirty="0">
                <a:solidFill>
                  <a:schemeClr val="bg1"/>
                </a:solidFill>
              </a:rPr>
              <a:t>By Yog Gupta</a:t>
            </a:r>
          </a:p>
        </p:txBody>
      </p:sp>
    </p:spTree>
    <p:extLst>
      <p:ext uri="{BB962C8B-B14F-4D97-AF65-F5344CB8AC3E}">
        <p14:creationId xmlns:p14="http://schemas.microsoft.com/office/powerpoint/2010/main" val="238784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65D4-54DC-7C2D-EE14-02674B343966}"/>
              </a:ext>
            </a:extLst>
          </p:cNvPr>
          <p:cNvSpPr>
            <a:spLocks noGrp="1"/>
          </p:cNvSpPr>
          <p:nvPr>
            <p:ph type="title"/>
          </p:nvPr>
        </p:nvSpPr>
        <p:spPr/>
        <p:txBody>
          <a:bodyPr/>
          <a:lstStyle/>
          <a:p>
            <a:r>
              <a:rPr lang="en-IN" dirty="0"/>
              <a:t>Summary</a:t>
            </a:r>
          </a:p>
        </p:txBody>
      </p:sp>
      <p:sp>
        <p:nvSpPr>
          <p:cNvPr id="3" name="TextBox 2">
            <a:extLst>
              <a:ext uri="{FF2B5EF4-FFF2-40B4-BE49-F238E27FC236}">
                <a16:creationId xmlns:a16="http://schemas.microsoft.com/office/drawing/2014/main" id="{A1CDAC1E-DA1A-DE89-E7E4-8DDAB8E5B9B6}"/>
              </a:ext>
            </a:extLst>
          </p:cNvPr>
          <p:cNvSpPr txBox="1"/>
          <p:nvPr/>
        </p:nvSpPr>
        <p:spPr>
          <a:xfrm>
            <a:off x="838200" y="1878496"/>
            <a:ext cx="10515600" cy="4093621"/>
          </a:xfrm>
          <a:prstGeom prst="rect">
            <a:avLst/>
          </a:prstGeom>
          <a:noFill/>
        </p:spPr>
        <p:txBody>
          <a:bodyPr wrap="square" rtlCol="0">
            <a:spAutoFit/>
          </a:bodyPr>
          <a:lstStyle/>
          <a:p>
            <a:pPr algn="just">
              <a:lnSpc>
                <a:spcPct val="115000"/>
              </a:lnSpc>
              <a:spcAft>
                <a:spcPts val="800"/>
              </a:spcAft>
              <a:buNone/>
            </a:pPr>
            <a:r>
              <a:rPr lang="en-IN" sz="1800" kern="100" dirty="0">
                <a:effectLst/>
                <a:latin typeface="Aptos" panose="020B0004020202020204" pitchFamily="34" charset="0"/>
                <a:ea typeface="Aptos" panose="020B0004020202020204" pitchFamily="34" charset="0"/>
                <a:cs typeface="Times New Roman" panose="02020603050405020304" pitchFamily="18" charset="0"/>
              </a:rPr>
              <a:t>Dataset contains sales data of shops in a region/country dating from April 2021 and ending in Feb 2023. There are </a:t>
            </a:r>
            <a:r>
              <a:rPr lang="en-IN" sz="1800" u="sng" kern="100" dirty="0">
                <a:effectLst/>
                <a:latin typeface="Aptos" panose="020B0004020202020204" pitchFamily="34" charset="0"/>
                <a:ea typeface="Aptos" panose="020B0004020202020204" pitchFamily="34" charset="0"/>
                <a:cs typeface="Times New Roman" panose="02020603050405020304" pitchFamily="18" charset="0"/>
              </a:rPr>
              <a:t>10 stores </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StoreID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101, 102 .... etc.) distributed across regions north, east, west, south. Sales were driven by total </a:t>
            </a:r>
            <a:r>
              <a:rPr lang="en-IN" sz="1800" u="sng" kern="100" dirty="0">
                <a:effectLst/>
                <a:latin typeface="Aptos" panose="020B0004020202020204" pitchFamily="34" charset="0"/>
                <a:ea typeface="Aptos" panose="020B0004020202020204" pitchFamily="34" charset="0"/>
                <a:cs typeface="Times New Roman" panose="02020603050405020304" pitchFamily="18" charset="0"/>
              </a:rPr>
              <a:t>20 reps </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RepID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201, 202, …etc.) for </a:t>
            </a:r>
            <a:r>
              <a:rPr lang="en-IN" sz="1800" u="sng" kern="100" dirty="0">
                <a:effectLst/>
                <a:latin typeface="Aptos" panose="020B0004020202020204" pitchFamily="34" charset="0"/>
                <a:ea typeface="Aptos" panose="020B0004020202020204" pitchFamily="34" charset="0"/>
                <a:cs typeface="Times New Roman" panose="02020603050405020304" pitchFamily="18" charset="0"/>
              </a:rPr>
              <a:t>20 products</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ProductID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301, 302, …etc.) grouped under </a:t>
            </a:r>
            <a:r>
              <a:rPr lang="en-IN" sz="1800" u="sng" kern="100" dirty="0">
                <a:effectLst/>
                <a:latin typeface="Aptos" panose="020B0004020202020204" pitchFamily="34" charset="0"/>
                <a:ea typeface="Aptos" panose="020B0004020202020204" pitchFamily="34" charset="0"/>
                <a:cs typeface="Times New Roman" panose="02020603050405020304" pitchFamily="18" charset="0"/>
              </a:rPr>
              <a:t>4 different categories </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(Clothing, Electronics, Toys and Home &amp; Kitchen) with 10 subcategories. The dataset was an excel file with different sheets for Store data, Product data, Rep data and sales data.</a:t>
            </a:r>
          </a:p>
          <a:p>
            <a:pPr algn="just">
              <a:lnSpc>
                <a:spcPct val="115000"/>
              </a:lnSpc>
              <a:spcAft>
                <a:spcPts val="800"/>
              </a:spcAft>
              <a:buNone/>
            </a:pPr>
            <a:r>
              <a:rPr lang="en-IN" sz="1800" kern="100" dirty="0">
                <a:effectLst/>
                <a:latin typeface="Aptos" panose="020B0004020202020204" pitchFamily="34" charset="0"/>
                <a:ea typeface="Aptos" panose="020B0004020202020204" pitchFamily="34" charset="0"/>
                <a:cs typeface="Times New Roman" panose="02020603050405020304" pitchFamily="18" charset="0"/>
              </a:rPr>
              <a:t>Each one had unique info about their subject as follows:</a:t>
            </a:r>
          </a:p>
          <a:p>
            <a:pPr algn="just">
              <a:lnSpc>
                <a:spcPct val="115000"/>
              </a:lnSpc>
              <a:spcAft>
                <a:spcPts val="800"/>
              </a:spcAft>
              <a:buNone/>
            </a:pPr>
            <a:r>
              <a:rPr lang="en-IN" sz="1800" kern="100" dirty="0">
                <a:effectLst/>
                <a:latin typeface="Aptos" panose="020B0004020202020204" pitchFamily="34" charset="0"/>
                <a:ea typeface="Aptos" panose="020B0004020202020204" pitchFamily="34" charset="0"/>
                <a:cs typeface="Times New Roman" panose="02020603050405020304" pitchFamily="18" charset="0"/>
              </a:rPr>
              <a:t>Sales data-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StoreID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RepID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ProductID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date of purchase, Discount on product (varied at each store), unit price of product after discount, store of purchase, region of store, quantity of purchase. </a:t>
            </a:r>
          </a:p>
          <a:p>
            <a:pPr algn="just">
              <a:lnSpc>
                <a:spcPct val="115000"/>
              </a:lnSpc>
              <a:spcAft>
                <a:spcPts val="800"/>
              </a:spcAft>
              <a:buNone/>
            </a:pPr>
            <a:r>
              <a:rPr lang="en-IN" sz="1800" kern="100" dirty="0">
                <a:effectLst/>
                <a:latin typeface="Aptos" panose="020B0004020202020204" pitchFamily="34" charset="0"/>
                <a:ea typeface="Aptos" panose="020B0004020202020204" pitchFamily="34" charset="0"/>
                <a:cs typeface="Times New Roman" panose="02020603050405020304" pitchFamily="18" charset="0"/>
              </a:rPr>
              <a:t>Product data-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ProductID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costprice</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Brandname</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category subcategory</a:t>
            </a:r>
          </a:p>
          <a:p>
            <a:pPr algn="just">
              <a:lnSpc>
                <a:spcPct val="115000"/>
              </a:lnSpc>
              <a:spcAft>
                <a:spcPts val="800"/>
              </a:spcAft>
              <a:buNone/>
            </a:pPr>
            <a:r>
              <a:rPr lang="en-IN" sz="1800" kern="100" dirty="0">
                <a:effectLst/>
                <a:latin typeface="Aptos" panose="020B0004020202020204" pitchFamily="34" charset="0"/>
                <a:ea typeface="Aptos" panose="020B0004020202020204" pitchFamily="34" charset="0"/>
                <a:cs typeface="Times New Roman" panose="02020603050405020304" pitchFamily="18" charset="0"/>
              </a:rPr>
              <a:t>Store data-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StoreID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Region, Date of opening, </a:t>
            </a:r>
          </a:p>
          <a:p>
            <a:pPr algn="just">
              <a:lnSpc>
                <a:spcPct val="115000"/>
              </a:lnSpc>
              <a:spcAft>
                <a:spcPts val="800"/>
              </a:spcAft>
            </a:pPr>
            <a:r>
              <a:rPr lang="en-IN" sz="1800" kern="100" dirty="0">
                <a:effectLst/>
                <a:latin typeface="Aptos" panose="020B0004020202020204" pitchFamily="34" charset="0"/>
                <a:ea typeface="Aptos" panose="020B0004020202020204" pitchFamily="34" charset="0"/>
                <a:cs typeface="Times New Roman" panose="02020603050405020304" pitchFamily="18" charset="0"/>
              </a:rPr>
              <a:t>Rep data-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RepID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joining date, </a:t>
            </a:r>
            <a:r>
              <a:rPr lang="en-IN" sz="1800" kern="100" dirty="0" err="1">
                <a:effectLst/>
                <a:latin typeface="Aptos" panose="020B0004020202020204" pitchFamily="34" charset="0"/>
                <a:ea typeface="Aptos" panose="020B0004020202020204" pitchFamily="34" charset="0"/>
                <a:cs typeface="Times New Roman" panose="02020603050405020304" pitchFamily="18" charset="0"/>
              </a:rPr>
              <a:t>StoreID</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 (where they work), Status (still working or left)</a:t>
            </a:r>
          </a:p>
        </p:txBody>
      </p:sp>
    </p:spTree>
    <p:extLst>
      <p:ext uri="{BB962C8B-B14F-4D97-AF65-F5344CB8AC3E}">
        <p14:creationId xmlns:p14="http://schemas.microsoft.com/office/powerpoint/2010/main" val="201804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5D53F83-FFA1-1071-1019-EEAA10F8F1FC}"/>
              </a:ext>
            </a:extLst>
          </p:cNvPr>
          <p:cNvSpPr txBox="1"/>
          <p:nvPr/>
        </p:nvSpPr>
        <p:spPr>
          <a:xfrm>
            <a:off x="287695" y="1257787"/>
            <a:ext cx="4461588" cy="2862322"/>
          </a:xfrm>
          <a:prstGeom prst="rect">
            <a:avLst/>
          </a:prstGeom>
          <a:noFill/>
        </p:spPr>
        <p:txBody>
          <a:bodyPr wrap="square" rtlCol="0">
            <a:spAutoFit/>
          </a:bodyPr>
          <a:lstStyle/>
          <a:p>
            <a:pPr algn="just"/>
            <a:r>
              <a:rPr lang="en-IN" kern="100" dirty="0">
                <a:effectLst/>
                <a:latin typeface="Aptos" panose="020B0004020202020204" pitchFamily="34" charset="0"/>
                <a:ea typeface="Aptos" panose="020B0004020202020204" pitchFamily="34" charset="0"/>
                <a:cs typeface="Times New Roman" panose="02020603050405020304" pitchFamily="18" charset="0"/>
              </a:rPr>
              <a:t>Highest sales by region: </a:t>
            </a:r>
            <a:r>
              <a:rPr lang="en-IN" kern="100" dirty="0">
                <a:latin typeface="Aptos" panose="020B0004020202020204" pitchFamily="34" charset="0"/>
                <a:ea typeface="Aptos" panose="020B0004020202020204" pitchFamily="34" charset="0"/>
                <a:cs typeface="Times New Roman" panose="02020603050405020304" pitchFamily="18" charset="0"/>
              </a:rPr>
              <a:t> </a:t>
            </a:r>
            <a:r>
              <a:rPr lang="en-IN" kern="100" dirty="0">
                <a:effectLst/>
                <a:latin typeface="Aptos" panose="020B0004020202020204" pitchFamily="34" charset="0"/>
                <a:ea typeface="Aptos" panose="020B0004020202020204" pitchFamily="34" charset="0"/>
                <a:cs typeface="Times New Roman" panose="02020603050405020304" pitchFamily="18" charset="0"/>
              </a:rPr>
              <a:t>North- December,</a:t>
            </a:r>
          </a:p>
          <a:p>
            <a:pPr algn="just"/>
            <a:r>
              <a:rPr lang="en-IN" kern="100" dirty="0">
                <a:effectLst/>
                <a:latin typeface="Aptos" panose="020B0004020202020204" pitchFamily="34" charset="0"/>
                <a:ea typeface="Aptos" panose="020B0004020202020204" pitchFamily="34" charset="0"/>
                <a:cs typeface="Times New Roman" panose="02020603050405020304" pitchFamily="18" charset="0"/>
              </a:rPr>
              <a:t>		             South- May, </a:t>
            </a:r>
          </a:p>
          <a:p>
            <a:pPr algn="just"/>
            <a:r>
              <a:rPr lang="en-IN" kern="100" dirty="0">
                <a:effectLst/>
                <a:latin typeface="Aptos" panose="020B0004020202020204" pitchFamily="34" charset="0"/>
                <a:ea typeface="Aptos" panose="020B0004020202020204" pitchFamily="34" charset="0"/>
                <a:cs typeface="Times New Roman" panose="02020603050405020304" pitchFamily="18" charset="0"/>
              </a:rPr>
              <a:t>		             East- June, </a:t>
            </a:r>
          </a:p>
          <a:p>
            <a:pPr algn="just"/>
            <a:r>
              <a:rPr lang="en-IN" kern="100" dirty="0">
                <a:effectLst/>
                <a:latin typeface="Aptos" panose="020B0004020202020204" pitchFamily="34" charset="0"/>
                <a:ea typeface="Aptos" panose="020B0004020202020204" pitchFamily="34" charset="0"/>
                <a:cs typeface="Times New Roman" panose="02020603050405020304" pitchFamily="18" charset="0"/>
              </a:rPr>
              <a:t> 		             West- March</a:t>
            </a:r>
          </a:p>
          <a:p>
            <a:pPr algn="just"/>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a:p>
            <a:pPr algn="just"/>
            <a:endParaRPr lang="en-IN" kern="100" dirty="0">
              <a:latin typeface="Aptos" panose="020B0004020202020204" pitchFamily="34" charset="0"/>
              <a:ea typeface="Aptos" panose="020B0004020202020204" pitchFamily="34" charset="0"/>
              <a:cs typeface="Times New Roman" panose="02020603050405020304" pitchFamily="18" charset="0"/>
            </a:endParaRPr>
          </a:p>
          <a:p>
            <a:pPr algn="just"/>
            <a:r>
              <a:rPr lang="en-IN" kern="100" dirty="0">
                <a:effectLst/>
                <a:latin typeface="Aptos" panose="020B0004020202020204" pitchFamily="34" charset="0"/>
                <a:ea typeface="Aptos" panose="020B0004020202020204" pitchFamily="34" charset="0"/>
                <a:cs typeface="Times New Roman" panose="02020603050405020304" pitchFamily="18" charset="0"/>
              </a:rPr>
              <a:t>Overall, the </a:t>
            </a:r>
            <a:r>
              <a:rPr lang="en-IN" u="sng" kern="100" dirty="0">
                <a:effectLst/>
                <a:latin typeface="Aptos" panose="020B0004020202020204" pitchFamily="34" charset="0"/>
                <a:ea typeface="Aptos" panose="020B0004020202020204" pitchFamily="34" charset="0"/>
                <a:cs typeface="Times New Roman" panose="02020603050405020304" pitchFamily="18" charset="0"/>
              </a:rPr>
              <a:t>highest sales</a:t>
            </a:r>
            <a:r>
              <a:rPr lang="en-IN" kern="100" dirty="0">
                <a:effectLst/>
                <a:latin typeface="Aptos" panose="020B0004020202020204" pitchFamily="34" charset="0"/>
                <a:ea typeface="Aptos" panose="020B0004020202020204" pitchFamily="34" charset="0"/>
                <a:cs typeface="Times New Roman" panose="02020603050405020304" pitchFamily="18" charset="0"/>
              </a:rPr>
              <a:t> were observed in </a:t>
            </a:r>
            <a:r>
              <a:rPr lang="en-IN" b="1" kern="100" dirty="0">
                <a:effectLst/>
                <a:latin typeface="Aptos" panose="020B0004020202020204" pitchFamily="34" charset="0"/>
                <a:ea typeface="Aptos" panose="020B0004020202020204" pitchFamily="34" charset="0"/>
                <a:cs typeface="Times New Roman" panose="02020603050405020304" pitchFamily="18" charset="0"/>
              </a:rPr>
              <a:t>May, June and July</a:t>
            </a:r>
            <a:r>
              <a:rPr lang="en-IN" kern="100" dirty="0">
                <a:effectLst/>
                <a:latin typeface="Aptos" panose="020B0004020202020204" pitchFamily="34" charset="0"/>
                <a:ea typeface="Aptos" panose="020B0004020202020204" pitchFamily="34" charset="0"/>
                <a:cs typeface="Times New Roman" panose="02020603050405020304" pitchFamily="18" charset="0"/>
              </a:rPr>
              <a:t> due to </a:t>
            </a:r>
            <a:r>
              <a:rPr lang="en-IN" u="sng" kern="100" dirty="0">
                <a:effectLst/>
                <a:latin typeface="Aptos" panose="020B0004020202020204" pitchFamily="34" charset="0"/>
                <a:ea typeface="Aptos" panose="020B0004020202020204" pitchFamily="34" charset="0"/>
                <a:cs typeface="Times New Roman" panose="02020603050405020304" pitchFamily="18" charset="0"/>
              </a:rPr>
              <a:t>collective sales in every region</a:t>
            </a:r>
            <a:r>
              <a:rPr lang="en-IN" kern="100" dirty="0">
                <a:effectLst/>
                <a:latin typeface="Aptos" panose="020B0004020202020204" pitchFamily="34" charset="0"/>
                <a:ea typeface="Aptos" panose="020B0004020202020204" pitchFamily="34" charset="0"/>
                <a:cs typeface="Times New Roman" panose="02020603050405020304" pitchFamily="18" charset="0"/>
              </a:rPr>
              <a:t>. </a:t>
            </a:r>
          </a:p>
          <a:p>
            <a:pPr algn="just"/>
            <a:r>
              <a:rPr lang="en-IN" kern="100" dirty="0">
                <a:effectLst/>
                <a:latin typeface="Aptos" panose="020B0004020202020204" pitchFamily="34" charset="0"/>
                <a:ea typeface="Aptos" panose="020B0004020202020204" pitchFamily="34" charset="0"/>
                <a:cs typeface="Times New Roman" panose="02020603050405020304" pitchFamily="18" charset="0"/>
              </a:rPr>
              <a:t>The graph shows the stats of year 2022.</a:t>
            </a:r>
          </a:p>
        </p:txBody>
      </p:sp>
      <p:sp>
        <p:nvSpPr>
          <p:cNvPr id="8" name="TextBox 7">
            <a:extLst>
              <a:ext uri="{FF2B5EF4-FFF2-40B4-BE49-F238E27FC236}">
                <a16:creationId xmlns:a16="http://schemas.microsoft.com/office/drawing/2014/main" id="{867A4003-09BC-12B9-165A-7CF4B4C0FF68}"/>
              </a:ext>
            </a:extLst>
          </p:cNvPr>
          <p:cNvSpPr txBox="1"/>
          <p:nvPr/>
        </p:nvSpPr>
        <p:spPr>
          <a:xfrm>
            <a:off x="1470924" y="184438"/>
            <a:ext cx="8541026" cy="461665"/>
          </a:xfrm>
          <a:prstGeom prst="rect">
            <a:avLst/>
          </a:prstGeom>
          <a:noFill/>
        </p:spPr>
        <p:txBody>
          <a:bodyPr wrap="square" rtlCol="0">
            <a:spAutoFit/>
          </a:bodyPr>
          <a:lstStyle/>
          <a:p>
            <a:pPr algn="ctr"/>
            <a:r>
              <a:rPr lang="en-IN" sz="2400" dirty="0"/>
              <a:t>Monthly sales by region</a:t>
            </a:r>
          </a:p>
        </p:txBody>
      </p:sp>
      <p:graphicFrame>
        <p:nvGraphicFramePr>
          <p:cNvPr id="10" name="Content Placeholder 9">
            <a:extLst>
              <a:ext uri="{FF2B5EF4-FFF2-40B4-BE49-F238E27FC236}">
                <a16:creationId xmlns:a16="http://schemas.microsoft.com/office/drawing/2014/main" id="{555C18DF-23BC-4568-B22B-8E22D65C2BB8}"/>
              </a:ext>
            </a:extLst>
          </p:cNvPr>
          <p:cNvGraphicFramePr>
            <a:graphicFrameLocks noGrp="1"/>
          </p:cNvGraphicFramePr>
          <p:nvPr>
            <p:ph idx="1"/>
            <p:extLst>
              <p:ext uri="{D42A27DB-BD31-4B8C-83A1-F6EECF244321}">
                <p14:modId xmlns:p14="http://schemas.microsoft.com/office/powerpoint/2010/main" val="2916449576"/>
              </p:ext>
            </p:extLst>
          </p:nvPr>
        </p:nvGraphicFramePr>
        <p:xfrm>
          <a:off x="5038531" y="1122774"/>
          <a:ext cx="6339947" cy="435133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889774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6B209-A56A-248D-A21C-3A5E48EDA176}"/>
              </a:ext>
            </a:extLst>
          </p:cNvPr>
          <p:cNvSpPr>
            <a:spLocks noGrp="1"/>
          </p:cNvSpPr>
          <p:nvPr>
            <p:ph type="title"/>
          </p:nvPr>
        </p:nvSpPr>
        <p:spPr/>
        <p:txBody>
          <a:bodyPr/>
          <a:lstStyle/>
          <a:p>
            <a:r>
              <a:rPr lang="en-IN" dirty="0"/>
              <a:t>Sales and profit comparison</a:t>
            </a:r>
          </a:p>
        </p:txBody>
      </p:sp>
      <p:sp>
        <p:nvSpPr>
          <p:cNvPr id="4" name="Text Placeholder 3">
            <a:extLst>
              <a:ext uri="{FF2B5EF4-FFF2-40B4-BE49-F238E27FC236}">
                <a16:creationId xmlns:a16="http://schemas.microsoft.com/office/drawing/2014/main" id="{B5107BE7-C915-E3CA-3902-9C83A1867320}"/>
              </a:ext>
            </a:extLst>
          </p:cNvPr>
          <p:cNvSpPr>
            <a:spLocks noGrp="1"/>
          </p:cNvSpPr>
          <p:nvPr>
            <p:ph type="body" sz="half" idx="2"/>
          </p:nvPr>
        </p:nvSpPr>
        <p:spPr>
          <a:xfrm>
            <a:off x="839788" y="2773016"/>
            <a:ext cx="3932237" cy="3095971"/>
          </a:xfrm>
        </p:spPr>
        <p:txBody>
          <a:bodyPr/>
          <a:lstStyle/>
          <a:p>
            <a:pPr algn="just"/>
            <a:r>
              <a:rPr lang="en-IN" sz="1800" b="1" dirty="0">
                <a:effectLst/>
                <a:latin typeface="Aptos" panose="020B0004020202020204" pitchFamily="34" charset="0"/>
                <a:ea typeface="Aptos" panose="020B0004020202020204" pitchFamily="34" charset="0"/>
                <a:cs typeface="Times New Roman" panose="02020603050405020304" pitchFamily="18" charset="0"/>
              </a:rPr>
              <a:t>Toys have better profitability</a:t>
            </a:r>
            <a:r>
              <a:rPr lang="en-IN" sz="1800" dirty="0">
                <a:effectLst/>
                <a:latin typeface="Aptos" panose="020B0004020202020204" pitchFamily="34" charset="0"/>
                <a:ea typeface="Aptos" panose="020B0004020202020204" pitchFamily="34" charset="0"/>
                <a:cs typeface="Times New Roman" panose="02020603050405020304" pitchFamily="18" charset="0"/>
              </a:rPr>
              <a:t> than Home &amp; Kitchen appliances since the profit of them is quite similar, but the sales differ greatly with a difference of $20K. While the profitability of clothing and electronics are also similar with no significant difference in sales.</a:t>
            </a:r>
            <a:endParaRPr lang="en-IN" dirty="0"/>
          </a:p>
        </p:txBody>
      </p:sp>
      <p:graphicFrame>
        <p:nvGraphicFramePr>
          <p:cNvPr id="7" name="Picture Placeholder 6">
            <a:extLst>
              <a:ext uri="{FF2B5EF4-FFF2-40B4-BE49-F238E27FC236}">
                <a16:creationId xmlns:a16="http://schemas.microsoft.com/office/drawing/2014/main" id="{B6F824FA-D122-445E-BA82-7D844271C5FE}"/>
              </a:ext>
            </a:extLst>
          </p:cNvPr>
          <p:cNvGraphicFramePr>
            <a:graphicFrameLocks noGrp="1"/>
          </p:cNvGraphicFramePr>
          <p:nvPr>
            <p:ph type="pic" idx="1"/>
            <p:extLst>
              <p:ext uri="{D42A27DB-BD31-4B8C-83A1-F6EECF244321}">
                <p14:modId xmlns:p14="http://schemas.microsoft.com/office/powerpoint/2010/main" val="6901260"/>
              </p:ext>
            </p:extLst>
          </p:nvPr>
        </p:nvGraphicFramePr>
        <p:xfrm>
          <a:off x="5180012" y="992187"/>
          <a:ext cx="6172200" cy="48736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91071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27DE4-324D-7729-CD0F-BAC2A27E83E8}"/>
              </a:ext>
            </a:extLst>
          </p:cNvPr>
          <p:cNvSpPr>
            <a:spLocks noGrp="1"/>
          </p:cNvSpPr>
          <p:nvPr>
            <p:ph type="title"/>
          </p:nvPr>
        </p:nvSpPr>
        <p:spPr/>
        <p:txBody>
          <a:bodyPr/>
          <a:lstStyle/>
          <a:p>
            <a:r>
              <a:rPr lang="en-IN" dirty="0"/>
              <a:t>Sales contribution by subcategory</a:t>
            </a:r>
          </a:p>
        </p:txBody>
      </p:sp>
      <p:sp>
        <p:nvSpPr>
          <p:cNvPr id="4" name="Text Placeholder 3">
            <a:extLst>
              <a:ext uri="{FF2B5EF4-FFF2-40B4-BE49-F238E27FC236}">
                <a16:creationId xmlns:a16="http://schemas.microsoft.com/office/drawing/2014/main" id="{F847FE55-7037-FC79-EEA8-1046B78F1608}"/>
              </a:ext>
            </a:extLst>
          </p:cNvPr>
          <p:cNvSpPr>
            <a:spLocks noGrp="1"/>
          </p:cNvSpPr>
          <p:nvPr>
            <p:ph type="body" sz="half" idx="2"/>
          </p:nvPr>
        </p:nvSpPr>
        <p:spPr>
          <a:xfrm>
            <a:off x="839788" y="3190460"/>
            <a:ext cx="3932237" cy="2678527"/>
          </a:xfrm>
        </p:spPr>
        <p:txBody>
          <a:bodyPr/>
          <a:lstStyle/>
          <a:p>
            <a:pPr algn="just"/>
            <a:r>
              <a:rPr lang="en-IN" sz="1800" kern="100" dirty="0">
                <a:effectLst/>
                <a:latin typeface="Aptos" panose="020B0004020202020204" pitchFamily="34" charset="0"/>
                <a:ea typeface="Aptos" panose="020B0004020202020204" pitchFamily="34" charset="0"/>
                <a:cs typeface="Times New Roman" panose="02020603050405020304" pitchFamily="18" charset="0"/>
              </a:rPr>
              <a:t>Most of the sales are from Home &amp; Kitchen (Furniture), Toys (Outdoor) and (Boardgame).</a:t>
            </a:r>
          </a:p>
          <a:p>
            <a:endParaRPr lang="en-IN" dirty="0"/>
          </a:p>
        </p:txBody>
      </p:sp>
      <p:graphicFrame>
        <p:nvGraphicFramePr>
          <p:cNvPr id="7" name="Picture Placeholder 6">
            <a:extLst>
              <a:ext uri="{FF2B5EF4-FFF2-40B4-BE49-F238E27FC236}">
                <a16:creationId xmlns:a16="http://schemas.microsoft.com/office/drawing/2014/main" id="{AA3CC2A5-BA61-4353-9950-8BD7F22322AA}"/>
              </a:ext>
            </a:extLst>
          </p:cNvPr>
          <p:cNvGraphicFramePr>
            <a:graphicFrameLocks noGrp="1"/>
          </p:cNvGraphicFramePr>
          <p:nvPr>
            <p:ph type="pic" idx="1"/>
            <p:extLst>
              <p:ext uri="{D42A27DB-BD31-4B8C-83A1-F6EECF244321}">
                <p14:modId xmlns:p14="http://schemas.microsoft.com/office/powerpoint/2010/main" val="119008254"/>
              </p:ext>
            </p:extLst>
          </p:nvPr>
        </p:nvGraphicFramePr>
        <p:xfrm>
          <a:off x="5183188" y="987425"/>
          <a:ext cx="6172200" cy="48736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257129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E2AEB-4507-CB8C-BAD0-9BF6B32E9842}"/>
              </a:ext>
            </a:extLst>
          </p:cNvPr>
          <p:cNvSpPr>
            <a:spLocks noGrp="1"/>
          </p:cNvSpPr>
          <p:nvPr>
            <p:ph type="title"/>
          </p:nvPr>
        </p:nvSpPr>
        <p:spPr>
          <a:xfrm>
            <a:off x="839787" y="513184"/>
            <a:ext cx="3932237" cy="1362269"/>
          </a:xfrm>
        </p:spPr>
        <p:txBody>
          <a:bodyPr/>
          <a:lstStyle/>
          <a:p>
            <a:r>
              <a:rPr lang="en-IN" dirty="0"/>
              <a:t>Performance per day by each rep</a:t>
            </a:r>
          </a:p>
        </p:txBody>
      </p:sp>
      <p:sp>
        <p:nvSpPr>
          <p:cNvPr id="4" name="Text Placeholder 3">
            <a:extLst>
              <a:ext uri="{FF2B5EF4-FFF2-40B4-BE49-F238E27FC236}">
                <a16:creationId xmlns:a16="http://schemas.microsoft.com/office/drawing/2014/main" id="{FC158779-B8D5-9E6A-1BEE-0C0C2DA8E240}"/>
              </a:ext>
            </a:extLst>
          </p:cNvPr>
          <p:cNvSpPr>
            <a:spLocks noGrp="1"/>
          </p:cNvSpPr>
          <p:nvPr>
            <p:ph type="body" sz="half" idx="2"/>
          </p:nvPr>
        </p:nvSpPr>
        <p:spPr>
          <a:xfrm>
            <a:off x="839787" y="2236305"/>
            <a:ext cx="3932237" cy="2847492"/>
          </a:xfrm>
        </p:spPr>
        <p:txBody>
          <a:bodyPr>
            <a:normAutofit lnSpcReduction="10000"/>
          </a:bodyPr>
          <a:lstStyle/>
          <a:p>
            <a:pPr algn="just"/>
            <a:r>
              <a:rPr lang="en-IN" sz="1800" dirty="0">
                <a:latin typeface="Aptos" panose="020B0004020202020204" pitchFamily="34" charset="0"/>
              </a:rPr>
              <a:t>The given plot shows avg. per day sales of each representative, be it active ones or the ones who have left their respective stores. This gives a fair comparison since they have all joined at different points(quarter, month, year) in time.</a:t>
            </a:r>
          </a:p>
          <a:p>
            <a:pPr algn="just"/>
            <a:endParaRPr lang="en-IN" sz="1800" dirty="0">
              <a:latin typeface="Aptos" panose="020B0004020202020204" pitchFamily="34" charset="0"/>
            </a:endParaRPr>
          </a:p>
          <a:p>
            <a:pPr algn="just"/>
            <a:r>
              <a:rPr lang="en-IN" sz="1800" dirty="0">
                <a:latin typeface="Aptos" panose="020B0004020202020204" pitchFamily="34" charset="0"/>
              </a:rPr>
              <a:t>The plot shows </a:t>
            </a:r>
            <a:r>
              <a:rPr lang="en-IN" sz="1800" b="1" dirty="0">
                <a:latin typeface="Aptos" panose="020B0004020202020204" pitchFamily="34" charset="0"/>
              </a:rPr>
              <a:t>Rep 205, 207, 219 </a:t>
            </a:r>
            <a:r>
              <a:rPr lang="en-IN" sz="1800" dirty="0">
                <a:latin typeface="Aptos" panose="020B0004020202020204" pitchFamily="34" charset="0"/>
              </a:rPr>
              <a:t>to be the best performers among the 20 reps.</a:t>
            </a:r>
          </a:p>
        </p:txBody>
      </p:sp>
      <p:graphicFrame>
        <p:nvGraphicFramePr>
          <p:cNvPr id="6" name="Picture Placeholder 5">
            <a:extLst>
              <a:ext uri="{FF2B5EF4-FFF2-40B4-BE49-F238E27FC236}">
                <a16:creationId xmlns:a16="http://schemas.microsoft.com/office/drawing/2014/main" id="{892C7AFD-6AD3-43DB-A8DB-CAB9966BE636}"/>
              </a:ext>
            </a:extLst>
          </p:cNvPr>
          <p:cNvGraphicFramePr>
            <a:graphicFrameLocks noGrp="1"/>
          </p:cNvGraphicFramePr>
          <p:nvPr>
            <p:ph type="pic" idx="1"/>
            <p:extLst>
              <p:ext uri="{D42A27DB-BD31-4B8C-83A1-F6EECF244321}">
                <p14:modId xmlns:p14="http://schemas.microsoft.com/office/powerpoint/2010/main" val="2304990423"/>
              </p:ext>
            </p:extLst>
          </p:nvPr>
        </p:nvGraphicFramePr>
        <p:xfrm>
          <a:off x="5183188" y="987425"/>
          <a:ext cx="6172200" cy="48736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151698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48626-2F8A-E921-4738-C81B281F1095}"/>
              </a:ext>
            </a:extLst>
          </p:cNvPr>
          <p:cNvSpPr>
            <a:spLocks noGrp="1"/>
          </p:cNvSpPr>
          <p:nvPr>
            <p:ph type="title"/>
          </p:nvPr>
        </p:nvSpPr>
        <p:spPr>
          <a:xfrm>
            <a:off x="839788" y="457200"/>
            <a:ext cx="3932237" cy="1003852"/>
          </a:xfrm>
        </p:spPr>
        <p:txBody>
          <a:bodyPr/>
          <a:lstStyle/>
          <a:p>
            <a:r>
              <a:rPr lang="en-IN" dirty="0"/>
              <a:t>Products by profit</a:t>
            </a:r>
          </a:p>
        </p:txBody>
      </p:sp>
      <p:sp>
        <p:nvSpPr>
          <p:cNvPr id="4" name="Text Placeholder 3">
            <a:extLst>
              <a:ext uri="{FF2B5EF4-FFF2-40B4-BE49-F238E27FC236}">
                <a16:creationId xmlns:a16="http://schemas.microsoft.com/office/drawing/2014/main" id="{886873C7-C059-4EB4-916D-6ECDB9FE7139}"/>
              </a:ext>
            </a:extLst>
          </p:cNvPr>
          <p:cNvSpPr>
            <a:spLocks noGrp="1"/>
          </p:cNvSpPr>
          <p:nvPr>
            <p:ph type="body" sz="half" idx="2"/>
          </p:nvPr>
        </p:nvSpPr>
        <p:spPr>
          <a:xfrm>
            <a:off x="836612" y="2136912"/>
            <a:ext cx="3932237" cy="3554761"/>
          </a:xfrm>
        </p:spPr>
        <p:txBody>
          <a:bodyPr>
            <a:normAutofit lnSpcReduction="10000"/>
          </a:bodyPr>
          <a:lstStyle/>
          <a:p>
            <a:pPr algn="just"/>
            <a:r>
              <a:rPr lang="en-IN" sz="1800" dirty="0">
                <a:latin typeface="Aptos" panose="020B0004020202020204" pitchFamily="34" charset="0"/>
              </a:rPr>
              <a:t>The plot gives info about how each product has given the profit  over the duration of sales record i.e. May 2021 to Feb 2023.</a:t>
            </a:r>
          </a:p>
          <a:p>
            <a:pPr algn="just"/>
            <a:r>
              <a:rPr lang="en-IN" sz="1800" dirty="0">
                <a:latin typeface="Aptos" panose="020B0004020202020204" pitchFamily="34" charset="0"/>
              </a:rPr>
              <a:t> The top 5 profitable products belong to the Home &amp; Kitchen and Toys category.</a:t>
            </a:r>
          </a:p>
          <a:p>
            <a:pPr algn="just"/>
            <a:endParaRPr lang="en-IN" sz="1800" dirty="0">
              <a:latin typeface="Aptos" panose="020B0004020202020204" pitchFamily="34" charset="0"/>
            </a:endParaRPr>
          </a:p>
          <a:p>
            <a:pPr algn="just"/>
            <a:r>
              <a:rPr lang="en-IN" sz="1800" dirty="0">
                <a:latin typeface="Aptos" panose="020B0004020202020204" pitchFamily="34" charset="0"/>
              </a:rPr>
              <a:t>The bottom 5 products with loss also belong to the same 2 categories. We have further examined their sales over the years to check if there’s any progress in sales.</a:t>
            </a:r>
          </a:p>
        </p:txBody>
      </p:sp>
      <p:graphicFrame>
        <p:nvGraphicFramePr>
          <p:cNvPr id="7" name="Picture Placeholder 6">
            <a:extLst>
              <a:ext uri="{FF2B5EF4-FFF2-40B4-BE49-F238E27FC236}">
                <a16:creationId xmlns:a16="http://schemas.microsoft.com/office/drawing/2014/main" id="{150CDD67-7C5B-40FB-9339-A853BBB3913C}"/>
              </a:ext>
            </a:extLst>
          </p:cNvPr>
          <p:cNvGraphicFramePr>
            <a:graphicFrameLocks noGrp="1"/>
          </p:cNvGraphicFramePr>
          <p:nvPr>
            <p:ph type="pic" idx="1"/>
            <p:extLst>
              <p:ext uri="{D42A27DB-BD31-4B8C-83A1-F6EECF244321}">
                <p14:modId xmlns:p14="http://schemas.microsoft.com/office/powerpoint/2010/main" val="1688069444"/>
              </p:ext>
            </p:extLst>
          </p:nvPr>
        </p:nvGraphicFramePr>
        <p:xfrm>
          <a:off x="5183188" y="987425"/>
          <a:ext cx="6172200" cy="48736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884256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1F840-70CF-1483-3C7A-27247047759B}"/>
              </a:ext>
            </a:extLst>
          </p:cNvPr>
          <p:cNvSpPr>
            <a:spLocks noGrp="1"/>
          </p:cNvSpPr>
          <p:nvPr>
            <p:ph type="title"/>
          </p:nvPr>
        </p:nvSpPr>
        <p:spPr>
          <a:xfrm>
            <a:off x="836612" y="615820"/>
            <a:ext cx="3932237" cy="1600200"/>
          </a:xfrm>
        </p:spPr>
        <p:txBody>
          <a:bodyPr>
            <a:normAutofit fontScale="90000"/>
          </a:bodyPr>
          <a:lstStyle/>
          <a:p>
            <a:r>
              <a:rPr lang="en-US" baseline="0" dirty="0"/>
              <a:t>Avg monthly </a:t>
            </a:r>
            <a:r>
              <a:rPr lang="en-US" dirty="0"/>
              <a:t>sales of bottom 5 products</a:t>
            </a:r>
            <a:br>
              <a:rPr lang="en-US" dirty="0"/>
            </a:br>
            <a:endParaRPr lang="en-IN" dirty="0"/>
          </a:p>
        </p:txBody>
      </p:sp>
      <p:sp>
        <p:nvSpPr>
          <p:cNvPr id="4" name="Text Placeholder 3">
            <a:extLst>
              <a:ext uri="{FF2B5EF4-FFF2-40B4-BE49-F238E27FC236}">
                <a16:creationId xmlns:a16="http://schemas.microsoft.com/office/drawing/2014/main" id="{E9064B1E-BDAB-3FDD-97F2-C7EB28A2CF03}"/>
              </a:ext>
            </a:extLst>
          </p:cNvPr>
          <p:cNvSpPr>
            <a:spLocks noGrp="1"/>
          </p:cNvSpPr>
          <p:nvPr>
            <p:ph type="body" sz="half" idx="2"/>
          </p:nvPr>
        </p:nvSpPr>
        <p:spPr>
          <a:xfrm>
            <a:off x="839788" y="2379306"/>
            <a:ext cx="3932237" cy="3489682"/>
          </a:xfrm>
        </p:spPr>
        <p:txBody>
          <a:bodyPr>
            <a:normAutofit/>
          </a:bodyPr>
          <a:lstStyle/>
          <a:p>
            <a:pPr algn="just"/>
            <a:r>
              <a:rPr lang="en-IN" sz="1800" dirty="0">
                <a:latin typeface="Aptos" panose="020B0004020202020204" pitchFamily="34" charset="0"/>
              </a:rPr>
              <a:t>The plot shows average monthly sales from each year as the sales record has varied months in each year, so this was the only justifiable metric to ensure uniformity.</a:t>
            </a:r>
          </a:p>
          <a:p>
            <a:pPr algn="just"/>
            <a:endParaRPr lang="en-IN" sz="1800" dirty="0">
              <a:latin typeface="Aptos" panose="020B0004020202020204" pitchFamily="34" charset="0"/>
            </a:endParaRPr>
          </a:p>
          <a:p>
            <a:pPr algn="just"/>
            <a:r>
              <a:rPr lang="en-IN" sz="1800" dirty="0">
                <a:latin typeface="Aptos" panose="020B0004020202020204" pitchFamily="34" charset="0"/>
              </a:rPr>
              <a:t>The graph shows 2022 being the year of increased sales for each of the 5 products, while it significantly decreased the next year, indicating the decline in the demands despite heavy discounts.</a:t>
            </a:r>
          </a:p>
        </p:txBody>
      </p:sp>
      <p:graphicFrame>
        <p:nvGraphicFramePr>
          <p:cNvPr id="7" name="Picture Placeholder 6">
            <a:extLst>
              <a:ext uri="{FF2B5EF4-FFF2-40B4-BE49-F238E27FC236}">
                <a16:creationId xmlns:a16="http://schemas.microsoft.com/office/drawing/2014/main" id="{66F3E8AD-F233-4B40-BEDD-29F7B1735E7F}"/>
              </a:ext>
            </a:extLst>
          </p:cNvPr>
          <p:cNvGraphicFramePr>
            <a:graphicFrameLocks noGrp="1"/>
          </p:cNvGraphicFramePr>
          <p:nvPr>
            <p:ph type="pic" idx="1"/>
            <p:extLst>
              <p:ext uri="{D42A27DB-BD31-4B8C-83A1-F6EECF244321}">
                <p14:modId xmlns:p14="http://schemas.microsoft.com/office/powerpoint/2010/main" val="4158041054"/>
              </p:ext>
            </p:extLst>
          </p:nvPr>
        </p:nvGraphicFramePr>
        <p:xfrm>
          <a:off x="5183188" y="987425"/>
          <a:ext cx="6172200" cy="48736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0598218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02DEE-33D9-1BAA-986F-784C3FA3D882}"/>
              </a:ext>
            </a:extLst>
          </p:cNvPr>
          <p:cNvSpPr>
            <a:spLocks noGrp="1"/>
          </p:cNvSpPr>
          <p:nvPr>
            <p:ph type="title"/>
          </p:nvPr>
        </p:nvSpPr>
        <p:spPr>
          <a:xfrm>
            <a:off x="839788" y="447868"/>
            <a:ext cx="3932237" cy="1338943"/>
          </a:xfrm>
        </p:spPr>
        <p:txBody>
          <a:bodyPr>
            <a:normAutofit fontScale="90000"/>
          </a:bodyPr>
          <a:lstStyle/>
          <a:p>
            <a:r>
              <a:rPr lang="en-IN" dirty="0"/>
              <a:t>Stores sales from the year of opening	</a:t>
            </a:r>
          </a:p>
        </p:txBody>
      </p:sp>
      <p:sp>
        <p:nvSpPr>
          <p:cNvPr id="4" name="Text Placeholder 3">
            <a:extLst>
              <a:ext uri="{FF2B5EF4-FFF2-40B4-BE49-F238E27FC236}">
                <a16:creationId xmlns:a16="http://schemas.microsoft.com/office/drawing/2014/main" id="{FAAEFE67-00C7-69D9-3CF8-83C079C8F7E3}"/>
              </a:ext>
            </a:extLst>
          </p:cNvPr>
          <p:cNvSpPr>
            <a:spLocks noGrp="1"/>
          </p:cNvSpPr>
          <p:nvPr>
            <p:ph type="body" sz="half" idx="2"/>
          </p:nvPr>
        </p:nvSpPr>
        <p:spPr>
          <a:xfrm>
            <a:off x="839788" y="2491272"/>
            <a:ext cx="3932237" cy="3377715"/>
          </a:xfrm>
        </p:spPr>
        <p:txBody>
          <a:bodyPr/>
          <a:lstStyle/>
          <a:p>
            <a:pPr algn="just"/>
            <a:r>
              <a:rPr lang="en-IN" sz="1800" dirty="0">
                <a:latin typeface="Aptos" panose="020B0004020202020204" pitchFamily="34" charset="0"/>
              </a:rPr>
              <a:t>The sales registered from each store were compared for performance review from the year they were opened to the last day of sales record i.e. Feb 2023.</a:t>
            </a:r>
          </a:p>
          <a:p>
            <a:endParaRPr lang="en-IN" dirty="0"/>
          </a:p>
          <a:p>
            <a:pPr algn="just"/>
            <a:r>
              <a:rPr lang="en-IN" sz="1800" kern="100" dirty="0">
                <a:effectLst/>
                <a:latin typeface="Aptos" panose="020B0004020202020204" pitchFamily="34" charset="0"/>
                <a:ea typeface="Aptos" panose="020B0004020202020204" pitchFamily="34" charset="0"/>
                <a:cs typeface="Times New Roman" panose="02020603050405020304" pitchFamily="18" charset="0"/>
              </a:rPr>
              <a:t>High performing stores are: 107 and 109. Since they opened in 2022 and still gave comparable and in few cases, better sales than other stores. </a:t>
            </a:r>
          </a:p>
          <a:p>
            <a:endParaRPr lang="en-IN" dirty="0"/>
          </a:p>
        </p:txBody>
      </p:sp>
      <p:graphicFrame>
        <p:nvGraphicFramePr>
          <p:cNvPr id="6" name="Content Placeholder 5">
            <a:extLst>
              <a:ext uri="{FF2B5EF4-FFF2-40B4-BE49-F238E27FC236}">
                <a16:creationId xmlns:a16="http://schemas.microsoft.com/office/drawing/2014/main" id="{B83CA2BB-5478-4218-BF75-AD5CD2B577D1}"/>
              </a:ext>
            </a:extLst>
          </p:cNvPr>
          <p:cNvGraphicFramePr>
            <a:graphicFrameLocks noGrp="1"/>
          </p:cNvGraphicFramePr>
          <p:nvPr>
            <p:ph idx="1"/>
            <p:extLst>
              <p:ext uri="{D42A27DB-BD31-4B8C-83A1-F6EECF244321}">
                <p14:modId xmlns:p14="http://schemas.microsoft.com/office/powerpoint/2010/main" val="2199571022"/>
              </p:ext>
            </p:extLst>
          </p:nvPr>
        </p:nvGraphicFramePr>
        <p:xfrm>
          <a:off x="5183188" y="987425"/>
          <a:ext cx="6172200" cy="48736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224655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C5466-8411-F2D0-B240-AB90E9245BF3}"/>
              </a:ext>
            </a:extLst>
          </p:cNvPr>
          <p:cNvSpPr>
            <a:spLocks noGrp="1"/>
          </p:cNvSpPr>
          <p:nvPr>
            <p:ph type="title"/>
          </p:nvPr>
        </p:nvSpPr>
        <p:spPr>
          <a:xfrm>
            <a:off x="854390" y="457200"/>
            <a:ext cx="3932237" cy="1063690"/>
          </a:xfrm>
        </p:spPr>
        <p:txBody>
          <a:bodyPr>
            <a:normAutofit/>
          </a:bodyPr>
          <a:lstStyle/>
          <a:p>
            <a:r>
              <a:rPr lang="en-US" dirty="0"/>
              <a:t>Discount and sales comparison</a:t>
            </a:r>
            <a:endParaRPr lang="en-IN" dirty="0"/>
          </a:p>
        </p:txBody>
      </p:sp>
      <p:sp>
        <p:nvSpPr>
          <p:cNvPr id="4" name="Text Placeholder 3">
            <a:extLst>
              <a:ext uri="{FF2B5EF4-FFF2-40B4-BE49-F238E27FC236}">
                <a16:creationId xmlns:a16="http://schemas.microsoft.com/office/drawing/2014/main" id="{4F20B2D9-866E-EF28-DB77-34C0AB848CAC}"/>
              </a:ext>
            </a:extLst>
          </p:cNvPr>
          <p:cNvSpPr>
            <a:spLocks noGrp="1"/>
          </p:cNvSpPr>
          <p:nvPr>
            <p:ph type="body" sz="half" idx="2"/>
          </p:nvPr>
        </p:nvSpPr>
        <p:spPr>
          <a:xfrm>
            <a:off x="839788" y="1595535"/>
            <a:ext cx="3932237" cy="4800611"/>
          </a:xfrm>
        </p:spPr>
        <p:txBody>
          <a:bodyPr>
            <a:normAutofit/>
          </a:bodyPr>
          <a:lstStyle/>
          <a:p>
            <a:pPr algn="just"/>
            <a:r>
              <a:rPr lang="en-IN" sz="1800" dirty="0">
                <a:latin typeface="Aptos" panose="020B0004020202020204" pitchFamily="34" charset="0"/>
              </a:rPr>
              <a:t>The stats belong to the year 2022. </a:t>
            </a:r>
          </a:p>
          <a:p>
            <a:pPr algn="just"/>
            <a:r>
              <a:rPr lang="en-IN" sz="1800" dirty="0">
                <a:latin typeface="Aptos" panose="020B0004020202020204" pitchFamily="34" charset="0"/>
              </a:rPr>
              <a:t>North region: Sales in this region (store ID 101, 102, 107, 110) respond well with discounts. Total sales of the region being $600K</a:t>
            </a:r>
          </a:p>
          <a:p>
            <a:pPr algn="just"/>
            <a:r>
              <a:rPr lang="en-IN" sz="1800" kern="100" dirty="0">
                <a:effectLst/>
                <a:latin typeface="Aptos" panose="020B0004020202020204" pitchFamily="34" charset="0"/>
                <a:ea typeface="Aptos" panose="020B0004020202020204" pitchFamily="34" charset="0"/>
                <a:cs typeface="Times New Roman" panose="02020603050405020304" pitchFamily="18" charset="0"/>
              </a:rPr>
              <a:t>East </a:t>
            </a:r>
            <a:r>
              <a:rPr lang="en-IN" sz="1800" kern="100" dirty="0">
                <a:latin typeface="Aptos" panose="020B0004020202020204" pitchFamily="34" charset="0"/>
                <a:ea typeface="Aptos" panose="020B0004020202020204" pitchFamily="34" charset="0"/>
                <a:cs typeface="Times New Roman" panose="02020603050405020304" pitchFamily="18" charset="0"/>
              </a:rPr>
              <a:t>r</a:t>
            </a:r>
            <a:r>
              <a:rPr lang="en-IN" sz="1800" kern="100" dirty="0">
                <a:effectLst/>
                <a:latin typeface="Aptos" panose="020B0004020202020204" pitchFamily="34" charset="0"/>
                <a:ea typeface="Aptos" panose="020B0004020202020204" pitchFamily="34" charset="0"/>
                <a:cs typeface="Times New Roman" panose="02020603050405020304" pitchFamily="18" charset="0"/>
              </a:rPr>
              <a:t>egion: Store 103 with an average discount of 14% has given sales of $100K possibly due to being the only store in the region.</a:t>
            </a:r>
          </a:p>
          <a:p>
            <a:pPr algn="just"/>
            <a:r>
              <a:rPr lang="en-IN" sz="1800" kern="100" dirty="0">
                <a:latin typeface="Aptos" panose="020B0004020202020204" pitchFamily="34" charset="0"/>
                <a:ea typeface="Aptos" panose="020B0004020202020204" pitchFamily="34" charset="0"/>
                <a:cs typeface="Times New Roman" panose="02020603050405020304" pitchFamily="18" charset="0"/>
              </a:rPr>
              <a:t>West region: Store 109 with an average discount of 16.67% has recorded total sales of $120K in the region.</a:t>
            </a:r>
          </a:p>
          <a:p>
            <a:pPr algn="just"/>
            <a:r>
              <a:rPr lang="en-IN" sz="1800" kern="100" dirty="0">
                <a:latin typeface="Aptos" panose="020B0004020202020204" pitchFamily="34" charset="0"/>
                <a:ea typeface="Aptos" panose="020B0004020202020204" pitchFamily="34" charset="0"/>
                <a:cs typeface="Times New Roman" panose="02020603050405020304" pitchFamily="18" charset="0"/>
              </a:rPr>
              <a:t>South region: Doesn’t respond well with discounts. Total sales of the region being $210K with stores 104, 105 and 106.</a:t>
            </a:r>
          </a:p>
        </p:txBody>
      </p:sp>
      <p:graphicFrame>
        <p:nvGraphicFramePr>
          <p:cNvPr id="8" name="Picture Placeholder 7">
            <a:extLst>
              <a:ext uri="{FF2B5EF4-FFF2-40B4-BE49-F238E27FC236}">
                <a16:creationId xmlns:a16="http://schemas.microsoft.com/office/drawing/2014/main" id="{573EF71B-73D9-42DE-A4DD-8C8B75E4EA43}"/>
              </a:ext>
            </a:extLst>
          </p:cNvPr>
          <p:cNvGraphicFramePr>
            <a:graphicFrameLocks noGrp="1"/>
          </p:cNvGraphicFramePr>
          <p:nvPr>
            <p:ph type="pic" idx="1"/>
            <p:extLst>
              <p:ext uri="{D42A27DB-BD31-4B8C-83A1-F6EECF244321}">
                <p14:modId xmlns:p14="http://schemas.microsoft.com/office/powerpoint/2010/main" val="2567509339"/>
              </p:ext>
            </p:extLst>
          </p:nvPr>
        </p:nvGraphicFramePr>
        <p:xfrm>
          <a:off x="5183188" y="3429000"/>
          <a:ext cx="6172200" cy="2967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Picture Placeholder 4">
            <a:extLst>
              <a:ext uri="{FF2B5EF4-FFF2-40B4-BE49-F238E27FC236}">
                <a16:creationId xmlns:a16="http://schemas.microsoft.com/office/drawing/2014/main" id="{943CE16E-FDE2-F4D0-93E8-7CBB1F6AC968}"/>
              </a:ext>
            </a:extLst>
          </p:cNvPr>
          <p:cNvGraphicFramePr>
            <a:graphicFrameLocks/>
          </p:cNvGraphicFramePr>
          <p:nvPr>
            <p:extLst>
              <p:ext uri="{D42A27DB-BD31-4B8C-83A1-F6EECF244321}">
                <p14:modId xmlns:p14="http://schemas.microsoft.com/office/powerpoint/2010/main" val="4063261857"/>
              </p:ext>
            </p:extLst>
          </p:nvPr>
        </p:nvGraphicFramePr>
        <p:xfrm>
          <a:off x="5183188" y="457200"/>
          <a:ext cx="6172200" cy="296855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693195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E3AA2-3824-367F-612F-E883FE2A0AFE}"/>
              </a:ext>
            </a:extLst>
          </p:cNvPr>
          <p:cNvSpPr>
            <a:spLocks noGrp="1"/>
          </p:cNvSpPr>
          <p:nvPr>
            <p:ph type="title"/>
          </p:nvPr>
        </p:nvSpPr>
        <p:spPr>
          <a:xfrm>
            <a:off x="839788" y="233265"/>
            <a:ext cx="10552890" cy="662473"/>
          </a:xfrm>
        </p:spPr>
        <p:txBody>
          <a:bodyPr/>
          <a:lstStyle/>
          <a:p>
            <a:r>
              <a:rPr lang="en-IN" dirty="0"/>
              <a:t>Insights</a:t>
            </a:r>
          </a:p>
        </p:txBody>
      </p:sp>
      <p:sp>
        <p:nvSpPr>
          <p:cNvPr id="4" name="Text Placeholder 3">
            <a:extLst>
              <a:ext uri="{FF2B5EF4-FFF2-40B4-BE49-F238E27FC236}">
                <a16:creationId xmlns:a16="http://schemas.microsoft.com/office/drawing/2014/main" id="{18916963-76DF-E3F1-0109-B48D248A9266}"/>
              </a:ext>
            </a:extLst>
          </p:cNvPr>
          <p:cNvSpPr>
            <a:spLocks noGrp="1"/>
          </p:cNvSpPr>
          <p:nvPr>
            <p:ph type="body" sz="half" idx="2"/>
          </p:nvPr>
        </p:nvSpPr>
        <p:spPr>
          <a:xfrm>
            <a:off x="839788" y="979714"/>
            <a:ext cx="10552890" cy="5150498"/>
          </a:xfrm>
        </p:spPr>
        <p:txBody>
          <a:bodyPr>
            <a:normAutofit lnSpcReduction="10000"/>
          </a:bodyPr>
          <a:lstStyle/>
          <a:p>
            <a:pPr algn="just">
              <a:lnSpc>
                <a:spcPct val="100000"/>
              </a:lnSpc>
            </a:pPr>
            <a:r>
              <a:rPr lang="en-IN" dirty="0">
                <a:latin typeface="Aptos" panose="020B0004020202020204" pitchFamily="34" charset="0"/>
              </a:rPr>
              <a:t>North region has the highest buying capacity among all the regions, especially in the winter season(November, December and January), giving maximum sales among all the regions.</a:t>
            </a:r>
          </a:p>
          <a:p>
            <a:pPr algn="just">
              <a:lnSpc>
                <a:spcPct val="100000"/>
              </a:lnSpc>
            </a:pPr>
            <a:endParaRPr lang="en-IN" dirty="0">
              <a:latin typeface="Aptos" panose="020B0004020202020204" pitchFamily="34" charset="0"/>
            </a:endParaRPr>
          </a:p>
          <a:p>
            <a:pPr algn="just">
              <a:lnSpc>
                <a:spcPct val="100000"/>
              </a:lnSpc>
              <a:spcBef>
                <a:spcPts val="600"/>
              </a:spcBef>
            </a:pPr>
            <a:r>
              <a:rPr lang="en-IN" dirty="0">
                <a:latin typeface="Aptos" panose="020B0004020202020204" pitchFamily="34" charset="0"/>
              </a:rPr>
              <a:t>Store 109 of the east region has promising results. Being opened only in 2022, it brought sales comparable to the ones opened in 2020 for single store sales. This might be due to the fact that it is the only store in the west region.</a:t>
            </a:r>
          </a:p>
          <a:p>
            <a:pPr algn="just">
              <a:lnSpc>
                <a:spcPct val="100000"/>
              </a:lnSpc>
            </a:pPr>
            <a:endParaRPr lang="en-IN" dirty="0">
              <a:latin typeface="Aptos" panose="020B0004020202020204" pitchFamily="34" charset="0"/>
            </a:endParaRPr>
          </a:p>
          <a:p>
            <a:pPr algn="just">
              <a:lnSpc>
                <a:spcPct val="100000"/>
              </a:lnSpc>
              <a:spcBef>
                <a:spcPts val="600"/>
              </a:spcBef>
            </a:pPr>
            <a:r>
              <a:rPr lang="en-IN" dirty="0">
                <a:latin typeface="Aptos" panose="020B0004020202020204" pitchFamily="34" charset="0"/>
              </a:rPr>
              <a:t>Rep 204 has been a key factor to drive sales in the Store 109 giving an avg. daily sales of $5.3K. Although maximum sales were registered by reps 205, 207, 219. </a:t>
            </a:r>
            <a:r>
              <a:rPr lang="en-IN" dirty="0">
                <a:highlight>
                  <a:srgbClr val="00FFFF"/>
                </a:highlight>
                <a:latin typeface="Aptos" panose="020B0004020202020204" pitchFamily="34" charset="0"/>
              </a:rPr>
              <a:t>Rewarding the best performers and incentivising the average reps might draw more efforts for sales.</a:t>
            </a:r>
          </a:p>
          <a:p>
            <a:pPr algn="just">
              <a:lnSpc>
                <a:spcPct val="100000"/>
              </a:lnSpc>
            </a:pPr>
            <a:endParaRPr lang="en-IN" dirty="0">
              <a:latin typeface="Aptos" panose="020B0004020202020204" pitchFamily="34" charset="0"/>
            </a:endParaRPr>
          </a:p>
          <a:p>
            <a:pPr algn="just">
              <a:lnSpc>
                <a:spcPct val="100000"/>
              </a:lnSpc>
              <a:spcBef>
                <a:spcPts val="600"/>
              </a:spcBef>
            </a:pPr>
            <a:r>
              <a:rPr lang="en-IN" dirty="0">
                <a:latin typeface="Aptos" panose="020B0004020202020204" pitchFamily="34" charset="0"/>
              </a:rPr>
              <a:t>Toys and Home &amp; Kitchen have comparable sales with profits of toys(outdoor) being higher than the rest. </a:t>
            </a:r>
            <a:r>
              <a:rPr lang="en-IN" dirty="0">
                <a:highlight>
                  <a:srgbClr val="00FFFF"/>
                </a:highlight>
                <a:latin typeface="Aptos" panose="020B0004020202020204" pitchFamily="34" charset="0"/>
              </a:rPr>
              <a:t>So increasing the SKUs in these two categories may draw better sales.</a:t>
            </a:r>
          </a:p>
          <a:p>
            <a:pPr algn="just">
              <a:lnSpc>
                <a:spcPct val="100000"/>
              </a:lnSpc>
            </a:pPr>
            <a:endParaRPr lang="en-IN" dirty="0">
              <a:latin typeface="Aptos" panose="020B0004020202020204" pitchFamily="34" charset="0"/>
            </a:endParaRPr>
          </a:p>
          <a:p>
            <a:pPr algn="just">
              <a:lnSpc>
                <a:spcPct val="100000"/>
              </a:lnSpc>
              <a:spcBef>
                <a:spcPts val="600"/>
              </a:spcBef>
            </a:pPr>
            <a:r>
              <a:rPr lang="en-IN" dirty="0">
                <a:latin typeface="Aptos" panose="020B0004020202020204" pitchFamily="34" charset="0"/>
              </a:rPr>
              <a:t>Products 307, 311, 317, 301, 319 have highest profitability belonging to above mentioned categories. While the bottom 5 products(302, 308, 315 , 316, 320) according to profitability also belong to these two categories with only 315 having promising results(increasing avg. monthly sales every year). </a:t>
            </a:r>
            <a:r>
              <a:rPr lang="en-IN" dirty="0">
                <a:highlight>
                  <a:srgbClr val="00FFFF"/>
                </a:highlight>
                <a:latin typeface="Aptos" panose="020B0004020202020204" pitchFamily="34" charset="0"/>
              </a:rPr>
              <a:t>The others incurring loss need to be dropped from the listing to manage losses while focusing on the highly profitable ones, their size, looks, build quality. Thus getting maximum profits.</a:t>
            </a:r>
          </a:p>
          <a:p>
            <a:pPr algn="just">
              <a:lnSpc>
                <a:spcPct val="100000"/>
              </a:lnSpc>
              <a:spcBef>
                <a:spcPts val="600"/>
              </a:spcBef>
            </a:pPr>
            <a:endParaRPr lang="en-IN" dirty="0">
              <a:highlight>
                <a:srgbClr val="00FFFF"/>
              </a:highlight>
              <a:latin typeface="Aptos" panose="020B0004020202020204" pitchFamily="34" charset="0"/>
            </a:endParaRPr>
          </a:p>
          <a:p>
            <a:pPr algn="just">
              <a:lnSpc>
                <a:spcPct val="100000"/>
              </a:lnSpc>
              <a:spcBef>
                <a:spcPts val="600"/>
              </a:spcBef>
            </a:pPr>
            <a:endParaRPr lang="en-IN" dirty="0">
              <a:highlight>
                <a:srgbClr val="00FFFF"/>
              </a:highlight>
              <a:latin typeface="Aptos" panose="020B0004020202020204" pitchFamily="34" charset="0"/>
            </a:endParaRPr>
          </a:p>
        </p:txBody>
      </p:sp>
    </p:spTree>
    <p:extLst>
      <p:ext uri="{BB962C8B-B14F-4D97-AF65-F5344CB8AC3E}">
        <p14:creationId xmlns:p14="http://schemas.microsoft.com/office/powerpoint/2010/main" val="3599387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pattFill prst="zigZag">
          <a:fgClr>
            <a:schemeClr val="accent3">
              <a:lumMod val="75000"/>
            </a:schemeClr>
          </a:fgClr>
          <a:bgClr>
            <a:schemeClr val="accent3">
              <a:lumMod val="50000"/>
            </a:schemeClr>
          </a:bgClr>
        </a:patt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62A21665-C64F-4BDA-B2DE-442D70605718}"/>
              </a:ext>
              <a:ext uri="{C183D7F6-B498-43B3-948B-1728B52AA6E4}">
                <adec:decorative xmlns:adec="http://schemas.microsoft.com/office/drawing/2017/decorative" val="1"/>
              </a:ext>
            </a:extLst>
          </p:cNvPr>
          <p:cNvGrpSpPr/>
          <p:nvPr/>
        </p:nvGrpSpPr>
        <p:grpSpPr>
          <a:xfrm>
            <a:off x="4325258" y="1544068"/>
            <a:ext cx="3541486" cy="3769865"/>
            <a:chOff x="4325258" y="1229517"/>
            <a:chExt cx="3541486" cy="3769865"/>
          </a:xfrm>
        </p:grpSpPr>
        <p:sp>
          <p:nvSpPr>
            <p:cNvPr id="12" name="Diamond 11">
              <a:extLst>
                <a:ext uri="{FF2B5EF4-FFF2-40B4-BE49-F238E27FC236}">
                  <a16:creationId xmlns:a16="http://schemas.microsoft.com/office/drawing/2014/main" id="{7DC8B409-5FAC-4539-B25A-26BE925A48AF}"/>
                </a:ext>
              </a:extLst>
            </p:cNvPr>
            <p:cNvSpPr/>
            <p:nvPr/>
          </p:nvSpPr>
          <p:spPr>
            <a:xfrm>
              <a:off x="4792319" y="2392018"/>
              <a:ext cx="2607364" cy="2607364"/>
            </a:xfrm>
            <a:prstGeom prst="diamond">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Diamond 12">
              <a:extLst>
                <a:ext uri="{FF2B5EF4-FFF2-40B4-BE49-F238E27FC236}">
                  <a16:creationId xmlns:a16="http://schemas.microsoft.com/office/drawing/2014/main" id="{91498E2F-539C-46D3-AF7C-BB1DAE76B114}"/>
                </a:ext>
              </a:extLst>
            </p:cNvPr>
            <p:cNvSpPr/>
            <p:nvPr/>
          </p:nvSpPr>
          <p:spPr>
            <a:xfrm>
              <a:off x="4325258" y="1229517"/>
              <a:ext cx="3541486" cy="3541486"/>
            </a:xfrm>
            <a:prstGeom prst="diamond">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Title 1">
            <a:extLst>
              <a:ext uri="{FF2B5EF4-FFF2-40B4-BE49-F238E27FC236}">
                <a16:creationId xmlns:a16="http://schemas.microsoft.com/office/drawing/2014/main" id="{FA061601-468D-486D-B8EE-42BD1BE3ADCC}"/>
              </a:ext>
            </a:extLst>
          </p:cNvPr>
          <p:cNvSpPr>
            <a:spLocks noGrp="1"/>
          </p:cNvSpPr>
          <p:nvPr>
            <p:ph type="ctrTitle"/>
          </p:nvPr>
        </p:nvSpPr>
        <p:spPr>
          <a:xfrm>
            <a:off x="1524000" y="2930403"/>
            <a:ext cx="9144000" cy="997196"/>
          </a:xfrm>
        </p:spPr>
        <p:txBody>
          <a:bodyPr lIns="0" tIns="0" rIns="0" bIns="0" anchor="ctr">
            <a:spAutoFit/>
          </a:bodyPr>
          <a:lstStyle/>
          <a:p>
            <a:r>
              <a:rPr lang="en-US" sz="7200" b="1" dirty="0">
                <a:solidFill>
                  <a:schemeClr val="bg1"/>
                </a:solidFill>
              </a:rPr>
              <a:t>Thank You</a:t>
            </a:r>
            <a:endParaRPr lang="en-US" sz="7200" dirty="0">
              <a:solidFill>
                <a:schemeClr val="accent4"/>
              </a:solidFill>
            </a:endParaRPr>
          </a:p>
        </p:txBody>
      </p:sp>
    </p:spTree>
    <p:extLst>
      <p:ext uri="{BB962C8B-B14F-4D97-AF65-F5344CB8AC3E}">
        <p14:creationId xmlns:p14="http://schemas.microsoft.com/office/powerpoint/2010/main" val="1923038163"/>
      </p:ext>
    </p:extLst>
  </p:cSld>
  <p:clrMapOvr>
    <a:masterClrMapping/>
  </p:clrMapOvr>
</p:sld>
</file>

<file path=ppt/theme/theme1.xml><?xml version="1.0" encoding="utf-8"?>
<a:theme xmlns:a="http://schemas.openxmlformats.org/drawingml/2006/main" name="Office Theme">
  <a:themeElements>
    <a:clrScheme name="Custom 73">
      <a:dk1>
        <a:srgbClr val="000000"/>
      </a:dk1>
      <a:lt1>
        <a:sysClr val="window" lastClr="FFFFFF"/>
      </a:lt1>
      <a:dk2>
        <a:srgbClr val="585858"/>
      </a:dk2>
      <a:lt2>
        <a:srgbClr val="E3E3E3"/>
      </a:lt2>
      <a:accent1>
        <a:srgbClr val="E20613"/>
      </a:accent1>
      <a:accent2>
        <a:srgbClr val="A9C038"/>
      </a:accent2>
      <a:accent3>
        <a:srgbClr val="11AEC7"/>
      </a:accent3>
      <a:accent4>
        <a:srgbClr val="F59F26"/>
      </a:accent4>
      <a:accent5>
        <a:srgbClr val="0062A9"/>
      </a:accent5>
      <a:accent6>
        <a:srgbClr val="EB6047"/>
      </a:accent6>
      <a:hlink>
        <a:srgbClr val="8ED9F6"/>
      </a:hlink>
      <a:folHlink>
        <a:srgbClr val="C00000"/>
      </a:folHlink>
    </a:clrScheme>
    <a:fontScheme name="Modern 01">
      <a:majorFont>
        <a:latin typeface="Century Gothic"/>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455520_Project analysis, from 24Slides_SL_V1.potx" id="{55E7247F-78B2-40DB-9AFE-D4DD42FA8F09}" vid="{22E2FD65-A32D-4798-AF43-CE42F250BDD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FD05317-60D6-4B3A-8545-888496D1A8EC}">
  <ds:schemaRefs>
    <ds:schemaRef ds:uri="http://schemas.microsoft.com/sharepoint/v3/contenttype/forms"/>
  </ds:schemaRefs>
</ds:datastoreItem>
</file>

<file path=customXml/itemProps2.xml><?xml version="1.0" encoding="utf-8"?>
<ds:datastoreItem xmlns:ds="http://schemas.openxmlformats.org/officeDocument/2006/customXml" ds:itemID="{EF609EDA-869E-4BE5-AE5D-B898C584B6FF}">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61A00BBF-EEBB-4E18-B8CB-F926EAAC48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Project analysis, from 24Slides</Template>
  <TotalTime>1784</TotalTime>
  <Words>1058</Words>
  <Application>Microsoft Office PowerPoint</Application>
  <PresentationFormat>Widescreen</PresentationFormat>
  <Paragraphs>74</Paragraphs>
  <Slides>12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Arial</vt:lpstr>
      <vt:lpstr>Calibri</vt:lpstr>
      <vt:lpstr>Century Gothic</vt:lpstr>
      <vt:lpstr>Segoe UI Light</vt:lpstr>
      <vt:lpstr>Office Theme</vt:lpstr>
      <vt:lpstr>Supermarket-chain  sales analysis</vt:lpstr>
      <vt:lpstr>Summary</vt:lpstr>
      <vt:lpstr>PowerPoint Presentation</vt:lpstr>
      <vt:lpstr>Sales and profit comparison</vt:lpstr>
      <vt:lpstr>Sales contribution by subcategory</vt:lpstr>
      <vt:lpstr>Performance per day by each rep</vt:lpstr>
      <vt:lpstr>Products by profit</vt:lpstr>
      <vt:lpstr>Avg monthly sales of bottom 5 products </vt:lpstr>
      <vt:lpstr>Stores sales from the year of opening </vt:lpstr>
      <vt:lpstr>Discount and sales comparison</vt:lpstr>
      <vt:lpstr>Insights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Yog Gupta</dc:creator>
  <cp:lastModifiedBy>Yog Gupta</cp:lastModifiedBy>
  <cp:revision>17</cp:revision>
  <dcterms:created xsi:type="dcterms:W3CDTF">2025-04-29T02:55:46Z</dcterms:created>
  <dcterms:modified xsi:type="dcterms:W3CDTF">2025-05-01T00:21:46Z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